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notesSlides/notesSlide1.xml" Type="http://schemas.openxmlformats.org/officeDocument/2006/relationships/notesSlide"/><Relationship Id="rId51" Target="notesSlides/notesSlide2.xml" Type="http://schemas.openxmlformats.org/officeDocument/2006/relationships/notesSlide"/><Relationship Id="rId52" Target="notesSlides/notesSlide3.xml" Type="http://schemas.openxmlformats.org/officeDocument/2006/relationships/notesSlide"/><Relationship Id="rId53" Target="notesSlides/notesSlide4.xml" Type="http://schemas.openxmlformats.org/officeDocument/2006/relationships/notesSlide"/><Relationship Id="rId54" Target="notesSlides/notesSlide5.xml" Type="http://schemas.openxmlformats.org/officeDocument/2006/relationships/notesSlide"/><Relationship Id="rId55" Target="notesSlides/notesSlide6.xml" Type="http://schemas.openxmlformats.org/officeDocument/2006/relationships/notesSlide"/><Relationship Id="rId56" Target="notesSlides/notesSlide7.xml" Type="http://schemas.openxmlformats.org/officeDocument/2006/relationships/notesSlide"/><Relationship Id="rId57" Target="notesSlides/notesSlide8.xml" Type="http://schemas.openxmlformats.org/officeDocument/2006/relationships/notesSlide"/><Relationship Id="rId58" Target="notesSlides/notesSlide9.xml" Type="http://schemas.openxmlformats.org/officeDocument/2006/relationships/notesSlide"/><Relationship Id="rId59" Target="notesSlides/notesSlide10.xml" Type="http://schemas.openxmlformats.org/officeDocument/2006/relationships/notesSlide"/><Relationship Id="rId6" Target="notesMasters/notesMaster1.xml" Type="http://schemas.openxmlformats.org/officeDocument/2006/relationships/notesMaster"/><Relationship Id="rId60" Target="notesSlides/notesSlide11.xml" Type="http://schemas.openxmlformats.org/officeDocument/2006/relationships/notesSlide"/><Relationship Id="rId61" Target="notesSlides/notesSlide12.xml" Type="http://schemas.openxmlformats.org/officeDocument/2006/relationships/notesSlide"/><Relationship Id="rId62" Target="notesSlides/notesSlide13.xml" Type="http://schemas.openxmlformats.org/officeDocument/2006/relationships/notesSlide"/><Relationship Id="rId63" Target="notesSlides/notesSlide14.xml" Type="http://schemas.openxmlformats.org/officeDocument/2006/relationships/notesSlide"/><Relationship Id="rId64" Target="notesSlides/notesSlide15.xml" Type="http://schemas.openxmlformats.org/officeDocument/2006/relationships/notesSlide"/><Relationship Id="rId65" Target="notesSlides/notesSlide16.xml" Type="http://schemas.openxmlformats.org/officeDocument/2006/relationships/notesSlide"/><Relationship Id="rId66" Target="notesSlides/notesSlide17.xml" Type="http://schemas.openxmlformats.org/officeDocument/2006/relationships/notesSlide"/><Relationship Id="rId67" Target="notesSlides/notesSlide18.xml" Type="http://schemas.openxmlformats.org/officeDocument/2006/relationships/notesSlide"/><Relationship Id="rId68" Target="notesSlides/notesSlide19.xml" Type="http://schemas.openxmlformats.org/officeDocument/2006/relationships/notesSlide"/><Relationship Id="rId69" Target="notesSlides/notesSlide20.xml" Type="http://schemas.openxmlformats.org/officeDocument/2006/relationships/notesSlide"/><Relationship Id="rId7" Target="theme/theme2.xml" Type="http://schemas.openxmlformats.org/officeDocument/2006/relationships/theme"/><Relationship Id="rId70" Target="notesSlides/notesSlide21.xml" Type="http://schemas.openxmlformats.org/officeDocument/2006/relationships/notesSlide"/><Relationship Id="rId71" Target="notesSlides/notesSlide22.xml" Type="http://schemas.openxmlformats.org/officeDocument/2006/relationships/notesSlide"/><Relationship Id="rId72" Target="notesSlides/notesSlide23.xml" Type="http://schemas.openxmlformats.org/officeDocument/2006/relationships/notesSlide"/><Relationship Id="rId73" Target="notesSlides/notesSlide24.xml" Type="http://schemas.openxmlformats.org/officeDocument/2006/relationships/notesSlide"/><Relationship Id="rId74" Target="notesSlides/notesSlide25.xml" Type="http://schemas.openxmlformats.org/officeDocument/2006/relationships/notesSlide"/><Relationship Id="rId75" Target="notesSlides/notesSlide26.xml" Type="http://schemas.openxmlformats.org/officeDocument/2006/relationships/notesSlide"/><Relationship Id="rId76" Target="notesSlides/notesSlide27.xml" Type="http://schemas.openxmlformats.org/officeDocument/2006/relationships/notesSlide"/><Relationship Id="rId77" Target="notesSlides/notesSlide28.xml" Type="http://schemas.openxmlformats.org/officeDocument/2006/relationships/notesSlide"/><Relationship Id="rId78" Target="notesSlides/notesSlide29.xml" Type="http://schemas.openxmlformats.org/officeDocument/2006/relationships/notesSlide"/><Relationship Id="rId79" Target="notesSlides/notesSlide30.xml" Type="http://schemas.openxmlformats.org/officeDocument/2006/relationships/notesSlide"/><Relationship Id="rId8" Target="slideMasters/slideMaster2.xml" Type="http://schemas.openxmlformats.org/officeDocument/2006/relationships/slideMaster"/><Relationship Id="rId80" Target="notesSlides/notesSlide31.xml" Type="http://schemas.openxmlformats.org/officeDocument/2006/relationships/notesSlide"/><Relationship Id="rId81" Target="notesSlides/notesSlide32.xml" Type="http://schemas.openxmlformats.org/officeDocument/2006/relationships/notesSlide"/><Relationship Id="rId82" Target="notesSlides/notesSlide33.xml" Type="http://schemas.openxmlformats.org/officeDocument/2006/relationships/notesSlide"/><Relationship Id="rId83" Target="notesSlides/notesSlide34.xml" Type="http://schemas.openxmlformats.org/officeDocument/2006/relationships/notesSlide"/><Relationship Id="rId84" Target="notesSlides/notesSlide35.xml" Type="http://schemas.openxmlformats.org/officeDocument/2006/relationships/notesSlide"/><Relationship Id="rId85" Target="notesSlides/notesSlide36.xml" Type="http://schemas.openxmlformats.org/officeDocument/2006/relationships/notesSlide"/><Relationship Id="rId86" Target="notesSlides/notesSlide37.xml" Type="http://schemas.openxmlformats.org/officeDocument/2006/relationships/notesSlide"/><Relationship Id="rId87" Target="notesSlides/notesSlide38.xml" Type="http://schemas.openxmlformats.org/officeDocument/2006/relationships/notesSlide"/><Relationship Id="rId88" Target="notesSlides/notesSlide39.xml" Type="http://schemas.openxmlformats.org/officeDocument/2006/relationships/notesSlide"/><Relationship Id="rId89" Target="notesSlides/notesSlide40.xml" Type="http://schemas.openxmlformats.org/officeDocument/2006/relationships/notesSlide"/><Relationship Id="rId9" Target="slides/slide1.xml" Type="http://schemas.openxmlformats.org/officeDocument/2006/relationships/slide"/><Relationship Id="rId90" Target="notesSlides/notesSlide4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欢迎来到本次线性代数核心题型精解的分享。今天，我们将一起探讨19个经典的线性代数问题，涵盖了矩阵运算、行列式、线性方程组、向量组、特征值与特征向量、二次型等核心知识点。希望通过这次讲解，能帮助大家更好地理解和掌握线性代数的解题技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分享将围绕这十九个核心问题展开。从基础的矩阵运算，到复杂的实对称矩阵和伴随矩阵问题，我们将逐一剖析解题思路和步骤。这些问题覆盖了线性代数的几乎所有重要方面，希望能为大家构建一个完整的知识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我们来看第一个问题。题目给出了一个3阶矩阵的逆矩阵，要求我们求出原矩阵A。这是一个非常基础但重要的问题，考察的是矩阵求逆的逆运算。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解题的关键在于利用“矩阵与其逆矩阵互为逆运算”这一性质。我们可以通过伴随矩阵法来求解。首先计算已知逆矩阵的行列式，然后求出其伴随矩阵，最后将伴随矩阵乘以行列式的倒数，即可得到原矩阵A。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第二个问题考察的是特征值的性质。题目给出了矩阵A的特征值，要求一个矩阵多项式的行列式。直接计算矩阵多项式再求行列式会非常繁琐，我们需要找到一个更巧妙的方法。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里的关键技巧是利用特征值的多项式性质。我们不需要知道矩阵A具体是什么，只需要知道它的特征值。我们将特征值代入多项式，得到矩阵多项式的特征值，然后将这些特征值相乘，就得到了矩阵多项式的行列式。这个方法大大简化了计算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第三个问题结合了矩阵乘法和线性相关性的概念。我们需要找到参数a的值，使得向量Aα和向量α线性相关。这需要我们回忆一下两个向量线性相关的充要条件。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两个向量线性相关，当且仅当其中一个可以由另一个数乘得到。所以我们设Aα等于k倍的α。通过矩阵乘法计算出Aα，然后根据向量相等的条件列出方程组。解这个方程组，我们就能轻松地求出参数a的值。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第四个问题是关于齐次线性方程组的。题目要求我们找到参数λ，使得这个二元齐次方程组有非零解。这需要我们回忆一下齐次方程组有非零解的条件。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对于齐次线性方程组，有非零解的充要条件是系数矩阵的秩小于未知数的个数，对于n阶方阵而言，这等价于系数矩阵的行列式等于零。我们写出系数矩阵，计算其行列式，令其为零，解这个简单的方程就能得到λ的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解决这个问题的关键技巧是利用“矩阵的迹等于其特征值之和”以及“矩阵的行列式等于其特征值之积”这两个性质。我们写出二次型矩阵，分别利用这两个性质建立关于k的方程，然后求解这两个方程的公共解，即可得到k的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第六题是求解一个五元线性方程组的通解。这是线性代数中的一个基本且重要的技能。我们将通过对增广矩阵进行初等行变换来解决这个问题。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求解线性方程组的标准步骤是：首先，写出增广矩阵；然后，通过初等行变换将其化为行最简形；接着，根据行最简形确定自由变量，并求出一个特解；最后，求出对应齐次方程组（导出组）的基础解系。通解就是特解加上基础解系的任意线性组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第七题要求我们计算一个四阶行列式第一行所有元素的代数余子式之和。直接计算每一个代数余子式再相加会非常麻烦，我们需要寻找一个巧妙的方法。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这里的技巧非常巧妙。代数余子式之和 A₁₁ + A₁₂ + A₁₃ + A₁₄ 可以看作是用系数 [1, 1, 1, 1] 去乘以第一行的代数余子式。根据行列式展开定理的逆用，这正好等于将原行列式第一行替换为 [1, 1, 1, 1] 后得到的新行列式的值。这样，问题就转化为计算一个新的、更简单的行列式。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第八题是一个矩阵方程求解问题。我们需要从给定的矩阵等式中解出未知矩阵B。这需要我们熟练运用矩阵的运算律。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解矩阵方程的关键是“合并同类项”。我们将含有B的项移到等式的一边，提取公因子B。由于A是可逆的，我们可以在等式两边同时右乘A的逆矩阵，进一步简化方程。最后，通过求逆矩阵并进行数乘运算，即可得到矩阵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第九题综合考察了向量组的线性相关性、秩、最大无关组以及线性表示等多个知识点。我们需要找到参数k的值，并在特定条件下完成后续分析。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判断向量组的线性相关性，最常用的方法就是将它们拼成一个矩阵，然后通过初等行变换求其秩。如果秩小于向量的个数，则向量组线性相关。最大无关组对应于行阶梯形中主元所在的列。而行最简形则直接给出了其他向量由最大无关组线性表示的系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第十题是关于实对称矩阵的。这是线性代数中的一个重点和难点。题目给出了部分特征值和特征向量，要求我们求出完整的矩阵A。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解决这个问题需要两个关键知识点：一是实对称矩阵的秩等于其非零特征值的个数，由此我们可以确定第三个特征值为0；二是实对称矩阵的属于不同特征值的特征向量相互正交，由此我们可以求出0对应的特征向量。最后，利用相似对角化公式 A = PDP⁻¹，就能求出矩阵A。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第十一题考察行列式的基本性质。题目给出了两个已知行列式的值，要求我们计算第三个行列式。关键在于观察所求行列式与已知行列式之间的关系。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解决这个问题的关键是利用行列式的“倍加性质”：将一列的倍数加到另一列上，行列式的值不变。我们对所求行列式的第二列减去第一列，就可以直接得到第一个已知行列式，其值为m。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第十二题考察数乘矩阵的行列式性质。这是一个非常基础但容易出错的知识点。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数乘矩阵的行列式性质是：|kA| = k的n次方乘以|A|，其中n是矩阵的阶数。这里矩阵A是3阶的，所以|2A|等于2的3次方乘以|A|，即8乘以3，结果是24。注意不要忘记指数n。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第十三题结合了特征值和逆矩阵的行列式两个知识点。我们需要分两步来解决这个问题。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首先，我们利用“矩阵的行列式等于其所有特征值的乘积”这一性质，求出|A|等于1、2、3的乘积，即6。然后，我们利用“逆矩阵的行列式等于原矩阵行列式的倒数”这一性质，得出|A⁻¹|等于1/6。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第十四题是关于二次型标准化的问题。正交变换化二次型为标准型，其核心就是求二次型矩阵的特征值。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我们首先写出二次型的矩阵，然后求解这个矩阵的特征值。特征值就是标准型中平方项的系数。解特征方程，我们得到特征值1和3，因此标准型就是y₁² + 3y₂²。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第十五题是另一个矩阵方程求解问题。这类问题的关键通常是通过移项和因式分解，将方程化为 X = ... 的形式。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我们首先将含X的项移到一边，提取公因子得到(A-E)X = A。然后，我们需要求出矩阵(A-E)的逆矩阵。最后，将逆矩阵与A相乘，即可得到矩阵X。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第十六题考察相似矩阵的性质。相似矩阵有许多共同的性质，如相同的迹、行列式和特征值。我们将利用这些性质来求解参数和变换矩阵。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首先，利用相似矩阵迹相等和行列式相等的性质，我们可以建立关于x和y的方程组，解出x=1，y=2。然后，我们需要求出矩阵A对应于这三个特征值的特征向量，将这些特征向量按列排列，就得到了可逆矩阵P。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第十七题是一个抽象的特征值求解问题。题目没有给出具体的矩阵，而是给出了矩阵对某些向量的变换结果。我们需要利用矩阵相似的思想来解决。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将线性无关的向量α₁,α₂构成一个可逆矩阵P。然后，将题目给出的矩阵变换关系写成矩阵乘法形式AP=PB。这表明矩阵A与矩阵B相似。相似矩阵有相同的特征值，所以我们只需要求出简单矩阵B的特征值，就得到了A的特征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第十八题将线性表示问题转化为了非齐次线性方程组的解的讨论问题。这是线性代数中非常重要的一个转化思想。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将向量组和β构成增广矩阵，然后进行行变换。根据线性方程组解的判定定理：当系数矩阵的秩小于增广矩阵的秩时，方程组无解，即β不能被表示；当系数矩阵的秩等于增广矩阵的秩且等于未知数个数时，方程组有唯一解，即β能被唯一表示。通过分析行阶梯形矩阵，我们可以得出a和b的取值条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最后一题是本次分享中最复杂的题目之一，它综合了伴随矩阵、特征值、矩阵多项式等多个知识点。我们需要一步步拆解，找到它们之间的联系。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解题的关键步骤如下：首先，利用A*的特征值之积求出|A*|，再根据|A*|=|A|ⁿ⁻¹求出|A|。然后，利用A*与A的特征值关系，求出A的所有特征值。接着，利用矩阵多项式的特征值性质，求出B的特征值。最后，将B的特征值相乘，得到|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非常感谢大家的聆听。希望这次关于线性代数核心题型的讲解对大家有所帮助。如果有任何疑问，欢迎随时交流。谢谢！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svg" Type="http://schemas.openxmlformats.org/officeDocument/2006/relationships/image"/><Relationship Id="rId11" Target="../notesSlides/notesSlide1.xml" Type="http://schemas.openxmlformats.org/officeDocument/2006/relationships/notesSlid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svg" Type="http://schemas.openxmlformats.org/officeDocument/2006/relationships/image"/><Relationship Id="rId11" Target="../notesSlides/notesSlide8.xml" Type="http://schemas.openxmlformats.org/officeDocument/2006/relationships/notesSlide"/><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svg" Type="http://schemas.openxmlformats.org/officeDocument/2006/relationships/image"/><Relationship Id="rId11" Target="../notesSlides/notesSlide14.xml" Type="http://schemas.openxmlformats.org/officeDocument/2006/relationships/notesSlide"/><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4.svg" Type="http://schemas.openxmlformats.org/officeDocument/2006/relationships/image"/><Relationship Id="rId11" Target="../notesSlides/notesSlide17.xml" Type="http://schemas.openxmlformats.org/officeDocument/2006/relationships/notesSlide"/><Relationship Id="rId2" Target="../media/image10.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2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svg" Type="http://schemas.openxmlformats.org/officeDocument/2006/relationships/image"/><Relationship Id="rId11" Target="../notesSlides/notesSlide19.xml" Type="http://schemas.openxmlformats.org/officeDocument/2006/relationships/notesSlide"/><Relationship Id="rId2" Target="../media/image10.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2.svg" Type="http://schemas.openxmlformats.org/officeDocument/2006/relationships/image"/><Relationship Id="rId11" Target="../notesSlides/notesSlide20.xml" Type="http://schemas.openxmlformats.org/officeDocument/2006/relationships/notesSlide"/><Relationship Id="rId2" Target="../media/image10.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1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43.png" Type="http://schemas.openxmlformats.org/officeDocument/2006/relationships/image"/><Relationship Id="rId8" Target="../media/image44.svg" Type="http://schemas.openxmlformats.org/officeDocument/2006/relationships/image"/><Relationship Id="rId9"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4.svg" Type="http://schemas.openxmlformats.org/officeDocument/2006/relationships/image"/><Relationship Id="rId11" Target="../notesSlides/notesSlide36.xml" Type="http://schemas.openxmlformats.org/officeDocument/2006/relationships/notesSlide"/><Relationship Id="rId2" Target="../media/image10.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23.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jpeg" Type="http://schemas.openxmlformats.org/officeDocument/2006/relationships/image"/><Relationship Id="rId3"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1.jpeg" Type="http://schemas.openxmlformats.org/officeDocument/2006/relationships/image"/><Relationship Id="rId3" Target="../notesSlides/notesSlide41.xml" Type="http://schemas.openxmlformats.org/officeDocument/2006/relationships/notesSlide"/><Relationship Id="rId4" Target="../media/image5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286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5200">
                <a:solidFill>
                  <a:srgbClr val="FFFFFF"/>
                </a:solidFill>
                <a:latin typeface="Noto Sans SC"/>
                <a:ea typeface="Noto Sans SC"/>
                <a:cs typeface="Noto Sans SC"/>
                <a:sym typeface="Noto Sans SC"/>
              </a:rPr>
              <a:t>线性代数核心题型精解</a:t>
            </a:r>
            <a:endParaRPr lang="en-US" sz="1100"/>
          </a:p>
        </p:txBody>
      </p:sp>
      <p:sp>
        <p:nvSpPr>
          <p:cNvPr name="AutoShape 4" id="4"/>
          <p:cNvSpPr/>
          <p:nvPr/>
        </p:nvSpPr>
        <p:spPr>
          <a:xfrm rot="0" flipH="false" flipV="false">
            <a:off x="1016000" y="3556000"/>
            <a:ext cx="1016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3937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2000">
                <a:solidFill>
                  <a:srgbClr val="FFFFFF">
                    <a:alpha val="90196"/>
                  </a:srgbClr>
                </a:solidFill>
                <a:latin typeface="Noto Sans SC"/>
                <a:ea typeface="Noto Sans SC"/>
                <a:cs typeface="Noto Sans SC"/>
                <a:sym typeface="Noto Sans SC"/>
              </a:rPr>
              <a:t>解题思路与技巧深度剖析 · 覆盖矩阵、行列式、方程组、特征值等19个经典核心考点</a:t>
            </a:r>
            <a:endParaRPr lang="en-US" sz="1100"/>
          </a:p>
        </p:txBody>
      </p:sp>
      <p:sp>
        <p:nvSpPr>
          <p:cNvPr name="AutoShape 6" id="6"/>
          <p:cNvSpPr/>
          <p:nvPr/>
        </p:nvSpPr>
        <p:spPr>
          <a:xfrm rot="0" flipH="false" flipV="false">
            <a:off x="1016000" y="5334000"/>
            <a:ext cx="2413000" cy="762000"/>
          </a:xfrm>
          <a:prstGeom prst="roundRect">
            <a:avLst>
              <a:gd name="adj" fmla="val 0"/>
            </a:avLst>
          </a:prstGeom>
          <a:solidFill>
            <a:srgbClr val="FFFFFF">
              <a:alpha val="1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06500" y="5511800"/>
            <a:ext cx="406400" cy="406400"/>
          </a:xfrm>
          <a:prstGeom prst="rect">
            <a:avLst/>
          </a:prstGeom>
        </p:spPr>
      </p:pic>
      <p:sp>
        <p:nvSpPr>
          <p:cNvPr name="AutoShape 8" id="8"/>
          <p:cNvSpPr/>
          <p:nvPr/>
        </p:nvSpPr>
        <p:spPr>
          <a:xfrm rot="0" flipH="false" flipV="false">
            <a:off x="1778000" y="5435600"/>
            <a:ext cx="1524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矩阵与行列式</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基础运算与性质解析</a:t>
            </a:r>
          </a:p>
        </p:txBody>
      </p:sp>
      <p:sp>
        <p:nvSpPr>
          <p:cNvPr name="AutoShape 9" id="9"/>
          <p:cNvSpPr/>
          <p:nvPr/>
        </p:nvSpPr>
        <p:spPr>
          <a:xfrm rot="0" flipH="false" flipV="false">
            <a:off x="3683000" y="5334000"/>
            <a:ext cx="2413000" cy="762000"/>
          </a:xfrm>
          <a:prstGeom prst="roundRect">
            <a:avLst>
              <a:gd name="adj" fmla="val 0"/>
            </a:avLst>
          </a:prstGeom>
          <a:solidFill>
            <a:srgbClr val="FFFFFF">
              <a:alpha val="1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873500" y="5511800"/>
            <a:ext cx="406400" cy="406400"/>
          </a:xfrm>
          <a:prstGeom prst="rect">
            <a:avLst/>
          </a:prstGeom>
        </p:spPr>
      </p:pic>
      <p:sp>
        <p:nvSpPr>
          <p:cNvPr name="AutoShape 11" id="11"/>
          <p:cNvSpPr/>
          <p:nvPr/>
        </p:nvSpPr>
        <p:spPr>
          <a:xfrm rot="0" flipH="false" flipV="false">
            <a:off x="4445000" y="5435600"/>
            <a:ext cx="1524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方程组与向量组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线性相关性与通解求解</a:t>
            </a:r>
          </a:p>
        </p:txBody>
      </p:sp>
      <p:sp>
        <p:nvSpPr>
          <p:cNvPr name="AutoShape 12" id="12"/>
          <p:cNvSpPr/>
          <p:nvPr/>
        </p:nvSpPr>
        <p:spPr>
          <a:xfrm rot="0" flipH="false" flipV="false">
            <a:off x="6350000" y="5334000"/>
            <a:ext cx="2413000" cy="762000"/>
          </a:xfrm>
          <a:prstGeom prst="roundRect">
            <a:avLst>
              <a:gd name="adj" fmla="val 0"/>
            </a:avLst>
          </a:prstGeom>
          <a:solidFill>
            <a:srgbClr val="FFFFFF">
              <a:alpha val="1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40500" y="5511800"/>
            <a:ext cx="406400" cy="406400"/>
          </a:xfrm>
          <a:prstGeom prst="rect">
            <a:avLst/>
          </a:prstGeom>
        </p:spPr>
      </p:pic>
      <p:sp>
        <p:nvSpPr>
          <p:cNvPr name="AutoShape 14" id="14"/>
          <p:cNvSpPr/>
          <p:nvPr/>
        </p:nvSpPr>
        <p:spPr>
          <a:xfrm rot="0" flipH="false" flipV="false">
            <a:off x="7112000" y="5435600"/>
            <a:ext cx="1524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特征值与二次型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相似对角化与标准形转化</a:t>
            </a:r>
          </a:p>
        </p:txBody>
      </p:sp>
      <p:sp>
        <p:nvSpPr>
          <p:cNvPr name="AutoShape 15" id="15"/>
          <p:cNvSpPr/>
          <p:nvPr/>
        </p:nvSpPr>
        <p:spPr>
          <a:xfrm rot="0" flipH="false" flipV="false">
            <a:off x="9017000" y="5334000"/>
            <a:ext cx="2413000" cy="762000"/>
          </a:xfrm>
          <a:prstGeom prst="roundRect">
            <a:avLst>
              <a:gd name="adj" fmla="val 0"/>
            </a:avLst>
          </a:prstGeom>
          <a:solidFill>
            <a:srgbClr val="FFFFFF">
              <a:alpha val="1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207500" y="5511800"/>
            <a:ext cx="406400" cy="406400"/>
          </a:xfrm>
          <a:prstGeom prst="rect">
            <a:avLst/>
          </a:prstGeom>
        </p:spPr>
      </p:pic>
      <p:sp>
        <p:nvSpPr>
          <p:cNvPr name="AutoShape 17" id="17"/>
          <p:cNvSpPr/>
          <p:nvPr/>
        </p:nvSpPr>
        <p:spPr>
          <a:xfrm rot="0" flipH="false" flipV="false">
            <a:off x="9779000" y="5435600"/>
            <a:ext cx="1524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综合题型精讲</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FFFFFF">
                    <a:alpha val="70196"/>
                  </a:srgbClr>
                </a:solidFill>
                <a:latin typeface="Noto Sans SC"/>
                <a:ea typeface="Noto Sans SC"/>
                <a:cs typeface="Noto Sans SC"/>
                <a:sym typeface="Noto Sans SC"/>
              </a:rPr>
              <a:t>融会贯通核心解题技巧</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目录</a:t>
            </a:r>
            <a:endParaRPr lang="en-US" sz="1100"/>
          </a:p>
        </p:txBody>
      </p:sp>
      <p:sp>
        <p:nvSpPr>
          <p:cNvPr name="AutoShape 4" id="4"/>
          <p:cNvSpPr/>
          <p:nvPr/>
        </p:nvSpPr>
        <p:spPr>
          <a:xfrm rot="0" flipH="false" flipV="false">
            <a:off x="762000" y="1270000"/>
            <a:ext cx="10668000" cy="25400"/>
          </a:xfrm>
          <a:prstGeom prst="roundRect">
            <a:avLst>
              <a:gd name="adj" fmla="val 0"/>
            </a:avLst>
          </a:prstGeom>
          <a:solidFill>
            <a:srgbClr val="26A69A">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14400" y="184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01. 矩阵求逆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探讨已知逆矩阵反求原矩阵的方法与运算逻辑，掌握基本变换技巧。</a:t>
            </a:r>
          </a:p>
        </p:txBody>
      </p:sp>
      <p:sp>
        <p:nvSpPr>
          <p:cNvPr name="AutoShape 8" id="8"/>
          <p:cNvSpPr/>
          <p:nvPr/>
        </p:nvSpPr>
        <p:spPr>
          <a:xfrm rot="0" flipH="false" flipV="false">
            <a:off x="762000" y="304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304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14400" y="311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02. 特征值与行列式</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解析矩阵多项式的行列式计算规则，建立特征值与行列式的直接联系。</a:t>
            </a:r>
          </a:p>
        </p:txBody>
      </p:sp>
      <p:sp>
        <p:nvSpPr>
          <p:cNvPr name="AutoShape 11" id="11"/>
          <p:cNvSpPr/>
          <p:nvPr/>
        </p:nvSpPr>
        <p:spPr>
          <a:xfrm rot="0" flipH="false" flipV="false">
            <a:off x="762000" y="431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431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14400" y="438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03. 线性相关</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利用线性相关的定义建立方程，求解向量组中未知参数的具体取值。</a:t>
            </a:r>
          </a:p>
        </p:txBody>
      </p:sp>
      <p:sp>
        <p:nvSpPr>
          <p:cNvPr name="AutoShape 14" id="14"/>
          <p:cNvSpPr/>
          <p:nvPr/>
        </p:nvSpPr>
        <p:spPr>
          <a:xfrm rot="0" flipH="false" flipV="false">
            <a:off x="3492500" y="177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3492500" y="177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3644900" y="184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04. 齐次方程组非零解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剖析系数行列式与方程组解的存在性之间的充要条件与判定方法。</a:t>
            </a:r>
          </a:p>
        </p:txBody>
      </p:sp>
      <p:sp>
        <p:nvSpPr>
          <p:cNvPr name="AutoShape 17" id="17"/>
          <p:cNvSpPr/>
          <p:nvPr/>
        </p:nvSpPr>
        <p:spPr>
          <a:xfrm rot="0" flipH="false" flipV="false">
            <a:off x="3492500" y="304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3492500" y="304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3644900" y="311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05. 二次型标准型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结合矩阵的迹与行列式的数值特征，快速求解二次型中的未知参数。</a:t>
            </a:r>
          </a:p>
        </p:txBody>
      </p:sp>
      <p:sp>
        <p:nvSpPr>
          <p:cNvPr name="AutoShape 20" id="20"/>
          <p:cNvSpPr/>
          <p:nvPr/>
        </p:nvSpPr>
        <p:spPr>
          <a:xfrm rot="0" flipH="false" flipV="false">
            <a:off x="3492500" y="431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3492500" y="431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3644900" y="438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06. 非齐次线性方程组通解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熟练运用初等行变换法，化增广矩阵为行阶梯形，进而求解通解结构。</a:t>
            </a:r>
          </a:p>
        </p:txBody>
      </p:sp>
      <p:sp>
        <p:nvSpPr>
          <p:cNvPr name="AutoShape 23" id="23"/>
          <p:cNvSpPr/>
          <p:nvPr/>
        </p:nvSpPr>
        <p:spPr>
          <a:xfrm rot="0" flipH="false" flipV="false">
            <a:off x="6223000" y="177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223000" y="177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375400" y="184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07. 代数余子式求和</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应用行列式展开定理，通过构造辅助行列式简化代数余子式的求和过程。</a:t>
            </a:r>
          </a:p>
        </p:txBody>
      </p:sp>
      <p:sp>
        <p:nvSpPr>
          <p:cNvPr name="AutoShape 26" id="26"/>
          <p:cNvSpPr/>
          <p:nvPr/>
        </p:nvSpPr>
        <p:spPr>
          <a:xfrm rot="0" flipH="false" flipV="false">
            <a:off x="6223000" y="304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6223000" y="304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375400" y="311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08. 矩阵方程求解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灵活运用矩阵的运算律（结合律、分配律），求解各类矩阵方程中的未知矩阵。</a:t>
            </a:r>
          </a:p>
        </p:txBody>
      </p:sp>
      <p:sp>
        <p:nvSpPr>
          <p:cNvPr name="AutoShape 29" id="29"/>
          <p:cNvSpPr/>
          <p:nvPr/>
        </p:nvSpPr>
        <p:spPr>
          <a:xfrm rot="0" flipH="false" flipV="false">
            <a:off x="6223000" y="431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223000" y="431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375400" y="438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09. 向量组线性相关性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深入理解秩、最大无关组与线性表示的内在联系，掌握相关判定准则。</a:t>
            </a:r>
          </a:p>
        </p:txBody>
      </p:sp>
      <p:sp>
        <p:nvSpPr>
          <p:cNvPr name="AutoShape 32" id="32"/>
          <p:cNvSpPr/>
          <p:nvPr/>
        </p:nvSpPr>
        <p:spPr>
          <a:xfrm rot="0" flipH="false" flipV="false">
            <a:off x="8953500" y="177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8953500" y="177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9105900" y="184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10. 实对称矩阵</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掌握实对称矩阵的特征值与特征向量的特殊性质，及正交矩阵的构造方法。</a:t>
            </a:r>
          </a:p>
        </p:txBody>
      </p:sp>
      <p:sp>
        <p:nvSpPr>
          <p:cNvPr name="AutoShape 35" id="35"/>
          <p:cNvSpPr/>
          <p:nvPr/>
        </p:nvSpPr>
        <p:spPr>
          <a:xfrm rot="0" flipH="false" flipV="false">
            <a:off x="8953500" y="304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8953500" y="304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9105900" y="311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11. 行列式性质与计算</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综合运用行列式的基本性质化简，求解数乘矩阵及逆矩阵的行列式值。</a:t>
            </a:r>
          </a:p>
        </p:txBody>
      </p:sp>
      <p:sp>
        <p:nvSpPr>
          <p:cNvPr name="AutoShape 38" id="38"/>
          <p:cNvSpPr/>
          <p:nvPr/>
        </p:nvSpPr>
        <p:spPr>
          <a:xfrm rot="0" flipH="false" flipV="false">
            <a:off x="8953500" y="4318000"/>
            <a:ext cx="2540000" cy="10795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8953500" y="4318000"/>
            <a:ext cx="508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9105900" y="4381500"/>
            <a:ext cx="228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6A69A"/>
                </a:solidFill>
                <a:latin typeface="Noto Sans SC"/>
                <a:ea typeface="Noto Sans SC"/>
                <a:cs typeface="Noto Sans SC"/>
                <a:sym typeface="Noto Sans SC"/>
              </a:rPr>
              <a:t>12-19. 进阶综合应用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46E7A"/>
                </a:solidFill>
                <a:latin typeface="Noto Sans SC"/>
                <a:ea typeface="Noto Sans SC"/>
                <a:cs typeface="Noto Sans SC"/>
                <a:sym typeface="Noto Sans SC"/>
              </a:rPr>
              <a:t>涵盖相似矩阵、伴随矩阵、线性表示等进阶问题，构建完整的线性代数知识体系。</a:t>
            </a:r>
          </a:p>
        </p:txBody>
      </p:sp>
      <p:sp>
        <p:nvSpPr>
          <p:cNvPr name="AutoShape 41" id="41"/>
          <p:cNvSpPr/>
          <p:nvPr/>
        </p:nvSpPr>
        <p:spPr>
          <a:xfrm rot="0" flipH="false" flipV="false">
            <a:off x="762000" y="5715000"/>
            <a:ext cx="10731500" cy="762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952500" y="5816600"/>
            <a:ext cx="103505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74F"/>
                </a:solidFill>
                <a:latin typeface="Noto Sans SC"/>
                <a:ea typeface="Noto Sans SC"/>
                <a:cs typeface="Noto Sans SC"/>
                <a:sym typeface="Noto Sans SC"/>
              </a:rPr>
              <a:t>本页梳理了线性代数的十九个核心考点，从基础的矩阵运算、行列式求解，到高阶的特征值、实对称矩阵及方程组通解分析，全方位覆盖学科重点与难点。</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1：矩阵求逆</a:t>
            </a:r>
            <a:endParaRPr lang="en-US" sz="1100"/>
          </a:p>
        </p:txBody>
      </p:sp>
      <p:sp>
        <p:nvSpPr>
          <p:cNvPr name="AutoShape 4" id="4"/>
          <p:cNvSpPr/>
          <p:nvPr/>
        </p:nvSpPr>
        <p:spPr>
          <a:xfrm rot="0" flipH="false" flipV="false">
            <a:off x="762000" y="1778000"/>
            <a:ext cx="10668000" cy="3048000"/>
          </a:xfrm>
          <a:prstGeom prst="roundRect">
            <a:avLst>
              <a:gd name="adj" fmla="val 0"/>
            </a:avLst>
          </a:prstGeom>
          <a:solidFill>
            <a:srgbClr val="FFFFFF">
              <a:alpha val="8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43000" y="2032000"/>
            <a:ext cx="558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37474F"/>
                </a:solidFill>
                <a:latin typeface="Noto Sans SC"/>
                <a:ea typeface="Noto Sans SC"/>
                <a:cs typeface="Noto Sans SC"/>
                <a:sym typeface="Noto Sans SC"/>
              </a:rPr>
              <a:t>设 \( A \) 为 3 阶可逆矩阵，\( A^{-1} \) 是其伴随的逆矩阵。已知矩阵 \( A \) 的逆矩阵表达式如下，试求解原矩阵 \( A \)。</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37474F">
                    <a:alpha val="80000"/>
                  </a:srgbClr>
                </a:solidFill>
                <a:latin typeface="Noto Sans SC"/>
                <a:ea typeface="Noto Sans SC"/>
                <a:cs typeface="Noto Sans SC"/>
                <a:sym typeface="Noto Sans SC"/>
              </a:rPr>
              <a:t>本题考察矩阵求逆的核心性质：互为逆矩阵的两个矩阵满足 \( (A^{-1})^{-1} = A \)，即对已知的逆矩阵再次求逆，即可得到原矩阵 \( A \)。</a:t>
            </a:r>
          </a:p>
        </p:txBody>
      </p:sp>
      <p:cxnSp>
        <p:nvCxnSpPr>
          <p:cNvPr name="Connector 6" id="6"/>
          <p:cNvCxnSpPr/>
          <p:nvPr/>
        </p:nvCxnSpPr>
        <p:spPr>
          <a:xfrm rot="5382811" flipH="false" flipV="false">
            <a:off x="5715000" y="3295666"/>
            <a:ext cx="2540000" cy="12700"/>
          </a:xfrm>
          <a:prstGeom prst="straightConnector1">
            <a:avLst/>
          </a:prstGeom>
          <a:solidFill>
            <a:srgbClr val="DEE0E3">
              <a:alpha val="100000"/>
            </a:srgbClr>
          </a:solidFill>
          <a:ln w="12700" cmpd="sng" cap="flat">
            <a:solidFill>
              <a:srgbClr val="26A69A">
                <a:alpha val="40000"/>
              </a:srgbClr>
            </a:solidFill>
            <a:prstDash val="dash"/>
            <a:round/>
            <a:headEnd type="none" w="med" len="med"/>
            <a:tailEnd type="none" w="med" len="med"/>
          </a:ln>
        </p:spPr>
      </p:cxnSp>
      <p:sp>
        <p:nvSpPr>
          <p:cNvPr name="AutoShape 7" id="7"/>
          <p:cNvSpPr/>
          <p:nvPr/>
        </p:nvSpPr>
        <p:spPr>
          <a:xfrm rot="0" flipH="false" flipV="false">
            <a:off x="7239000" y="2095500"/>
            <a:ext cx="3683000" cy="24130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366000" y="2222500"/>
            <a:ext cx="342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已知条件：\( A^{-1} = \)</a:t>
            </a:r>
            <a:endParaRPr lang="en-US" sz="1100"/>
          </a:p>
        </p:txBody>
      </p:sp>
      <p:sp>
        <p:nvSpPr>
          <p:cNvPr name="AutoShape 9" id="9"/>
          <p:cNvSpPr/>
          <p:nvPr/>
        </p:nvSpPr>
        <p:spPr>
          <a:xfrm rot="0" flipH="false" flipV="false">
            <a:off x="7366000" y="2730500"/>
            <a:ext cx="3429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800">
                <a:solidFill>
                  <a:srgbClr val="37474F"/>
                </a:solidFill>
                <a:latin typeface="Noto Sans SC"/>
                <a:ea typeface="Noto Sans SC"/>
                <a:cs typeface="Noto Sans SC"/>
                <a:sym typeface="Noto Sans SC"/>
              </a:rPr>
              <a:t>⎛ 1 0 0 ⎞</a:t>
            </a:r>
            <a:r>
              <a:rPr lang="en-US" b="false" i="false" strike="noStrike" u="none" sz="1800">
                <a:solidFill>
                  <a:srgbClr val="37474F"/>
                </a:solidFill>
                <a:latin typeface="Noto Sans SC"/>
                <a:ea typeface="Noto Sans SC"/>
                <a:cs typeface="Noto Sans SC"/>
                <a:sym typeface="Noto Sans SC"/>
              </a:rPr>
              <a:t/>
            </a:r>
            <a:endParaRPr lang="en-US" sz="1100"/>
          </a:p>
          <a:p>
            <a:pPr algn="ctr" marL="0" indent="0">
              <a:lnSpc>
                <a:spcPct val="116666"/>
              </a:lnSpc>
            </a:pPr>
            <a:r>
              <a:rPr lang="en-US" b="false" i="false" strike="noStrike" u="none" sz="1800">
                <a:solidFill>
                  <a:srgbClr val="37474F"/>
                </a:solidFill>
                <a:latin typeface="Noto Sans SC"/>
                <a:ea typeface="Noto Sans SC"/>
                <a:cs typeface="Noto Sans SC"/>
                <a:sym typeface="Noto Sans SC"/>
              </a:rPr>
              <a:t>⎜ 0 2 1 ⎟</a:t>
            </a:r>
            <a:r>
              <a:rPr lang="en-US" b="false" i="false" strike="noStrike" u="none" sz="1800">
                <a:solidFill>
                  <a:srgbClr val="37474F"/>
                </a:solidFill>
                <a:latin typeface="Noto Sans SC"/>
                <a:ea typeface="Noto Sans SC"/>
                <a:cs typeface="Noto Sans SC"/>
                <a:sym typeface="Noto Sans SC"/>
              </a:rPr>
              <a:t/>
            </a:r>
          </a:p>
          <a:p>
            <a:pPr algn="ctr" marL="0" indent="0">
              <a:lnSpc>
                <a:spcPct val="116666"/>
              </a:lnSpc>
            </a:pPr>
            <a:r>
              <a:rPr lang="en-US" b="false" i="false" strike="noStrike" u="none" sz="1800">
                <a:solidFill>
                  <a:srgbClr val="37474F"/>
                </a:solidFill>
                <a:latin typeface="Noto Sans SC"/>
                <a:ea typeface="Noto Sans SC"/>
                <a:cs typeface="Noto Sans SC"/>
                <a:sym typeface="Noto Sans SC"/>
              </a:rPr>
              <a:t>⎝ 0 1 1 ⎠</a:t>
            </a:r>
          </a:p>
        </p:txBody>
      </p:sp>
      <p:sp>
        <p:nvSpPr>
          <p:cNvPr name="AutoShape 10" id="10"/>
          <p:cNvSpPr/>
          <p:nvPr/>
        </p:nvSpPr>
        <p:spPr>
          <a:xfrm rot="0" flipH="false" flipV="false">
            <a:off x="762000" y="5207000"/>
            <a:ext cx="5207000" cy="1143000"/>
          </a:xfrm>
          <a:prstGeom prst="roundRect">
            <a:avLst>
              <a:gd name="adj" fmla="val 0"/>
            </a:avLst>
          </a:prstGeom>
          <a:solidFill>
            <a:srgbClr val="26A69A">
              <a:alpha val="1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397500"/>
            <a:ext cx="355600" cy="355600"/>
          </a:xfrm>
          <a:prstGeom prst="rect">
            <a:avLst/>
          </a:prstGeom>
        </p:spPr>
      </p:pic>
      <p:sp>
        <p:nvSpPr>
          <p:cNvPr name="AutoShape 12" id="12"/>
          <p:cNvSpPr/>
          <p:nvPr/>
        </p:nvSpPr>
        <p:spPr>
          <a:xfrm rot="0" flipH="false" flipV="false">
            <a:off x="1524000" y="5334000"/>
            <a:ext cx="419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核心思路：利用伴随矩阵法求逆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37474F">
                    <a:alpha val="80000"/>
                  </a:srgbClr>
                </a:solidFill>
                <a:latin typeface="Noto Sans SC"/>
                <a:ea typeface="Noto Sans SC"/>
                <a:cs typeface="Noto Sans SC"/>
                <a:sym typeface="Noto Sans SC"/>
              </a:rPr>
              <a:t>对于可逆矩阵 \( M \)，有 \( M^{-1} = \frac{1}{|M|} M^* \)，其中 \( |M| \) 是行列式，\( M^* \) 是伴随矩阵。只需对 \( A^{-1} \) 应用此公式。</a:t>
            </a:r>
          </a:p>
        </p:txBody>
      </p:sp>
      <p:sp>
        <p:nvSpPr>
          <p:cNvPr name="AutoShape 13" id="13"/>
          <p:cNvSpPr/>
          <p:nvPr/>
        </p:nvSpPr>
        <p:spPr>
          <a:xfrm rot="0" flipH="false" flipV="false">
            <a:off x="6223000" y="5207000"/>
            <a:ext cx="5207000" cy="1143000"/>
          </a:xfrm>
          <a:prstGeom prst="roundRect">
            <a:avLst>
              <a:gd name="adj" fmla="val 0"/>
            </a:avLst>
          </a:prstGeom>
          <a:solidFill>
            <a:srgbClr val="26A69A">
              <a:alpha val="1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5397500"/>
            <a:ext cx="355600" cy="355600"/>
          </a:xfrm>
          <a:prstGeom prst="rect">
            <a:avLst/>
          </a:prstGeom>
        </p:spPr>
      </p:pic>
      <p:sp>
        <p:nvSpPr>
          <p:cNvPr name="AutoShape 15" id="15"/>
          <p:cNvSpPr/>
          <p:nvPr/>
        </p:nvSpPr>
        <p:spPr>
          <a:xfrm rot="0" flipH="false" flipV="false">
            <a:off x="6985000" y="5334000"/>
            <a:ext cx="419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计算步骤提示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37474F">
                    <a:alpha val="80000"/>
                  </a:srgbClr>
                </a:solidFill>
                <a:latin typeface="Noto Sans SC"/>
                <a:ea typeface="Noto Sans SC"/>
                <a:cs typeface="Noto Sans SC"/>
                <a:sym typeface="Noto Sans SC"/>
              </a:rPr>
              <a:t>先计算 \( |A^{-1}| = 1 \times (2 \times 1 - 1 \times 1) = 1 \)，再求 \( A^{-1} \) 的伴随矩阵，即可直接得到原矩阵 \( A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1：解题思路</a:t>
            </a:r>
            <a:endParaRPr lang="en-US" sz="1100"/>
          </a:p>
        </p:txBody>
      </p:sp>
      <p:sp>
        <p:nvSpPr>
          <p:cNvPr name="AutoShape 4" id="4"/>
          <p:cNvSpPr/>
          <p:nvPr/>
        </p:nvSpPr>
        <p:spPr>
          <a:xfrm rot="0" flipH="false" flipV="false">
            <a:off x="762000" y="1524000"/>
            <a:ext cx="10668000" cy="1143000"/>
          </a:xfrm>
          <a:prstGeom prst="roundRect">
            <a:avLst>
              <a:gd name="adj" fmla="val 0"/>
            </a:avLst>
          </a:prstGeom>
          <a:solidFill>
            <a:srgbClr val="26A69A">
              <a:alpha val="1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1143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625600"/>
            <a:ext cx="10160000" cy="9398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26A69A"/>
                </a:solidFill>
                <a:latin typeface="Noto Sans SC"/>
                <a:ea typeface="Noto Sans SC"/>
                <a:cs typeface="Noto Sans SC"/>
                <a:sym typeface="Noto Sans SC"/>
              </a:rPr>
              <a:t>核心原理：</a:t>
            </a:r>
            <a:r>
              <a:rPr lang="en-US" b="false" i="false" strike="noStrike" u="none" sz="1600">
                <a:solidFill>
                  <a:srgbClr val="37474F"/>
                </a:solidFill>
                <a:latin typeface="Noto Sans SC"/>
                <a:ea typeface="Noto Sans SC"/>
                <a:cs typeface="Noto Sans SC"/>
                <a:sym typeface="Noto Sans SC"/>
              </a:rPr>
              <a:t>求矩阵的逆矩阵的逆，本质即求原矩阵。利用伴随矩阵法求解，核心公式为：</a:t>
            </a:r>
            <a:r>
              <a:rPr lang="en-US" b="true" i="false" strike="noStrike" u="none" sz="1600">
                <a:solidFill>
                  <a:srgbClr val="37474F"/>
                </a:solidFill>
                <a:latin typeface="Noto Sans SC"/>
                <a:ea typeface="Noto Sans SC"/>
                <a:cs typeface="Noto Sans SC"/>
                <a:sym typeface="Noto Sans SC"/>
              </a:rPr>
              <a:t>A = (A⁻¹)⁻¹ = (1/|A⁻¹|) · (A⁻¹)*</a:t>
            </a:r>
            <a:endParaRPr lang="en-US" sz="1100"/>
          </a:p>
        </p:txBody>
      </p:sp>
      <p:sp>
        <p:nvSpPr>
          <p:cNvPr name="AutoShape 7" id="7"/>
          <p:cNvSpPr/>
          <p:nvPr/>
        </p:nvSpPr>
        <p:spPr>
          <a:xfrm rot="0" flipH="false" flipV="false">
            <a:off x="762000" y="3175000"/>
            <a:ext cx="3429000" cy="1905000"/>
          </a:xfrm>
          <a:prstGeom prst="roundRect">
            <a:avLst>
              <a:gd name="adj" fmla="val 0"/>
            </a:avLst>
          </a:prstGeom>
          <a:solidFill>
            <a:srgbClr val="FFFFFF">
              <a:alpha val="70000"/>
            </a:srgbClr>
          </a:solidFill>
          <a:ln w="12700" cmpd="sng" cap="flat">
            <a:solidFill>
              <a:srgbClr val="C8C8C8">
                <a:alpha val="6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365500"/>
            <a:ext cx="304800" cy="304800"/>
          </a:xfrm>
          <a:prstGeom prst="rect">
            <a:avLst/>
          </a:prstGeom>
        </p:spPr>
      </p:pic>
      <p:sp>
        <p:nvSpPr>
          <p:cNvPr name="AutoShape 9" id="9"/>
          <p:cNvSpPr/>
          <p:nvPr/>
        </p:nvSpPr>
        <p:spPr>
          <a:xfrm rot="0" flipH="false" flipV="false">
            <a:off x="1397000" y="3327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01. 计算行列式 |A⁻¹|</a:t>
            </a:r>
            <a:endParaRPr lang="en-US" sz="1100"/>
          </a:p>
        </p:txBody>
      </p:sp>
      <p:cxnSp>
        <p:nvCxnSpPr>
          <p:cNvPr name="Connector 10" id="10"/>
          <p:cNvCxnSpPr/>
          <p:nvPr/>
        </p:nvCxnSpPr>
        <p:spPr>
          <a:xfrm rot="-14323" flipH="false" flipV="false">
            <a:off x="952513" y="3867150"/>
            <a:ext cx="30480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11" id="11"/>
          <p:cNvSpPr/>
          <p:nvPr/>
        </p:nvSpPr>
        <p:spPr>
          <a:xfrm rot="0" flipH="false" flipV="false">
            <a:off x="952500" y="40005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46E7A"/>
                </a:solidFill>
                <a:latin typeface="Noto Sans SC"/>
                <a:ea typeface="Noto Sans SC"/>
                <a:cs typeface="Noto Sans SC"/>
                <a:sym typeface="Noto Sans SC"/>
              </a:rPr>
              <a:t>通过行列式展开法则计算得：|A⁻¹| = 1 × (2×1 - 1×1) = 1。行列式的值为1，简化了后续的计算步骤。</a:t>
            </a:r>
            <a:endParaRPr lang="en-US" sz="1100"/>
          </a:p>
        </p:txBody>
      </p:sp>
      <p:sp>
        <p:nvSpPr>
          <p:cNvPr name="AutoShape 12" id="12"/>
          <p:cNvSpPr/>
          <p:nvPr/>
        </p:nvSpPr>
        <p:spPr>
          <a:xfrm rot="0" flipH="false" flipV="false">
            <a:off x="4381500" y="3175000"/>
            <a:ext cx="3429000" cy="1905000"/>
          </a:xfrm>
          <a:prstGeom prst="roundRect">
            <a:avLst>
              <a:gd name="adj" fmla="val 0"/>
            </a:avLst>
          </a:prstGeom>
          <a:solidFill>
            <a:srgbClr val="FFFFFF">
              <a:alpha val="70000"/>
            </a:srgbClr>
          </a:solidFill>
          <a:ln w="12700" cmpd="sng" cap="flat">
            <a:solidFill>
              <a:srgbClr val="C8C8C8">
                <a:alpha val="6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3365500"/>
            <a:ext cx="304800" cy="304800"/>
          </a:xfrm>
          <a:prstGeom prst="rect">
            <a:avLst/>
          </a:prstGeom>
        </p:spPr>
      </p:pic>
      <p:sp>
        <p:nvSpPr>
          <p:cNvPr name="AutoShape 14" id="14"/>
          <p:cNvSpPr/>
          <p:nvPr/>
        </p:nvSpPr>
        <p:spPr>
          <a:xfrm rot="0" flipH="false" flipV="false">
            <a:off x="5016500" y="3327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02. 求伴随矩阵 (A⁻¹)*</a:t>
            </a:r>
            <a:endParaRPr lang="en-US" sz="1100"/>
          </a:p>
        </p:txBody>
      </p:sp>
      <p:cxnSp>
        <p:nvCxnSpPr>
          <p:cNvPr name="Connector 15" id="15"/>
          <p:cNvCxnSpPr/>
          <p:nvPr/>
        </p:nvCxnSpPr>
        <p:spPr>
          <a:xfrm rot="-14323" flipH="false" flipV="false">
            <a:off x="4572013" y="3867150"/>
            <a:ext cx="30480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16" id="16"/>
          <p:cNvSpPr/>
          <p:nvPr/>
        </p:nvSpPr>
        <p:spPr>
          <a:xfrm rot="0" flipH="false" flipV="false">
            <a:off x="4572000" y="40005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46E7A"/>
                </a:solidFill>
                <a:latin typeface="Noto Sans SC"/>
                <a:ea typeface="Noto Sans SC"/>
                <a:cs typeface="Noto Sans SC"/>
                <a:sym typeface="Noto Sans SC"/>
              </a:rPr>
              <a:t>计算每个元素的代数余子式并转置矩阵，最终得到伴随矩阵：(A⁻¹)* = [[1, 0, 0], [0, 1, -1], [0, -1, 2]]。</a:t>
            </a:r>
            <a:endParaRPr lang="en-US" sz="1100"/>
          </a:p>
        </p:txBody>
      </p:sp>
      <p:sp>
        <p:nvSpPr>
          <p:cNvPr name="AutoShape 17" id="17"/>
          <p:cNvSpPr/>
          <p:nvPr/>
        </p:nvSpPr>
        <p:spPr>
          <a:xfrm rot="0" flipH="false" flipV="false">
            <a:off x="8001000" y="3175000"/>
            <a:ext cx="3429000" cy="1905000"/>
          </a:xfrm>
          <a:prstGeom prst="roundRect">
            <a:avLst>
              <a:gd name="adj" fmla="val 0"/>
            </a:avLst>
          </a:prstGeom>
          <a:solidFill>
            <a:srgbClr val="FFFFFF">
              <a:alpha val="70000"/>
            </a:srgbClr>
          </a:solidFill>
          <a:ln w="12700" cmpd="sng" cap="flat">
            <a:solidFill>
              <a:srgbClr val="C8C8C8">
                <a:alpha val="6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3365500"/>
            <a:ext cx="304800" cy="304800"/>
          </a:xfrm>
          <a:prstGeom prst="rect">
            <a:avLst/>
          </a:prstGeom>
        </p:spPr>
      </p:pic>
      <p:sp>
        <p:nvSpPr>
          <p:cNvPr name="AutoShape 19" id="19"/>
          <p:cNvSpPr/>
          <p:nvPr/>
        </p:nvSpPr>
        <p:spPr>
          <a:xfrm rot="0" flipH="false" flipV="false">
            <a:off x="8636000" y="3327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03. 计算原矩阵 A</a:t>
            </a:r>
            <a:endParaRPr lang="en-US" sz="1100"/>
          </a:p>
        </p:txBody>
      </p:sp>
      <p:cxnSp>
        <p:nvCxnSpPr>
          <p:cNvPr name="Connector 20" id="20"/>
          <p:cNvCxnSpPr/>
          <p:nvPr/>
        </p:nvCxnSpPr>
        <p:spPr>
          <a:xfrm rot="-14323" flipH="false" flipV="false">
            <a:off x="8191513" y="3867150"/>
            <a:ext cx="30480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21" id="21"/>
          <p:cNvSpPr/>
          <p:nvPr/>
        </p:nvSpPr>
        <p:spPr>
          <a:xfrm rot="0" flipH="false" flipV="false">
            <a:off x="8191500" y="40005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46E7A"/>
                </a:solidFill>
                <a:latin typeface="Noto Sans SC"/>
                <a:ea typeface="Noto Sans SC"/>
                <a:cs typeface="Noto Sans SC"/>
                <a:sym typeface="Noto Sans SC"/>
              </a:rPr>
              <a:t>将行列式的倒数与伴随矩阵相乘，因|A⁻¹|=1，故 A 直接等于其伴随矩阵，完成原矩阵的求解。</a:t>
            </a:r>
            <a:endParaRPr lang="en-US" sz="1100"/>
          </a:p>
        </p:txBody>
      </p:sp>
      <p:sp>
        <p:nvSpPr>
          <p:cNvPr name="AutoShape 22" id="22"/>
          <p:cNvSpPr/>
          <p:nvPr/>
        </p:nvSpPr>
        <p:spPr>
          <a:xfrm rot="0" flipH="false" flipV="false">
            <a:off x="762000" y="5461000"/>
            <a:ext cx="10668000" cy="9525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2000" y="5461000"/>
            <a:ext cx="76200" cy="952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1016000" y="5562600"/>
            <a:ext cx="190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最终答案：</a:t>
            </a:r>
            <a:endParaRPr lang="en-US" sz="1100"/>
          </a:p>
        </p:txBody>
      </p:sp>
      <p:cxnSp>
        <p:nvCxnSpPr>
          <p:cNvPr name="Connector 25" id="25"/>
          <p:cNvCxnSpPr/>
          <p:nvPr/>
        </p:nvCxnSpPr>
        <p:spPr>
          <a:xfrm rot="5337502" flipH="false" flipV="false">
            <a:off x="2698750" y="5930958"/>
            <a:ext cx="6985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26" id="26"/>
          <p:cNvSpPr/>
          <p:nvPr/>
        </p:nvSpPr>
        <p:spPr>
          <a:xfrm rot="0" flipH="false" flipV="false">
            <a:off x="3302000" y="5613400"/>
            <a:ext cx="787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37474F"/>
                </a:solidFill>
                <a:latin typeface="Noto Sans SC"/>
                <a:ea typeface="Noto Sans SC"/>
                <a:cs typeface="Noto Sans SC"/>
                <a:sym typeface="Noto Sans SC"/>
              </a:rPr>
              <a:t>矩阵 A =</a:t>
            </a:r>
            <a:r>
              <a:rPr lang="en-US" b="false" i="false" strike="noStrike" u="none" sz="1400">
                <a:solidFill>
                  <a:srgbClr val="37474F"/>
                </a:solidFill>
                <a:latin typeface="Courier New"/>
                <a:ea typeface="Courier New"/>
                <a:cs typeface="Courier New"/>
                <a:sym typeface="Courier New"/>
              </a:rPr>
              <a:t>⎛ 1 0 0 ⎞</a:t>
            </a:r>
            <a:r>
              <a:rPr lang="en-US" b="false" i="false" strike="noStrike" u="none" sz="1200">
                <a:solidFill>
                  <a:srgbClr val="37474F"/>
                </a:solidFill>
                <a:latin typeface="Noto Sans SC"/>
                <a:ea typeface="Noto Sans SC"/>
                <a:cs typeface="Noto Sans SC"/>
                <a:sym typeface="Noto Sans SC"/>
              </a:rPr>
              <a:t>，该结果验证了矩阵与其逆矩阵互为逆运算的数学性质。</a:t>
            </a:r>
            <a:r>
              <a:rPr lang="en-US" b="false" i="false" strike="noStrike" u="none" sz="1400">
                <a:solidFill>
                  <a:srgbClr val="37474F"/>
                </a:solidFill>
                <a:latin typeface="Noto Sans SC"/>
                <a:ea typeface="Noto Sans SC"/>
                <a:cs typeface="Noto Sans SC"/>
                <a:sym typeface="Noto Sans SC"/>
              </a:rPr>
              <a:t/>
            </a:r>
            <a:endParaRPr lang="en-US" sz="1100"/>
          </a:p>
          <a:p>
            <a:pPr algn="l" marL="0" indent="0">
              <a:lnSpc>
                <a:spcPct val="100000"/>
              </a:lnSpc>
            </a:pPr>
            <a:r>
              <a:rPr lang="en-US" b="false" i="false" strike="noStrike" u="none" sz="1400">
                <a:solidFill>
                  <a:srgbClr val="37474F"/>
                </a:solidFill>
                <a:latin typeface="Courier New"/>
                <a:ea typeface="Courier New"/>
                <a:cs typeface="Courier New"/>
                <a:sym typeface="Courier New"/>
              </a:rPr>
              <a:t>⎜ 0 1 -1 ⎟</a:t>
            </a:r>
            <a:r>
              <a:rPr lang="en-US" b="false" i="false" strike="noStrike" u="none" sz="1400">
                <a:solidFill>
                  <a:srgbClr val="37474F"/>
                </a:solidFill>
                <a:latin typeface="Noto Sans SC"/>
                <a:ea typeface="Noto Sans SC"/>
                <a:cs typeface="Noto Sans SC"/>
                <a:sym typeface="Noto Sans SC"/>
              </a:rPr>
              <a:t/>
            </a:r>
          </a:p>
          <a:p>
            <a:pPr algn="l" marL="0" indent="0">
              <a:lnSpc>
                <a:spcPct val="100000"/>
              </a:lnSpc>
            </a:pPr>
            <a:r>
              <a:rPr lang="en-US" b="false" i="false" strike="noStrike" u="none" sz="1400">
                <a:solidFill>
                  <a:srgbClr val="37474F"/>
                </a:solidFill>
                <a:latin typeface="Courier New"/>
                <a:ea typeface="Courier New"/>
                <a:cs typeface="Courier New"/>
                <a:sym typeface="Courier New"/>
              </a:rPr>
              <a:t>⎝ 0 -1 2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2：特征值与行列式</a:t>
            </a:r>
            <a:endParaRPr lang="en-US" sz="1100"/>
          </a:p>
        </p:txBody>
      </p:sp>
      <p:sp>
        <p:nvSpPr>
          <p:cNvPr name="AutoShape 4" id="4"/>
          <p:cNvSpPr/>
          <p:nvPr/>
        </p:nvSpPr>
        <p:spPr>
          <a:xfrm rot="0" flipH="false" flipV="false">
            <a:off x="762000" y="1397000"/>
            <a:ext cx="10668000" cy="25400"/>
          </a:xfrm>
          <a:prstGeom prst="roundRect">
            <a:avLst>
              <a:gd name="adj" fmla="val 0"/>
            </a:avLst>
          </a:prstGeom>
          <a:solidFill>
            <a:srgbClr val="26A69A">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3429000" cy="3556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355600" cy="355600"/>
          </a:xfrm>
          <a:prstGeom prst="rect">
            <a:avLst/>
          </a:prstGeom>
        </p:spPr>
      </p:pic>
      <p:sp>
        <p:nvSpPr>
          <p:cNvPr name="AutoShape 7" id="7"/>
          <p:cNvSpPr/>
          <p:nvPr/>
        </p:nvSpPr>
        <p:spPr>
          <a:xfrm rot="0" flipH="false" flipV="false">
            <a:off x="1524000" y="2260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题目条件</a:t>
            </a:r>
            <a:endParaRPr lang="en-US" sz="1100"/>
          </a:p>
        </p:txBody>
      </p:sp>
      <p:cxnSp>
        <p:nvCxnSpPr>
          <p:cNvPr name="Connector 8" id="8"/>
          <p:cNvCxnSpPr/>
          <p:nvPr/>
        </p:nvCxnSpPr>
        <p:spPr>
          <a:xfrm rot="-14946" flipH="false" flipV="false">
            <a:off x="1016014" y="2914650"/>
            <a:ext cx="2921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9" id="9"/>
          <p:cNvSpPr/>
          <p:nvPr/>
        </p:nvSpPr>
        <p:spPr>
          <a:xfrm rot="0" flipH="false" flipV="false">
            <a:off x="1016000" y="3175000"/>
            <a:ext cx="2921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455A64"/>
                </a:solidFill>
                <a:latin typeface="Noto Sans SC"/>
                <a:ea typeface="Noto Sans SC"/>
                <a:cs typeface="Noto Sans SC"/>
                <a:sym typeface="Noto Sans SC"/>
              </a:rPr>
              <a:t>已知二阶矩阵 A 的特征值为 λ₁=1，λ₂=2。</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500">
                <a:solidFill>
                  <a:srgbClr val="455A64"/>
                </a:solidFill>
                <a:latin typeface="Noto Sans SC"/>
                <a:ea typeface="Noto Sans SC"/>
                <a:cs typeface="Noto Sans SC"/>
                <a:sym typeface="Noto Sans SC"/>
              </a:rPr>
              <a:t>求解目标矩阵多项式的行列式：</a:t>
            </a:r>
            <a:r>
              <a:rPr lang="en-US" b="false" i="false" strike="noStrike" u="none" sz="1600">
                <a:solidFill>
                  <a:srgbClr val="1F2329"/>
                </a:solidFill>
                <a:latin typeface="Noto Sans SC"/>
                <a:ea typeface="Noto Sans SC"/>
                <a:cs typeface="Noto Sans SC"/>
                <a:sym typeface="Noto Sans SC"/>
              </a:rPr>
              <a:t/>
            </a:r>
          </a:p>
          <a:p>
            <a:pPr algn="l" marL="0" indent="0">
              <a:lnSpc>
                <a:spcPct val="150000"/>
              </a:lnSpc>
            </a:pPr>
            <a:r>
              <a:rPr lang="en-US" b="true" i="false" strike="noStrike" u="none" sz="1600">
                <a:solidFill>
                  <a:srgbClr val="26A69A"/>
                </a:solidFill>
                <a:latin typeface="Noto Sans SC"/>
                <a:ea typeface="Noto Sans SC"/>
                <a:cs typeface="Noto Sans SC"/>
                <a:sym typeface="Noto Sans SC"/>
              </a:rPr>
              <a:t>|A³ - 5A² + 7A| = ?</a:t>
            </a:r>
          </a:p>
        </p:txBody>
      </p:sp>
      <p:sp>
        <p:nvSpPr>
          <p:cNvPr name="AutoShape 10" id="10"/>
          <p:cNvSpPr/>
          <p:nvPr/>
        </p:nvSpPr>
        <p:spPr>
          <a:xfrm rot="0" flipH="false" flipV="false">
            <a:off x="4445000" y="2032000"/>
            <a:ext cx="3429000" cy="3556000"/>
          </a:xfrm>
          <a:prstGeom prst="roundRect">
            <a:avLst>
              <a:gd name="adj" fmla="val 0"/>
            </a:avLst>
          </a:prstGeom>
          <a:solidFill>
            <a:srgbClr val="26A69A">
              <a:alpha val="8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286000"/>
            <a:ext cx="355600" cy="355600"/>
          </a:xfrm>
          <a:prstGeom prst="rect">
            <a:avLst/>
          </a:prstGeom>
        </p:spPr>
      </p:pic>
      <p:sp>
        <p:nvSpPr>
          <p:cNvPr name="AutoShape 12" id="12"/>
          <p:cNvSpPr/>
          <p:nvPr/>
        </p:nvSpPr>
        <p:spPr>
          <a:xfrm rot="0" flipH="false" flipV="false">
            <a:off x="5207000" y="2260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关键性质</a:t>
            </a:r>
            <a:endParaRPr lang="en-US" sz="1100"/>
          </a:p>
        </p:txBody>
      </p:sp>
      <p:cxnSp>
        <p:nvCxnSpPr>
          <p:cNvPr name="Connector 13" id="13"/>
          <p:cNvCxnSpPr/>
          <p:nvPr/>
        </p:nvCxnSpPr>
        <p:spPr>
          <a:xfrm rot="-14946" flipH="false" flipV="false">
            <a:off x="4699014" y="2914650"/>
            <a:ext cx="2921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4" id="14"/>
          <p:cNvSpPr/>
          <p:nvPr/>
        </p:nvSpPr>
        <p:spPr>
          <a:xfrm rot="0" flipH="false" flipV="false">
            <a:off x="4699000" y="3175000"/>
            <a:ext cx="2921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455A64"/>
                </a:solidFill>
                <a:latin typeface="Noto Sans SC"/>
                <a:ea typeface="Noto Sans SC"/>
                <a:cs typeface="Noto Sans SC"/>
                <a:sym typeface="Noto Sans SC"/>
              </a:rPr>
              <a:t>若 λ 是矩阵 A 的特征值，则对任意多项式 f(x)，f(λ) 是 f(A) 的特征值。</a:t>
            </a:r>
            <a:r>
              <a:rPr lang="en-US" b="false" i="false" strike="noStrike" u="none" sz="1500">
                <a:solidFill>
                  <a:srgbClr val="455A64"/>
                </a:solidFill>
                <a:latin typeface="Noto Sans SC"/>
                <a:ea typeface="Noto Sans SC"/>
                <a:cs typeface="Noto Sans SC"/>
                <a:sym typeface="Noto Sans SC"/>
              </a:rPr>
              <a:t/>
            </a:r>
            <a:endParaRPr lang="en-US" sz="1100"/>
          </a:p>
          <a:p>
            <a:pPr algn="l" marL="0" indent="0">
              <a:lnSpc>
                <a:spcPct val="125000"/>
              </a:lnSpc>
            </a:pPr>
            <a:r>
              <a:rPr lang="en-US" b="false" i="false" strike="noStrike" u="none" sz="1500">
                <a:solidFill>
                  <a:srgbClr val="455A64"/>
                </a:solidFill>
                <a:latin typeface="Noto Sans SC"/>
                <a:ea typeface="Noto Sans SC"/>
                <a:cs typeface="Noto Sans SC"/>
                <a:sym typeface="Noto Sans SC"/>
              </a:rPr>
              <a:t>同时，n 阶矩阵的行列式等于其所有特征值的乘积。</a:t>
            </a:r>
          </a:p>
        </p:txBody>
      </p:sp>
      <p:sp>
        <p:nvSpPr>
          <p:cNvPr name="AutoShape 15" id="15"/>
          <p:cNvSpPr/>
          <p:nvPr/>
        </p:nvSpPr>
        <p:spPr>
          <a:xfrm rot="0" flipH="false" flipV="false">
            <a:off x="8128000" y="2032000"/>
            <a:ext cx="3429000" cy="3556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286000"/>
            <a:ext cx="355600" cy="355600"/>
          </a:xfrm>
          <a:prstGeom prst="rect">
            <a:avLst/>
          </a:prstGeom>
        </p:spPr>
      </p:pic>
      <p:sp>
        <p:nvSpPr>
          <p:cNvPr name="AutoShape 17" id="17"/>
          <p:cNvSpPr/>
          <p:nvPr/>
        </p:nvSpPr>
        <p:spPr>
          <a:xfrm rot="0" flipH="false" flipV="false">
            <a:off x="8890000" y="2260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逐步推导</a:t>
            </a:r>
            <a:endParaRPr lang="en-US" sz="1100"/>
          </a:p>
        </p:txBody>
      </p:sp>
      <p:cxnSp>
        <p:nvCxnSpPr>
          <p:cNvPr name="Connector 18" id="18"/>
          <p:cNvCxnSpPr/>
          <p:nvPr/>
        </p:nvCxnSpPr>
        <p:spPr>
          <a:xfrm rot="-14946" flipH="false" flipV="false">
            <a:off x="8382014" y="2914650"/>
            <a:ext cx="2921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19" id="19"/>
          <p:cNvSpPr/>
          <p:nvPr/>
        </p:nvSpPr>
        <p:spPr>
          <a:xfrm rot="0" flipH="false" flipV="false">
            <a:off x="8382000" y="3175000"/>
            <a:ext cx="2921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设 f(x)=x³-5x²+7x，则 f(A)=A³-5A²+7A。</a:t>
            </a:r>
            <a:r>
              <a:rPr lang="en-US" b="false" i="false" strike="noStrike" u="none" sz="1400">
                <a:solidFill>
                  <a:srgbClr val="455A64"/>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55A64"/>
                </a:solidFill>
                <a:latin typeface="Noto Sans SC"/>
                <a:ea typeface="Noto Sans SC"/>
                <a:cs typeface="Noto Sans SC"/>
                <a:sym typeface="Noto Sans SC"/>
              </a:rPr>
              <a:t>计算特征值映射：f(1)=3，f(2)=2。</a:t>
            </a:r>
            <a:r>
              <a:rPr lang="en-US" b="false" i="false" strike="noStrike" u="none" sz="1400">
                <a:solidFill>
                  <a:srgbClr val="455A64"/>
                </a:solidFill>
                <a:latin typeface="Noto Sans SC"/>
                <a:ea typeface="Noto Sans SC"/>
                <a:cs typeface="Noto Sans SC"/>
                <a:sym typeface="Noto Sans SC"/>
              </a:rPr>
              <a:t/>
            </a:r>
          </a:p>
          <a:p>
            <a:pPr algn="l" marL="0" indent="0">
              <a:lnSpc>
                <a:spcPct val="116666"/>
              </a:lnSpc>
            </a:pPr>
            <a:r>
              <a:rPr lang="en-US" b="false" i="false" strike="noStrike" u="none" sz="1400">
                <a:solidFill>
                  <a:srgbClr val="455A64"/>
                </a:solidFill>
                <a:latin typeface="Noto Sans SC"/>
                <a:ea typeface="Noto Sans SC"/>
                <a:cs typeface="Noto Sans SC"/>
                <a:sym typeface="Noto Sans SC"/>
              </a:rPr>
              <a:t>行列式为特征值之积：3 × 2 = 6。</a:t>
            </a:r>
          </a:p>
        </p:txBody>
      </p:sp>
      <p:sp>
        <p:nvSpPr>
          <p:cNvPr name="AutoShape 20" id="20"/>
          <p:cNvSpPr/>
          <p:nvPr/>
        </p:nvSpPr>
        <p:spPr>
          <a:xfrm rot="0" flipH="false" flipV="false">
            <a:off x="762000" y="5842000"/>
            <a:ext cx="10795000" cy="762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1016000" y="5969000"/>
            <a:ext cx="10287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结论：</a:t>
            </a:r>
            <a:r>
              <a:rPr lang="en-US" b="false" i="false" strike="noStrike" u="none" sz="1600">
                <a:solidFill>
                  <a:srgbClr val="37474F"/>
                </a:solidFill>
                <a:latin typeface="Noto Sans SC"/>
                <a:ea typeface="Noto Sans SC"/>
                <a:cs typeface="Noto Sans SC"/>
                <a:sym typeface="Noto Sans SC"/>
              </a:rPr>
              <a:t>无需展开矩阵运算，利用特征值性质可快速求得 |A³ - 5A² + 7A| = 6。</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2：解题思路</a:t>
            </a:r>
            <a:endParaRPr lang="en-US" sz="1100"/>
          </a:p>
        </p:txBody>
      </p:sp>
      <p:sp>
        <p:nvSpPr>
          <p:cNvPr name="AutoShape 4" id="4"/>
          <p:cNvSpPr/>
          <p:nvPr/>
        </p:nvSpPr>
        <p:spPr>
          <a:xfrm rot="0" flipH="false" flipV="false">
            <a:off x="762000" y="1651000"/>
            <a:ext cx="10668000" cy="1397000"/>
          </a:xfrm>
          <a:prstGeom prst="roundRect">
            <a:avLst>
              <a:gd name="adj" fmla="val 0"/>
            </a:avLst>
          </a:prstGeom>
          <a:solidFill>
            <a:srgbClr val="FFFFFF">
              <a:alpha val="75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406400" cy="406400"/>
          </a:xfrm>
          <a:prstGeom prst="rect">
            <a:avLst/>
          </a:prstGeom>
        </p:spPr>
      </p:pic>
      <p:sp>
        <p:nvSpPr>
          <p:cNvPr name="AutoShape 6" id="6"/>
          <p:cNvSpPr/>
          <p:nvPr/>
        </p:nvSpPr>
        <p:spPr>
          <a:xfrm rot="0" flipH="false" flipV="false">
            <a:off x="1651000" y="1803400"/>
            <a:ext cx="9525000" cy="10922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26A69A"/>
                </a:solidFill>
                <a:latin typeface="Noto Sans SC"/>
                <a:ea typeface="Noto Sans SC"/>
                <a:cs typeface="Noto Sans SC"/>
                <a:sym typeface="Noto Sans SC"/>
              </a:rPr>
              <a:t>核心原理：利用矩阵多项式的特征值性质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55A64"/>
                </a:solidFill>
                <a:latin typeface="Noto Sans SC"/>
                <a:ea typeface="Noto Sans SC"/>
                <a:cs typeface="Noto Sans SC"/>
                <a:sym typeface="Noto Sans SC"/>
              </a:rPr>
              <a:t>若λ是矩阵A的特征值，则对多项式f(x)，f(λ)是f(A)的特征值；而矩阵的行列式等于其所有特征值的乘积。利用这一性质可避开复杂的矩阵运算，直接通过特征值求解行列式。</a:t>
            </a:r>
          </a:p>
        </p:txBody>
      </p:sp>
      <p:sp>
        <p:nvSpPr>
          <p:cNvPr name="AutoShape 7" id="7"/>
          <p:cNvSpPr/>
          <p:nvPr/>
        </p:nvSpPr>
        <p:spPr>
          <a:xfrm rot="0" flipH="false" flipV="false">
            <a:off x="762000" y="3556000"/>
            <a:ext cx="5207000" cy="1905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556000"/>
            <a:ext cx="76200" cy="1905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3683000"/>
            <a:ext cx="4699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01. 定义多项式与确定特征值</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455A64"/>
                </a:solidFill>
                <a:latin typeface="Noto Sans SC"/>
                <a:ea typeface="Noto Sans SC"/>
                <a:cs typeface="Noto Sans SC"/>
                <a:sym typeface="Noto Sans SC"/>
              </a:rPr>
              <a:t>设多项式 f(x) = x³ - 5x² + 7x。已知矩阵 A 的特征值为 λ₁=1，λ₂=2。我们将特征值直接代入多项式，即可得到矩阵多项式 f(A) 的特征值。</a:t>
            </a:r>
          </a:p>
        </p:txBody>
      </p:sp>
      <p:sp>
        <p:nvSpPr>
          <p:cNvPr name="AutoShape 10" id="10"/>
          <p:cNvSpPr/>
          <p:nvPr/>
        </p:nvSpPr>
        <p:spPr>
          <a:xfrm rot="0" flipH="false" flipV="false">
            <a:off x="6223000" y="3556000"/>
            <a:ext cx="5207000" cy="1905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3556000"/>
            <a:ext cx="76200" cy="1905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77000" y="3683000"/>
            <a:ext cx="4699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02. 计算特征值并求行列式</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455A64"/>
                </a:solidFill>
                <a:latin typeface="Noto Sans SC"/>
                <a:ea typeface="Noto Sans SC"/>
                <a:cs typeface="Noto Sans SC"/>
                <a:sym typeface="Noto Sans SC"/>
              </a:rPr>
              <a:t>计算得 f(1)=3，f(2)=2。根据行列式性质，|f(A)| 等于其特征值的乘积，即 |A³ - 5A² + 7A| = f(1)·f(2) = 3 × 2 = 6。</a:t>
            </a:r>
          </a:p>
        </p:txBody>
      </p:sp>
      <p:sp>
        <p:nvSpPr>
          <p:cNvPr name="AutoShape 13" id="13"/>
          <p:cNvSpPr/>
          <p:nvPr/>
        </p:nvSpPr>
        <p:spPr>
          <a:xfrm rot="0" flipH="false" flipV="false">
            <a:off x="762000" y="5715000"/>
            <a:ext cx="10668000" cy="825500"/>
          </a:xfrm>
          <a:prstGeom prst="roundRect">
            <a:avLst>
              <a:gd name="adj" fmla="val 0"/>
            </a:avLst>
          </a:prstGeom>
          <a:solidFill>
            <a:srgbClr val="26A69A">
              <a:alpha val="1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5842000"/>
            <a:ext cx="635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最终结论：矩阵多项式的行列式值为</a:t>
            </a:r>
            <a:endParaRPr lang="en-US" sz="1100"/>
          </a:p>
        </p:txBody>
      </p:sp>
      <p:cxnSp>
        <p:nvCxnSpPr>
          <p:cNvPr name="Connector 15" id="15"/>
          <p:cNvCxnSpPr/>
          <p:nvPr/>
        </p:nvCxnSpPr>
        <p:spPr>
          <a:xfrm rot="5323618" flipH="false" flipV="false">
            <a:off x="7334250" y="6121471"/>
            <a:ext cx="571500" cy="12700"/>
          </a:xfrm>
          <a:prstGeom prst="straightConnector1">
            <a:avLst/>
          </a:prstGeom>
          <a:solidFill>
            <a:srgbClr val="DEE0E3">
              <a:alpha val="100000"/>
            </a:srgbClr>
          </a:solidFill>
          <a:ln w="12700" cmpd="sng" cap="flat">
            <a:solidFill>
              <a:srgbClr val="26A69A">
                <a:alpha val="50000"/>
              </a:srgbClr>
            </a:solidFill>
            <a:prstDash val="solid"/>
            <a:round/>
            <a:headEnd type="none" w="med" len="med"/>
            <a:tailEnd type="none" w="med" len="med"/>
          </a:ln>
        </p:spPr>
      </p:cxnSp>
      <p:sp>
        <p:nvSpPr>
          <p:cNvPr name="AutoShape 16" id="16"/>
          <p:cNvSpPr/>
          <p:nvPr/>
        </p:nvSpPr>
        <p:spPr>
          <a:xfrm rot="0" flipH="false" flipV="false">
            <a:off x="7874000" y="5778500"/>
            <a:ext cx="330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26A69A"/>
                </a:solidFill>
                <a:latin typeface="Noto Sans SC"/>
                <a:ea typeface="Noto Sans SC"/>
                <a:cs typeface="Noto Sans SC"/>
                <a:sym typeface="Noto Sans SC"/>
              </a:rPr>
              <a:t>6</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3：线性相关</a:t>
            </a:r>
            <a:endParaRPr lang="en-US" sz="1100"/>
          </a:p>
        </p:txBody>
      </p:sp>
      <p:sp>
        <p:nvSpPr>
          <p:cNvPr name="AutoShape 4" id="4"/>
          <p:cNvSpPr/>
          <p:nvPr/>
        </p:nvSpPr>
        <p:spPr>
          <a:xfrm rot="0" flipH="false" flipV="false">
            <a:off x="762000" y="1778000"/>
            <a:ext cx="5207000" cy="3683000"/>
          </a:xfrm>
          <a:prstGeom prst="roundRect">
            <a:avLst>
              <a:gd name="adj" fmla="val 0"/>
            </a:avLst>
          </a:prstGeom>
          <a:solidFill>
            <a:srgbClr val="FFFFFF">
              <a:alpha val="75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5207000" cy="762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95500"/>
            <a:ext cx="469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题目条件</a:t>
            </a:r>
            <a:endParaRPr lang="en-US" sz="1100"/>
          </a:p>
        </p:txBody>
      </p:sp>
      <p:cxnSp>
        <p:nvCxnSpPr>
          <p:cNvPr name="Connector 7" id="7"/>
          <p:cNvCxnSpPr/>
          <p:nvPr/>
        </p:nvCxnSpPr>
        <p:spPr>
          <a:xfrm rot="-9291" flipH="false" flipV="false">
            <a:off x="1016009" y="2787650"/>
            <a:ext cx="4699000" cy="12700"/>
          </a:xfrm>
          <a:prstGeom prst="straightConnector1">
            <a:avLst/>
          </a:prstGeom>
          <a:solidFill>
            <a:srgbClr val="DEE0E3">
              <a:alpha val="100000"/>
            </a:srgbClr>
          </a:solidFill>
          <a:ln w="12700" cmpd="sng" cap="flat">
            <a:solidFill>
              <a:srgbClr val="37474F">
                <a:alpha val="20000"/>
              </a:srgbClr>
            </a:solidFill>
            <a:prstDash val="dash"/>
            <a:round/>
            <a:headEnd type="none" w="med" len="med"/>
            <a:tailEnd type="none" w="med" len="med"/>
          </a:ln>
        </p:spPr>
      </p:cxnSp>
      <p:sp>
        <p:nvSpPr>
          <p:cNvPr name="AutoShape 8" id="8"/>
          <p:cNvSpPr/>
          <p:nvPr/>
        </p:nvSpPr>
        <p:spPr>
          <a:xfrm rot="0" flipH="false" flipV="false">
            <a:off x="1016000" y="2921000"/>
            <a:ext cx="4699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设三阶矩阵</a:t>
            </a:r>
            <a:r>
              <a:rPr lang="en-US" b="true" i="false" strike="noStrike" u="none" sz="1400">
                <a:solidFill>
                  <a:srgbClr val="26A69A"/>
                </a:solidFill>
                <a:latin typeface="Noto Sans SC"/>
                <a:ea typeface="Noto Sans SC"/>
                <a:cs typeface="Noto Sans SC"/>
                <a:sym typeface="Noto Sans SC"/>
              </a:rPr>
              <a:t>A</a:t>
            </a:r>
            <a:r>
              <a:rPr lang="en-US" b="false" i="false" strike="noStrike" u="none" sz="1400">
                <a:solidFill>
                  <a:srgbClr val="37474F"/>
                </a:solidFill>
                <a:latin typeface="Noto Sans SC"/>
                <a:ea typeface="Noto Sans SC"/>
                <a:cs typeface="Noto Sans SC"/>
                <a:sym typeface="Noto Sans SC"/>
              </a:rPr>
              <a:t>=</a:t>
            </a:r>
            <a:r>
              <a:rPr lang="en-US" b="true" i="false" strike="noStrike" u="none" sz="1400">
                <a:solidFill>
                  <a:srgbClr val="26A69A"/>
                </a:solidFill>
                <a:latin typeface="Noto Sans SC"/>
                <a:ea typeface="Noto Sans SC"/>
                <a:cs typeface="Noto Sans SC"/>
                <a:sym typeface="Noto Sans SC"/>
              </a:rPr>
              <a:t>⎛ 1 2 -2 ⎞</a:t>
            </a:r>
            <a:r>
              <a:rPr lang="en-US" b="false" i="false" strike="noStrike" u="none" sz="1400">
                <a:solidFill>
                  <a:srgbClr val="1F2329"/>
                </a:solidFill>
                <a:latin typeface="Noto Sans SC"/>
                <a:ea typeface="Noto Sans SC"/>
                <a:cs typeface="Noto Sans SC"/>
                <a:sym typeface="Noto Sans SC"/>
              </a:rPr>
              <a:t/>
            </a:r>
            <a:endParaRPr lang="en-US" sz="1100"/>
          </a:p>
          <a:p>
            <a:pPr algn="l" marL="0" indent="533400">
              <a:lnSpc>
                <a:spcPct val="116666"/>
              </a:lnSpc>
            </a:pPr>
            <a:r>
              <a:rPr lang="en-US" b="true" i="false" strike="noStrike" u="none" sz="1400">
                <a:solidFill>
                  <a:srgbClr val="26A69A"/>
                </a:solidFill>
                <a:latin typeface="Noto Sans SC"/>
                <a:ea typeface="Noto Sans SC"/>
                <a:cs typeface="Noto Sans SC"/>
                <a:sym typeface="Noto Sans SC"/>
              </a:rPr>
              <a:t>⎜ 2 1 2 ⎟</a:t>
            </a:r>
            <a:r>
              <a:rPr lang="en-US" b="false" i="false" strike="noStrike" u="none" sz="1400">
                <a:solidFill>
                  <a:srgbClr val="1F2329"/>
                </a:solidFill>
                <a:latin typeface="Noto Sans SC"/>
                <a:ea typeface="Noto Sans SC"/>
                <a:cs typeface="Noto Sans SC"/>
                <a:sym typeface="Noto Sans SC"/>
              </a:rPr>
              <a:t/>
            </a:r>
          </a:p>
          <a:p>
            <a:pPr algn="l" marL="0" indent="533400">
              <a:lnSpc>
                <a:spcPct val="116666"/>
              </a:lnSpc>
            </a:pPr>
            <a:r>
              <a:rPr lang="en-US" b="true" i="false" strike="noStrike" u="none" sz="1400">
                <a:solidFill>
                  <a:srgbClr val="26A69A"/>
                </a:solidFill>
                <a:latin typeface="Noto Sans SC"/>
                <a:ea typeface="Noto Sans SC"/>
                <a:cs typeface="Noto Sans SC"/>
                <a:sym typeface="Noto Sans SC"/>
              </a:rPr>
              <a:t>⎝ 3 0 4 ⎠</a:t>
            </a:r>
            <a:r>
              <a:rPr lang="en-US" b="false" i="false" strike="noStrike" u="none" sz="1400">
                <a:solidFill>
                  <a:srgbClr val="37474F"/>
                </a:solidFill>
                <a:latin typeface="Noto Sans SC"/>
                <a:ea typeface="Noto Sans SC"/>
                <a:cs typeface="Noto Sans SC"/>
                <a:sym typeface="Noto Sans SC"/>
              </a:rPr>
              <a:t>，三维列向量</a:t>
            </a:r>
            <a:r>
              <a:rPr lang="en-US" b="true" i="false" strike="noStrike" u="none" sz="1400">
                <a:solidFill>
                  <a:srgbClr val="26A69A"/>
                </a:solidFill>
                <a:latin typeface="Noto Sans SC"/>
                <a:ea typeface="Noto Sans SC"/>
                <a:cs typeface="Noto Sans SC"/>
                <a:sym typeface="Noto Sans SC"/>
              </a:rPr>
              <a:t>α = [a, 1, 1]ᵀ</a:t>
            </a:r>
            <a:r>
              <a:rPr lang="en-US" b="false" i="false" strike="noStrike" u="none" sz="1400">
                <a:solidFill>
                  <a:srgbClr val="37474F"/>
                </a:solidFill>
                <a:latin typeface="Noto Sans SC"/>
                <a:ea typeface="Noto Sans SC"/>
                <a:cs typeface="Noto Sans SC"/>
                <a:sym typeface="Noto Sans SC"/>
              </a:rPr>
              <a:t>。已知向量 Aα 与 α 线性相关，试求参数 a 的值。</a:t>
            </a:r>
          </a:p>
        </p:txBody>
      </p:sp>
      <p:sp>
        <p:nvSpPr>
          <p:cNvPr name="AutoShape 9" id="9"/>
          <p:cNvSpPr/>
          <p:nvPr/>
        </p:nvSpPr>
        <p:spPr>
          <a:xfrm rot="0" flipH="false" flipV="false">
            <a:off x="6223000" y="1778000"/>
            <a:ext cx="5207000" cy="3683000"/>
          </a:xfrm>
          <a:prstGeom prst="roundRect">
            <a:avLst>
              <a:gd name="adj" fmla="val 0"/>
            </a:avLst>
          </a:prstGeom>
          <a:solidFill>
            <a:srgbClr val="FFFFFF">
              <a:alpha val="75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1778000"/>
            <a:ext cx="5207000" cy="762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2095500"/>
            <a:ext cx="469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解题核心逻辑</a:t>
            </a:r>
            <a:endParaRPr lang="en-US" sz="1100"/>
          </a:p>
        </p:txBody>
      </p:sp>
      <p:cxnSp>
        <p:nvCxnSpPr>
          <p:cNvPr name="Connector 12" id="12"/>
          <p:cNvCxnSpPr/>
          <p:nvPr/>
        </p:nvCxnSpPr>
        <p:spPr>
          <a:xfrm rot="-9291" flipH="false" flipV="false">
            <a:off x="6477009" y="2787650"/>
            <a:ext cx="4699000" cy="12700"/>
          </a:xfrm>
          <a:prstGeom prst="straightConnector1">
            <a:avLst/>
          </a:prstGeom>
          <a:solidFill>
            <a:srgbClr val="DEE0E3">
              <a:alpha val="100000"/>
            </a:srgbClr>
          </a:solidFill>
          <a:ln w="12700" cmpd="sng" cap="flat">
            <a:solidFill>
              <a:srgbClr val="37474F">
                <a:alpha val="20000"/>
              </a:srgbClr>
            </a:solidFill>
            <a:prstDash val="dash"/>
            <a:round/>
            <a:headEnd type="none" w="med" len="med"/>
            <a:tailEnd type="none" w="med" len="med"/>
          </a:ln>
        </p:spPr>
      </p:cxnSp>
      <p:sp>
        <p:nvSpPr>
          <p:cNvPr name="AutoShape 13" id="13"/>
          <p:cNvSpPr/>
          <p:nvPr/>
        </p:nvSpPr>
        <p:spPr>
          <a:xfrm rot="0" flipH="false" flipV="false">
            <a:off x="6477000" y="3048000"/>
            <a:ext cx="4699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7474F"/>
                </a:solidFill>
                <a:latin typeface="Noto Sans SC"/>
                <a:ea typeface="Noto Sans SC"/>
                <a:cs typeface="Noto Sans SC"/>
                <a:sym typeface="Noto Sans SC"/>
              </a:rPr>
              <a:t>两个向量线性相关的充要条件是：存在非零常数 k，使得</a:t>
            </a:r>
            <a:r>
              <a:rPr lang="en-US" b="true" i="false" strike="noStrike" u="none" sz="1500">
                <a:solidFill>
                  <a:srgbClr val="26A69A"/>
                </a:solidFill>
                <a:latin typeface="Noto Sans SC"/>
                <a:ea typeface="Noto Sans SC"/>
                <a:cs typeface="Noto Sans SC"/>
                <a:sym typeface="Noto Sans SC"/>
              </a:rPr>
              <a:t>Aα = kα</a:t>
            </a:r>
            <a:r>
              <a:rPr lang="en-US" b="false" i="false" strike="noStrike" u="none" sz="1500">
                <a:solidFill>
                  <a:srgbClr val="37474F"/>
                </a:solidFill>
                <a:latin typeface="Noto Sans SC"/>
                <a:ea typeface="Noto Sans SC"/>
                <a:cs typeface="Noto Sans SC"/>
                <a:sym typeface="Noto Sans SC"/>
              </a:rPr>
              <a:t>。即向量 Aα 与 α 的对应分量成比例。我们可以先计算 Aα 的具体表达式，再根据比例关系建立方程组求解 a。</a:t>
            </a:r>
            <a:endParaRPr lang="en-US" sz="1100"/>
          </a:p>
        </p:txBody>
      </p:sp>
      <p:sp>
        <p:nvSpPr>
          <p:cNvPr name="AutoShape 14" id="14"/>
          <p:cNvSpPr/>
          <p:nvPr/>
        </p:nvSpPr>
        <p:spPr>
          <a:xfrm rot="0" flipH="false" flipV="false">
            <a:off x="762000" y="5715000"/>
            <a:ext cx="10668000" cy="889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880100"/>
            <a:ext cx="558800" cy="558800"/>
          </a:xfrm>
          <a:prstGeom prst="rect">
            <a:avLst/>
          </a:prstGeom>
        </p:spPr>
      </p:pic>
      <p:sp>
        <p:nvSpPr>
          <p:cNvPr name="AutoShape 16" id="16"/>
          <p:cNvSpPr/>
          <p:nvPr/>
        </p:nvSpPr>
        <p:spPr>
          <a:xfrm rot="0" flipH="false" flipV="false">
            <a:off x="1905000" y="5816600"/>
            <a:ext cx="8763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500">
                <a:solidFill>
                  <a:srgbClr val="37474F"/>
                </a:solidFill>
                <a:latin typeface="Noto Sans SC"/>
                <a:ea typeface="Noto Sans SC"/>
                <a:cs typeface="Noto Sans SC"/>
                <a:sym typeface="Noto Sans SC"/>
              </a:rPr>
              <a:t>计算得 Aα = [a, 2a+3, 3a+4]ᵀ，由 Aα = kα 列方程可解得</a:t>
            </a:r>
            <a:r>
              <a:rPr lang="en-US" b="true" i="false" strike="noStrike" u="none" sz="1800">
                <a:solidFill>
                  <a:srgbClr val="26A69A"/>
                </a:solidFill>
                <a:latin typeface="Noto Sans SC"/>
                <a:ea typeface="Noto Sans SC"/>
                <a:cs typeface="Noto Sans SC"/>
                <a:sym typeface="Noto Sans SC"/>
              </a:rPr>
              <a:t>a = -1</a:t>
            </a:r>
            <a:r>
              <a:rPr lang="en-US" b="false" i="false" strike="noStrike" u="none" sz="1500">
                <a:solidFill>
                  <a:srgbClr val="37474F"/>
                </a:solidFill>
                <a:latin typeface="Noto Sans SC"/>
                <a:ea typeface="Noto Sans SC"/>
                <a:cs typeface="Noto Sans SC"/>
                <a:sym typeface="Noto Sans SC"/>
              </a:rPr>
              <a:t>。此结果满足两向量对应分量成比例的线性相关条件。</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3：解题思路</a:t>
            </a:r>
            <a:endParaRPr lang="en-US" sz="1100"/>
          </a:p>
        </p:txBody>
      </p:sp>
      <p:cxnSp>
        <p:nvCxnSpPr>
          <p:cNvPr name="Connector 4" id="4"/>
          <p:cNvCxnSpPr/>
          <p:nvPr/>
        </p:nvCxnSpPr>
        <p:spPr>
          <a:xfrm rot="-4092" flipH="false" flipV="false">
            <a:off x="762004" y="1390650"/>
            <a:ext cx="10668000" cy="12700"/>
          </a:xfrm>
          <a:prstGeom prst="straightConnector1">
            <a:avLst/>
          </a:prstGeom>
          <a:solidFill>
            <a:srgbClr val="DEE0E3">
              <a:alpha val="100000"/>
            </a:srgbClr>
          </a:solidFill>
          <a:ln w="12700" cmpd="sng" cap="flat">
            <a:solidFill>
              <a:srgbClr val="26A69A">
                <a:alpha val="50000"/>
              </a:srgbClr>
            </a:solidFill>
            <a:prstDash val="solid"/>
            <a:round/>
            <a:headEnd type="none" w="med" len="med"/>
            <a:tailEnd type="none" w="med" len="med"/>
          </a:ln>
        </p:spPr>
      </p:cxnSp>
      <p:sp>
        <p:nvSpPr>
          <p:cNvPr name="AutoShape 5" id="5"/>
          <p:cNvSpPr/>
          <p:nvPr/>
        </p:nvSpPr>
        <p:spPr>
          <a:xfrm rot="0" flipH="false" flipV="false">
            <a:off x="762000" y="1905000"/>
            <a:ext cx="4318000" cy="2540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76200" cy="2540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20955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核心理论依据</a:t>
            </a:r>
            <a:endParaRPr lang="en-US" sz="1100"/>
          </a:p>
        </p:txBody>
      </p:sp>
      <p:cxnSp>
        <p:nvCxnSpPr>
          <p:cNvPr name="Connector 8" id="8"/>
          <p:cNvCxnSpPr/>
          <p:nvPr/>
        </p:nvCxnSpPr>
        <p:spPr>
          <a:xfrm rot="-11459" flipH="false" flipV="false">
            <a:off x="1016011" y="2597150"/>
            <a:ext cx="38100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9" id="9"/>
          <p:cNvSpPr/>
          <p:nvPr/>
        </p:nvSpPr>
        <p:spPr>
          <a:xfrm rot="0" flipH="false" flipV="false">
            <a:off x="1016000" y="2794000"/>
            <a:ext cx="3810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37474F"/>
                </a:solidFill>
                <a:latin typeface="Noto Sans SC"/>
                <a:ea typeface="Noto Sans SC"/>
                <a:cs typeface="Noto Sans SC"/>
                <a:sym typeface="Noto Sans SC"/>
              </a:rPr>
              <a:t>两个向量线性相关的充要条件是其中一个向量是另一个向量的常数倍。即存在常数 k，使得矩阵变换后的向量满足</a:t>
            </a:r>
            <a:r>
              <a:rPr lang="en-US" b="true" i="false" strike="noStrike" u="none" sz="1500">
                <a:solidFill>
                  <a:srgbClr val="26A69A"/>
                </a:solidFill>
                <a:latin typeface="Noto Sans SC"/>
                <a:ea typeface="Noto Sans SC"/>
                <a:cs typeface="Noto Sans SC"/>
                <a:sym typeface="Noto Sans SC"/>
              </a:rPr>
              <a:t>Aα = kα</a:t>
            </a:r>
            <a:r>
              <a:rPr lang="en-US" b="false" i="false" strike="noStrike" u="none" sz="1500">
                <a:solidFill>
                  <a:srgbClr val="37474F"/>
                </a:solidFill>
                <a:latin typeface="Noto Sans SC"/>
                <a:ea typeface="Noto Sans SC"/>
                <a:cs typeface="Noto Sans SC"/>
                <a:sym typeface="Noto Sans SC"/>
              </a:rPr>
              <a:t>。</a:t>
            </a:r>
            <a:endParaRPr lang="en-US" sz="1100"/>
          </a:p>
        </p:txBody>
      </p:sp>
      <p:sp>
        <p:nvSpPr>
          <p:cNvPr name="AutoShape 10" id="10"/>
          <p:cNvSpPr/>
          <p:nvPr/>
        </p:nvSpPr>
        <p:spPr>
          <a:xfrm rot="0" flipH="false" flipV="false">
            <a:off x="5588000" y="1905000"/>
            <a:ext cx="2857500" cy="1460500"/>
          </a:xfrm>
          <a:prstGeom prst="roundRect">
            <a:avLst>
              <a:gd name="adj" fmla="val 0"/>
            </a:avLst>
          </a:prstGeom>
          <a:solidFill>
            <a:srgbClr val="FFFFFF">
              <a:alpha val="60000"/>
            </a:srgbClr>
          </a:solidFill>
          <a:ln w="12700" cmpd="sng" cap="flat">
            <a:solidFill>
              <a:srgbClr val="26A69A">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78500" y="2032000"/>
            <a:ext cx="304800" cy="304800"/>
          </a:xfrm>
          <a:prstGeom prst="rect">
            <a:avLst/>
          </a:prstGeom>
        </p:spPr>
      </p:pic>
      <p:sp>
        <p:nvSpPr>
          <p:cNvPr name="AutoShape 12" id="12"/>
          <p:cNvSpPr/>
          <p:nvPr/>
        </p:nvSpPr>
        <p:spPr>
          <a:xfrm rot="0" flipH="false" flipV="false">
            <a:off x="6223000" y="2006600"/>
            <a:ext cx="203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步骤一：计算变换</a:t>
            </a:r>
            <a:endParaRPr lang="en-US" sz="1100"/>
          </a:p>
        </p:txBody>
      </p:sp>
      <p:cxnSp>
        <p:nvCxnSpPr>
          <p:cNvPr name="Connector 13" id="13"/>
          <p:cNvCxnSpPr/>
          <p:nvPr/>
        </p:nvCxnSpPr>
        <p:spPr>
          <a:xfrm rot="-17629" flipH="false" flipV="false">
            <a:off x="5778516" y="2533650"/>
            <a:ext cx="2476500" cy="12700"/>
          </a:xfrm>
          <a:prstGeom prst="straightConnector1">
            <a:avLst/>
          </a:prstGeom>
          <a:solidFill>
            <a:srgbClr val="DEE0E3">
              <a:alpha val="100000"/>
            </a:srgbClr>
          </a:solidFill>
          <a:ln w="12700" cmpd="sng" cap="flat">
            <a:solidFill>
              <a:srgbClr val="37474F">
                <a:alpha val="10000"/>
              </a:srgbClr>
            </a:solidFill>
            <a:prstDash val="solid"/>
            <a:round/>
            <a:headEnd type="none" w="med" len="med"/>
            <a:tailEnd type="none" w="med" len="med"/>
          </a:ln>
        </p:spPr>
      </p:cxnSp>
      <p:sp>
        <p:nvSpPr>
          <p:cNvPr name="AutoShape 14" id="14"/>
          <p:cNvSpPr/>
          <p:nvPr/>
        </p:nvSpPr>
        <p:spPr>
          <a:xfrm rot="0" flipH="false" flipV="false">
            <a:off x="5778500" y="2667000"/>
            <a:ext cx="254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通过矩阵乘法计算得到：Aα = [a, 2a+3, 3a+4]ᵀ，明确变换后的向量形式。</a:t>
            </a:r>
            <a:endParaRPr lang="en-US" sz="1100"/>
          </a:p>
        </p:txBody>
      </p:sp>
      <p:sp>
        <p:nvSpPr>
          <p:cNvPr name="AutoShape 15" id="15"/>
          <p:cNvSpPr/>
          <p:nvPr/>
        </p:nvSpPr>
        <p:spPr>
          <a:xfrm rot="0" flipH="false" flipV="false">
            <a:off x="8699500" y="1905000"/>
            <a:ext cx="2857500" cy="1460500"/>
          </a:xfrm>
          <a:prstGeom prst="roundRect">
            <a:avLst>
              <a:gd name="adj" fmla="val 0"/>
            </a:avLst>
          </a:prstGeom>
          <a:solidFill>
            <a:srgbClr val="FFFFFF">
              <a:alpha val="60000"/>
            </a:srgbClr>
          </a:solidFill>
          <a:ln w="12700" cmpd="sng" cap="flat">
            <a:solidFill>
              <a:srgbClr val="26A69A">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8890000" y="2032000"/>
            <a:ext cx="304800" cy="304800"/>
          </a:xfrm>
          <a:prstGeom prst="rect">
            <a:avLst/>
          </a:prstGeom>
        </p:spPr>
      </p:pic>
      <p:sp>
        <p:nvSpPr>
          <p:cNvPr name="AutoShape 17" id="17"/>
          <p:cNvSpPr/>
          <p:nvPr/>
        </p:nvSpPr>
        <p:spPr>
          <a:xfrm rot="0" flipH="false" flipV="false">
            <a:off x="9334500" y="2006600"/>
            <a:ext cx="203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步骤二：构建方程</a:t>
            </a:r>
            <a:endParaRPr lang="en-US" sz="1100"/>
          </a:p>
        </p:txBody>
      </p:sp>
      <p:cxnSp>
        <p:nvCxnSpPr>
          <p:cNvPr name="Connector 18" id="18"/>
          <p:cNvCxnSpPr/>
          <p:nvPr/>
        </p:nvCxnSpPr>
        <p:spPr>
          <a:xfrm rot="-17629" flipH="false" flipV="false">
            <a:off x="8890016" y="2533650"/>
            <a:ext cx="2476500" cy="12700"/>
          </a:xfrm>
          <a:prstGeom prst="straightConnector1">
            <a:avLst/>
          </a:prstGeom>
          <a:solidFill>
            <a:srgbClr val="DEE0E3">
              <a:alpha val="100000"/>
            </a:srgbClr>
          </a:solidFill>
          <a:ln w="12700" cmpd="sng" cap="flat">
            <a:solidFill>
              <a:srgbClr val="37474F">
                <a:alpha val="10000"/>
              </a:srgbClr>
            </a:solidFill>
            <a:prstDash val="solid"/>
            <a:round/>
            <a:headEnd type="none" w="med" len="med"/>
            <a:tailEnd type="none" w="med" len="med"/>
          </a:ln>
        </p:spPr>
      </p:cxnSp>
      <p:sp>
        <p:nvSpPr>
          <p:cNvPr name="AutoShape 19" id="19"/>
          <p:cNvSpPr/>
          <p:nvPr/>
        </p:nvSpPr>
        <p:spPr>
          <a:xfrm rot="0" flipH="false" flipV="false">
            <a:off x="8890000" y="2667000"/>
            <a:ext cx="254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由 Aα = kα 列出方程组：a = ka，2a+3 = k，3a+4 = k，建立变量关系。</a:t>
            </a:r>
            <a:endParaRPr lang="en-US" sz="1100"/>
          </a:p>
        </p:txBody>
      </p:sp>
      <p:sp>
        <p:nvSpPr>
          <p:cNvPr name="AutoShape 20" id="20"/>
          <p:cNvSpPr/>
          <p:nvPr/>
        </p:nvSpPr>
        <p:spPr>
          <a:xfrm rot="0" flipH="false" flipV="false">
            <a:off x="5588000" y="3619500"/>
            <a:ext cx="2857500" cy="1460500"/>
          </a:xfrm>
          <a:prstGeom prst="roundRect">
            <a:avLst>
              <a:gd name="adj" fmla="val 0"/>
            </a:avLst>
          </a:prstGeom>
          <a:solidFill>
            <a:srgbClr val="FFFFFF">
              <a:alpha val="60000"/>
            </a:srgbClr>
          </a:solidFill>
          <a:ln w="12700" cmpd="sng" cap="flat">
            <a:solidFill>
              <a:srgbClr val="26A69A">
                <a:alpha val="2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778500" y="3746500"/>
            <a:ext cx="304800" cy="304800"/>
          </a:xfrm>
          <a:prstGeom prst="rect">
            <a:avLst/>
          </a:prstGeom>
        </p:spPr>
      </p:pic>
      <p:sp>
        <p:nvSpPr>
          <p:cNvPr name="AutoShape 22" id="22"/>
          <p:cNvSpPr/>
          <p:nvPr/>
        </p:nvSpPr>
        <p:spPr>
          <a:xfrm rot="0" flipH="false" flipV="false">
            <a:off x="6223000" y="3721100"/>
            <a:ext cx="203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步骤三：求解参数</a:t>
            </a:r>
            <a:endParaRPr lang="en-US" sz="1100"/>
          </a:p>
        </p:txBody>
      </p:sp>
      <p:cxnSp>
        <p:nvCxnSpPr>
          <p:cNvPr name="Connector 23" id="23"/>
          <p:cNvCxnSpPr/>
          <p:nvPr/>
        </p:nvCxnSpPr>
        <p:spPr>
          <a:xfrm rot="-17629" flipH="false" flipV="false">
            <a:off x="5778516" y="4248150"/>
            <a:ext cx="2476500" cy="12700"/>
          </a:xfrm>
          <a:prstGeom prst="straightConnector1">
            <a:avLst/>
          </a:prstGeom>
          <a:solidFill>
            <a:srgbClr val="DEE0E3">
              <a:alpha val="100000"/>
            </a:srgbClr>
          </a:solidFill>
          <a:ln w="12700" cmpd="sng" cap="flat">
            <a:solidFill>
              <a:srgbClr val="37474F">
                <a:alpha val="10000"/>
              </a:srgbClr>
            </a:solidFill>
            <a:prstDash val="solid"/>
            <a:round/>
            <a:headEnd type="none" w="med" len="med"/>
            <a:tailEnd type="none" w="med" len="med"/>
          </a:ln>
        </p:spPr>
      </p:cxnSp>
      <p:sp>
        <p:nvSpPr>
          <p:cNvPr name="AutoShape 24" id="24"/>
          <p:cNvSpPr/>
          <p:nvPr/>
        </p:nvSpPr>
        <p:spPr>
          <a:xfrm rot="0" flipH="false" flipV="false">
            <a:off x="5778500" y="4381500"/>
            <a:ext cx="254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联立后两个方程 2a+3 = 3a+4，移项化简直接解得 a = -1，确定关键参数值。</a:t>
            </a:r>
            <a:endParaRPr lang="en-US" sz="1100"/>
          </a:p>
        </p:txBody>
      </p:sp>
      <p:sp>
        <p:nvSpPr>
          <p:cNvPr name="AutoShape 25" id="25"/>
          <p:cNvSpPr/>
          <p:nvPr/>
        </p:nvSpPr>
        <p:spPr>
          <a:xfrm rot="0" flipH="false" flipV="false">
            <a:off x="8699500" y="3619500"/>
            <a:ext cx="2857500" cy="1460500"/>
          </a:xfrm>
          <a:prstGeom prst="roundRect">
            <a:avLst>
              <a:gd name="adj" fmla="val 0"/>
            </a:avLst>
          </a:prstGeom>
          <a:solidFill>
            <a:srgbClr val="FFFFFF">
              <a:alpha val="60000"/>
            </a:srgbClr>
          </a:solidFill>
          <a:ln w="12700" cmpd="sng" cap="flat">
            <a:solidFill>
              <a:srgbClr val="26A69A">
                <a:alpha val="2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890000" y="3746500"/>
            <a:ext cx="304800" cy="304800"/>
          </a:xfrm>
          <a:prstGeom prst="rect">
            <a:avLst/>
          </a:prstGeom>
        </p:spPr>
      </p:pic>
      <p:sp>
        <p:nvSpPr>
          <p:cNvPr name="AutoShape 27" id="27"/>
          <p:cNvSpPr/>
          <p:nvPr/>
        </p:nvSpPr>
        <p:spPr>
          <a:xfrm rot="0" flipH="false" flipV="false">
            <a:off x="9334500" y="3721100"/>
            <a:ext cx="203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步骤四：回代验证</a:t>
            </a:r>
            <a:endParaRPr lang="en-US" sz="1100"/>
          </a:p>
        </p:txBody>
      </p:sp>
      <p:cxnSp>
        <p:nvCxnSpPr>
          <p:cNvPr name="Connector 28" id="28"/>
          <p:cNvCxnSpPr/>
          <p:nvPr/>
        </p:nvCxnSpPr>
        <p:spPr>
          <a:xfrm rot="-17629" flipH="false" flipV="false">
            <a:off x="8890016" y="4248150"/>
            <a:ext cx="2476500" cy="12700"/>
          </a:xfrm>
          <a:prstGeom prst="straightConnector1">
            <a:avLst/>
          </a:prstGeom>
          <a:solidFill>
            <a:srgbClr val="DEE0E3">
              <a:alpha val="100000"/>
            </a:srgbClr>
          </a:solidFill>
          <a:ln w="12700" cmpd="sng" cap="flat">
            <a:solidFill>
              <a:srgbClr val="37474F">
                <a:alpha val="10000"/>
              </a:srgbClr>
            </a:solidFill>
            <a:prstDash val="solid"/>
            <a:round/>
            <a:headEnd type="none" w="med" len="med"/>
            <a:tailEnd type="none" w="med" len="med"/>
          </a:ln>
        </p:spPr>
      </p:cxnSp>
      <p:sp>
        <p:nvSpPr>
          <p:cNvPr name="AutoShape 29" id="29"/>
          <p:cNvSpPr/>
          <p:nvPr/>
        </p:nvSpPr>
        <p:spPr>
          <a:xfrm rot="0" flipH="false" flipV="false">
            <a:off x="8890000" y="4381500"/>
            <a:ext cx="254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将 a=-1 代入得 k=1，验证所有方程均成立，确保解的正确性和完备性。</a:t>
            </a:r>
            <a:endParaRPr lang="en-US" sz="1100"/>
          </a:p>
        </p:txBody>
      </p:sp>
      <p:sp>
        <p:nvSpPr>
          <p:cNvPr name="AutoShape 30" id="30"/>
          <p:cNvSpPr/>
          <p:nvPr/>
        </p:nvSpPr>
        <p:spPr>
          <a:xfrm rot="0" flipH="false" flipV="false">
            <a:off x="762000" y="5461000"/>
            <a:ext cx="10668000" cy="889000"/>
          </a:xfrm>
          <a:prstGeom prst="roundRect">
            <a:avLst>
              <a:gd name="adj" fmla="val 0"/>
            </a:avLst>
          </a:prstGeom>
          <a:solidFill>
            <a:srgbClr val="26A69A">
              <a:alpha val="15000"/>
            </a:srgbClr>
          </a:solidFill>
          <a:ln w="12700" cmpd="sng" cap="flat">
            <a:solidFill>
              <a:srgbClr val="26A69A">
                <a:alpha val="100000"/>
              </a:srgbClr>
            </a:solid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1016000" y="5588000"/>
            <a:ext cx="254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最终答案</a:t>
            </a:r>
            <a:endParaRPr lang="en-US" sz="1100"/>
          </a:p>
        </p:txBody>
      </p:sp>
      <p:cxnSp>
        <p:nvCxnSpPr>
          <p:cNvPr name="Connector 32" id="32"/>
          <p:cNvCxnSpPr/>
          <p:nvPr/>
        </p:nvCxnSpPr>
        <p:spPr>
          <a:xfrm rot="5314074" flipH="false" flipV="false">
            <a:off x="3302000" y="5899229"/>
            <a:ext cx="508000" cy="12700"/>
          </a:xfrm>
          <a:prstGeom prst="straightConnector1">
            <a:avLst/>
          </a:prstGeom>
          <a:solidFill>
            <a:srgbClr val="DEE0E3">
              <a:alpha val="100000"/>
            </a:srgbClr>
          </a:solidFill>
          <a:ln w="12700" cmpd="sng" cap="flat">
            <a:solidFill>
              <a:srgbClr val="26A69A">
                <a:alpha val="40000"/>
              </a:srgbClr>
            </a:solidFill>
            <a:prstDash val="solid"/>
            <a:round/>
            <a:headEnd type="none" w="med" len="med"/>
            <a:tailEnd type="none" w="med" len="med"/>
          </a:ln>
        </p:spPr>
      </p:cxnSp>
      <p:sp>
        <p:nvSpPr>
          <p:cNvPr name="AutoShape 33" id="33"/>
          <p:cNvSpPr/>
          <p:nvPr/>
        </p:nvSpPr>
        <p:spPr>
          <a:xfrm rot="0" flipH="false" flipV="false">
            <a:off x="3810000" y="5588000"/>
            <a:ext cx="736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37474F"/>
                </a:solidFill>
                <a:latin typeface="Noto Sans SC"/>
                <a:ea typeface="Noto Sans SC"/>
                <a:cs typeface="Noto Sans SC"/>
                <a:sym typeface="Noto Sans SC"/>
              </a:rPr>
              <a:t>参数 a 的取值为</a:t>
            </a:r>
            <a:r>
              <a:rPr lang="en-US" b="true" i="false" strike="noStrike" u="none" sz="2200">
                <a:solidFill>
                  <a:srgbClr val="D32F2F"/>
                </a:solidFill>
                <a:latin typeface="Noto Sans SC"/>
                <a:ea typeface="Noto Sans SC"/>
                <a:cs typeface="Noto Sans SC"/>
                <a:sym typeface="Noto Sans SC"/>
              </a:rPr>
              <a:t>-1</a:t>
            </a:r>
            <a:r>
              <a:rPr lang="en-US" b="false" i="false" strike="noStrike" u="none" sz="1800">
                <a:solidFill>
                  <a:srgbClr val="37474F"/>
                </a:solidFill>
                <a:latin typeface="Noto Sans SC"/>
                <a:ea typeface="Noto Sans SC"/>
                <a:cs typeface="Noto Sans SC"/>
                <a:sym typeface="Noto Sans SC"/>
              </a:rPr>
              <a:t>，此时向量组满足线性相关的充要条件。</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4：齐次方程组非零解</a:t>
            </a:r>
            <a:endParaRPr lang="en-US" sz="1100"/>
          </a:p>
        </p:txBody>
      </p:sp>
      <p:sp>
        <p:nvSpPr>
          <p:cNvPr name="AutoShape 4" id="4"/>
          <p:cNvSpPr/>
          <p:nvPr/>
        </p:nvSpPr>
        <p:spPr>
          <a:xfrm rot="0" flipH="false" flipV="false">
            <a:off x="762000" y="1651000"/>
            <a:ext cx="5270500" cy="1905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905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841500"/>
            <a:ext cx="4762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800">
                <a:solidFill>
                  <a:srgbClr val="37474F"/>
                </a:solidFill>
                <a:latin typeface="Noto Sans SC"/>
                <a:ea typeface="Noto Sans SC"/>
                <a:cs typeface="Noto Sans SC"/>
                <a:sym typeface="Noto Sans SC"/>
              </a:rPr>
              <a:t>题目描述</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500">
                <a:solidFill>
                  <a:srgbClr val="455A64"/>
                </a:solidFill>
                <a:latin typeface="Noto Sans SC"/>
                <a:ea typeface="Noto Sans SC"/>
                <a:cs typeface="Noto Sans SC"/>
                <a:sym typeface="Noto Sans SC"/>
              </a:rPr>
              <a:t>已知由方程</a:t>
            </a:r>
            <a:r>
              <a:rPr lang="en-US" b="true" i="false" strike="noStrike" u="none" sz="1500">
                <a:solidFill>
                  <a:srgbClr val="26A69A"/>
                </a:solidFill>
                <a:latin typeface="Noto Sans SC"/>
                <a:ea typeface="Noto Sans SC"/>
                <a:cs typeface="Noto Sans SC"/>
                <a:sym typeface="Noto Sans SC"/>
              </a:rPr>
              <a:t>λx₁ + x₂ = 0</a:t>
            </a:r>
            <a:r>
              <a:rPr lang="en-US" b="false" i="false" strike="noStrike" u="none" sz="1500">
                <a:solidFill>
                  <a:srgbClr val="455A64"/>
                </a:solidFill>
                <a:latin typeface="Noto Sans SC"/>
                <a:ea typeface="Noto Sans SC"/>
                <a:cs typeface="Noto Sans SC"/>
                <a:sym typeface="Noto Sans SC"/>
              </a:rPr>
              <a:t>与</a:t>
            </a:r>
            <a:r>
              <a:rPr lang="en-US" b="true" i="false" strike="noStrike" u="none" sz="1500">
                <a:solidFill>
                  <a:srgbClr val="26A69A"/>
                </a:solidFill>
                <a:latin typeface="Noto Sans SC"/>
                <a:ea typeface="Noto Sans SC"/>
                <a:cs typeface="Noto Sans SC"/>
                <a:sym typeface="Noto Sans SC"/>
              </a:rPr>
              <a:t>x₁ + λx₂ = 0</a:t>
            </a:r>
            <a:r>
              <a:rPr lang="en-US" b="false" i="false" strike="noStrike" u="none" sz="1500">
                <a:solidFill>
                  <a:srgbClr val="455A64"/>
                </a:solidFill>
                <a:latin typeface="Noto Sans SC"/>
                <a:ea typeface="Noto Sans SC"/>
                <a:cs typeface="Noto Sans SC"/>
                <a:sym typeface="Noto Sans SC"/>
              </a:rPr>
              <a:t>构成的二元齐次线性方程组存在非零解，试确定参数 λ 的值。</a:t>
            </a:r>
          </a:p>
        </p:txBody>
      </p:sp>
      <p:sp>
        <p:nvSpPr>
          <p:cNvPr name="AutoShape 7" id="7"/>
          <p:cNvSpPr/>
          <p:nvPr/>
        </p:nvSpPr>
        <p:spPr>
          <a:xfrm rot="0" flipH="false" flipV="false">
            <a:off x="6286500" y="1651000"/>
            <a:ext cx="5143500" cy="1905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286500" y="1651000"/>
            <a:ext cx="76200" cy="1905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540500" y="1841500"/>
            <a:ext cx="4635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800">
                <a:solidFill>
                  <a:srgbClr val="37474F"/>
                </a:solidFill>
                <a:latin typeface="Noto Sans SC"/>
                <a:ea typeface="Noto Sans SC"/>
                <a:cs typeface="Noto Sans SC"/>
                <a:sym typeface="Noto Sans SC"/>
              </a:rPr>
              <a:t>核心定理依据</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500">
                <a:solidFill>
                  <a:srgbClr val="455A64"/>
                </a:solidFill>
                <a:latin typeface="Noto Sans SC"/>
                <a:ea typeface="Noto Sans SC"/>
                <a:cs typeface="Noto Sans SC"/>
                <a:sym typeface="Noto Sans SC"/>
              </a:rPr>
              <a:t>对于 n 元齐次线性方程组 Ax = 0，有非零解的充要条件是系数矩阵 A 的秩 R(A) &lt; n。特别地，当方程个数等于未知数个数时，方程组有非零解当且仅当系数行列式 |A| = 0。</a:t>
            </a:r>
          </a:p>
        </p:txBody>
      </p:sp>
      <p:sp>
        <p:nvSpPr>
          <p:cNvPr name="AutoShape 10" id="10"/>
          <p:cNvSpPr/>
          <p:nvPr/>
        </p:nvSpPr>
        <p:spPr>
          <a:xfrm rot="0" flipH="false" flipV="false">
            <a:off x="762000" y="3937000"/>
            <a:ext cx="5270500" cy="2032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4127500"/>
            <a:ext cx="304800" cy="304800"/>
          </a:xfrm>
          <a:prstGeom prst="rect">
            <a:avLst/>
          </a:prstGeom>
        </p:spPr>
      </p:pic>
      <p:sp>
        <p:nvSpPr>
          <p:cNvPr name="AutoShape 12" id="12"/>
          <p:cNvSpPr/>
          <p:nvPr/>
        </p:nvSpPr>
        <p:spPr>
          <a:xfrm rot="0" flipH="false" flipV="false">
            <a:off x="1397000" y="40894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步骤一：构建系数矩阵并计算行列式</a:t>
            </a:r>
            <a:endParaRPr lang="en-US" sz="1100"/>
          </a:p>
        </p:txBody>
      </p:sp>
      <p:cxnSp>
        <p:nvCxnSpPr>
          <p:cNvPr name="Connector 13" id="13"/>
          <p:cNvCxnSpPr/>
          <p:nvPr/>
        </p:nvCxnSpPr>
        <p:spPr>
          <a:xfrm rot="-8929" flipH="false" flipV="false">
            <a:off x="952508" y="4629150"/>
            <a:ext cx="48895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4" id="14"/>
          <p:cNvSpPr/>
          <p:nvPr/>
        </p:nvSpPr>
        <p:spPr>
          <a:xfrm rot="0" flipH="false" flipV="false">
            <a:off x="952500" y="4762500"/>
            <a:ext cx="488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455A64"/>
                </a:solidFill>
                <a:latin typeface="Noto Sans SC"/>
                <a:ea typeface="Noto Sans SC"/>
                <a:cs typeface="Noto Sans SC"/>
                <a:sym typeface="Noto Sans SC"/>
              </a:rPr>
              <a:t>该方程组的系数矩阵为：A =</a:t>
            </a:r>
            <a:r>
              <a:rPr lang="en-US" b="true" i="false" strike="noStrike" u="none" sz="1400">
                <a:solidFill>
                  <a:srgbClr val="37474F"/>
                </a:solidFill>
                <a:latin typeface="Noto Sans SC"/>
                <a:ea typeface="Noto Sans SC"/>
                <a:cs typeface="Noto Sans SC"/>
                <a:sym typeface="Noto Sans SC"/>
              </a:rPr>
              <a:t>[λ, 1; 1, λ]</a:t>
            </a:r>
            <a:r>
              <a:rPr lang="en-US" b="false" i="false" strike="noStrike" u="none" sz="1400">
                <a:solidFill>
                  <a:srgbClr val="455A64"/>
                </a:solidFill>
                <a:latin typeface="Noto Sans SC"/>
                <a:ea typeface="Noto Sans SC"/>
                <a:cs typeface="Noto Sans SC"/>
                <a:sym typeface="Noto Sans SC"/>
              </a:rPr>
              <a:t>。根据行列式公式 |A| = λ·λ - 1·1 = λ² - 1。令行列式为零，即 λ² - 1 = 0。</a:t>
            </a:r>
            <a:endParaRPr lang="en-US" sz="1100"/>
          </a:p>
        </p:txBody>
      </p:sp>
      <p:sp>
        <p:nvSpPr>
          <p:cNvPr name="AutoShape 15" id="15"/>
          <p:cNvSpPr/>
          <p:nvPr/>
        </p:nvSpPr>
        <p:spPr>
          <a:xfrm rot="0" flipH="false" flipV="false">
            <a:off x="6286500" y="3937000"/>
            <a:ext cx="5143500" cy="2032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4127500"/>
            <a:ext cx="304800" cy="304800"/>
          </a:xfrm>
          <a:prstGeom prst="rect">
            <a:avLst/>
          </a:prstGeom>
        </p:spPr>
      </p:pic>
      <p:sp>
        <p:nvSpPr>
          <p:cNvPr name="AutoShape 17" id="17"/>
          <p:cNvSpPr/>
          <p:nvPr/>
        </p:nvSpPr>
        <p:spPr>
          <a:xfrm rot="0" flipH="false" flipV="false">
            <a:off x="6921500" y="4089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步骤二：求解方程并验证结论</a:t>
            </a:r>
            <a:endParaRPr lang="en-US" sz="1100"/>
          </a:p>
        </p:txBody>
      </p:sp>
      <p:cxnSp>
        <p:nvCxnSpPr>
          <p:cNvPr name="Connector 18" id="18"/>
          <p:cNvCxnSpPr/>
          <p:nvPr/>
        </p:nvCxnSpPr>
        <p:spPr>
          <a:xfrm rot="-9167" flipH="false" flipV="false">
            <a:off x="6477008" y="4629150"/>
            <a:ext cx="47625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9" id="19"/>
          <p:cNvSpPr/>
          <p:nvPr/>
        </p:nvSpPr>
        <p:spPr>
          <a:xfrm rot="0" flipH="false" flipV="false">
            <a:off x="6477000" y="4762500"/>
            <a:ext cx="476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455A64"/>
                </a:solidFill>
                <a:latin typeface="Noto Sans SC"/>
                <a:ea typeface="Noto Sans SC"/>
                <a:cs typeface="Noto Sans SC"/>
                <a:sym typeface="Noto Sans SC"/>
              </a:rPr>
              <a:t>解方程 λ² - 1 = 0，得 λ = 1 或 λ = -1。代入原方程组验证，当 λ 取这两个值时，方程组均存在非零解（如 λ=1 时，x₁ = -x₂ 为解系）。</a:t>
            </a:r>
            <a:endParaRPr lang="en-US" sz="1100"/>
          </a:p>
        </p:txBody>
      </p:sp>
      <p:sp>
        <p:nvSpPr>
          <p:cNvPr name="AutoShape 20" id="20"/>
          <p:cNvSpPr/>
          <p:nvPr/>
        </p:nvSpPr>
        <p:spPr>
          <a:xfrm rot="0" flipH="false" flipV="false">
            <a:off x="762000" y="6159500"/>
            <a:ext cx="10668000" cy="508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89000" y="6248400"/>
            <a:ext cx="1041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A69A"/>
                </a:solidFill>
                <a:latin typeface="Noto Sans SC"/>
                <a:ea typeface="Noto Sans SC"/>
                <a:cs typeface="Noto Sans SC"/>
                <a:sym typeface="Noto Sans SC"/>
              </a:rPr>
              <a:t>结论：</a:t>
            </a:r>
            <a:r>
              <a:rPr lang="en-US" b="false" i="false" strike="noStrike" u="none" sz="1500">
                <a:solidFill>
                  <a:srgbClr val="37474F"/>
                </a:solidFill>
                <a:latin typeface="Noto Sans SC"/>
                <a:ea typeface="Noto Sans SC"/>
                <a:cs typeface="Noto Sans SC"/>
                <a:sym typeface="Noto Sans SC"/>
              </a:rPr>
              <a:t>使得方程组有非零解的参数值为</a:t>
            </a:r>
            <a:r>
              <a:rPr lang="en-US" b="true" i="false" strike="noStrike" u="none" sz="1500">
                <a:solidFill>
                  <a:srgbClr val="37474F"/>
                </a:solidFill>
                <a:latin typeface="Noto Sans SC"/>
                <a:ea typeface="Noto Sans SC"/>
                <a:cs typeface="Noto Sans SC"/>
                <a:sym typeface="Noto Sans SC"/>
              </a:rPr>
              <a:t>λ = 1</a:t>
            </a:r>
            <a:r>
              <a:rPr lang="en-US" b="false" i="false" strike="noStrike" u="none" sz="1500">
                <a:solidFill>
                  <a:srgbClr val="37474F"/>
                </a:solidFill>
                <a:latin typeface="Noto Sans SC"/>
                <a:ea typeface="Noto Sans SC"/>
                <a:cs typeface="Noto Sans SC"/>
                <a:sym typeface="Noto Sans SC"/>
              </a:rPr>
              <a:t>或</a:t>
            </a:r>
            <a:r>
              <a:rPr lang="en-US" b="true" i="false" strike="noStrike" u="none" sz="1500">
                <a:solidFill>
                  <a:srgbClr val="37474F"/>
                </a:solidFill>
                <a:latin typeface="Noto Sans SC"/>
                <a:ea typeface="Noto Sans SC"/>
                <a:cs typeface="Noto Sans SC"/>
                <a:sym typeface="Noto Sans SC"/>
              </a:rPr>
              <a:t>λ = -1</a:t>
            </a:r>
            <a:r>
              <a:rPr lang="en-US" b="false" i="false" strike="noStrike" u="none" sz="1500">
                <a:solidFill>
                  <a:srgbClr val="37474F"/>
                </a:solidFill>
                <a:latin typeface="Noto Sans SC"/>
                <a:ea typeface="Noto Sans SC"/>
                <a:cs typeface="Noto Sans SC"/>
                <a:sym typeface="Noto Sans SC"/>
              </a:rPr>
              <a:t>。</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cmpd="sng" cap="flat">
            <a:solidFill>
              <a:srgbClr val="E6CFCF">
                <a:alpha val="4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问题4：解题思路</a:t>
            </a:r>
            <a:endParaRPr lang="en-US" sz="1100"/>
          </a:p>
        </p:txBody>
      </p:sp>
      <p:cxnSp>
        <p:nvCxnSpPr>
          <p:cNvPr name="Connector 4" id="4"/>
          <p:cNvCxnSpPr/>
          <p:nvPr/>
        </p:nvCxnSpPr>
        <p:spPr>
          <a:xfrm rot="-4092" flipH="false" flipV="false">
            <a:off x="762004" y="1390650"/>
            <a:ext cx="10668000" cy="12700"/>
          </a:xfrm>
          <a:prstGeom prst="straightConnector1">
            <a:avLst/>
          </a:prstGeom>
          <a:solidFill>
            <a:srgbClr val="DEE0E3">
              <a:alpha val="100000"/>
            </a:srgbClr>
          </a:solidFill>
          <a:ln w="25400" cmpd="sng" cap="flat">
            <a:solidFill>
              <a:srgbClr val="26A69A">
                <a:alpha val="100000"/>
              </a:srgbClr>
            </a:solidFill>
            <a:prstDash val="solid"/>
            <a:round/>
            <a:headEnd type="none" w="lg" len="lg"/>
            <a:tailEnd type="none" w="lg" len="lg"/>
          </a:ln>
        </p:spPr>
      </p:cxnSp>
      <p:sp>
        <p:nvSpPr>
          <p:cNvPr name="AutoShape 5" id="5"/>
          <p:cNvSpPr/>
          <p:nvPr/>
        </p:nvSpPr>
        <p:spPr>
          <a:xfrm rot="0" flipH="false" flipV="false">
            <a:off x="762000" y="1905000"/>
            <a:ext cx="3429000" cy="3048000"/>
          </a:xfrm>
          <a:prstGeom prst="roundRect">
            <a:avLst>
              <a:gd name="adj" fmla="val 0"/>
            </a:avLst>
          </a:prstGeom>
          <a:solidFill>
            <a:srgbClr val="26A69A">
              <a:alpha val="1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095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 核心理论依据</a:t>
            </a:r>
            <a:endParaRPr lang="en-US" sz="1100"/>
          </a:p>
        </p:txBody>
      </p:sp>
      <p:cxnSp>
        <p:nvCxnSpPr>
          <p:cNvPr name="Connector 7" id="7"/>
          <p:cNvCxnSpPr/>
          <p:nvPr/>
        </p:nvCxnSpPr>
        <p:spPr>
          <a:xfrm rot="-14323" flipH="false" flipV="false">
            <a:off x="952513" y="2597150"/>
            <a:ext cx="3048000" cy="12700"/>
          </a:xfrm>
          <a:prstGeom prst="straightConnector1">
            <a:avLst/>
          </a:prstGeom>
          <a:solidFill>
            <a:srgbClr val="DEE0E3">
              <a:alpha val="100000"/>
            </a:srgbClr>
          </a:solidFill>
          <a:ln w="12700" cmpd="sng" cap="flat">
            <a:solidFill>
              <a:srgbClr val="26A69A">
                <a:alpha val="50000"/>
              </a:srgbClr>
            </a:solidFill>
            <a:prstDash val="dash"/>
            <a:round/>
            <a:headEnd type="none" w="med" len="med"/>
            <a:tailEnd type="none" w="med" len="med"/>
          </a:ln>
        </p:spPr>
      </p:cxnSp>
      <p:sp>
        <p:nvSpPr>
          <p:cNvPr name="AutoShape 8" id="8"/>
          <p:cNvSpPr/>
          <p:nvPr/>
        </p:nvSpPr>
        <p:spPr>
          <a:xfrm rot="0" flipH="false" flipV="false">
            <a:off x="952500" y="2794000"/>
            <a:ext cx="304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74F"/>
                </a:solidFill>
                <a:latin typeface="Noto Sans SC"/>
                <a:ea typeface="Noto Sans SC"/>
                <a:cs typeface="Noto Sans SC"/>
                <a:sym typeface="Noto Sans SC"/>
              </a:rPr>
              <a:t>对于n元齐次线性方程组，其有非零解的充要条件是：系数矩阵的秩小于未知数的个数。特别地，当系数矩阵为n阶方阵时，该条件等价于系数矩阵的行列式等于零。</a:t>
            </a:r>
            <a:endParaRPr lang="en-US" sz="1100"/>
          </a:p>
        </p:txBody>
      </p:sp>
      <p:sp>
        <p:nvSpPr>
          <p:cNvPr name="AutoShape 9" id="9"/>
          <p:cNvSpPr/>
          <p:nvPr/>
        </p:nvSpPr>
        <p:spPr>
          <a:xfrm rot="0" flipH="false" flipV="false">
            <a:off x="4445000" y="1905000"/>
            <a:ext cx="6985000" cy="3048000"/>
          </a:xfrm>
          <a:prstGeom prst="roundRect">
            <a:avLst>
              <a:gd name="adj" fmla="val 0"/>
            </a:avLst>
          </a:prstGeom>
          <a:solidFill>
            <a:srgbClr val="FFFFFF">
              <a:alpha val="70000"/>
            </a:srgbClr>
          </a:solidFill>
          <a:ln w="12700" cmpd="sng" cap="flat">
            <a:solidFill>
              <a:srgbClr val="37474F">
                <a:alpha val="15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2095500"/>
            <a:ext cx="660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02 / 逐步推导过程</a:t>
            </a:r>
            <a:endParaRPr lang="en-US" sz="1100"/>
          </a:p>
        </p:txBody>
      </p:sp>
      <p:cxnSp>
        <p:nvCxnSpPr>
          <p:cNvPr name="Connector 11" id="11"/>
          <p:cNvCxnSpPr/>
          <p:nvPr/>
        </p:nvCxnSpPr>
        <p:spPr>
          <a:xfrm rot="-6611" flipH="false" flipV="false">
            <a:off x="4635506" y="2597150"/>
            <a:ext cx="6604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2" id="12"/>
          <p:cNvSpPr/>
          <p:nvPr/>
        </p:nvSpPr>
        <p:spPr>
          <a:xfrm rot="0" flipH="false" flipV="false">
            <a:off x="4635500" y="2794000"/>
            <a:ext cx="3175000" cy="1079500"/>
          </a:xfrm>
          <a:prstGeom prst="roundRect">
            <a:avLst>
              <a:gd name="adj" fmla="val 0"/>
            </a:avLst>
          </a:prstGeom>
          <a:solidFill>
            <a:srgbClr val="37474F">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762500" y="2857500"/>
            <a:ext cx="2921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Step 1. 构建系数矩阵</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46E7A"/>
                </a:solidFill>
                <a:latin typeface="Noto Sans SC"/>
                <a:ea typeface="Noto Sans SC"/>
                <a:cs typeface="Noto Sans SC"/>
                <a:sym typeface="Noto Sans SC"/>
              </a:rPr>
              <a:t>根据方程组写出系数矩阵：A = [[λ, 1], [1, λ]]，明确矩阵元素与参数λ的关系。</a:t>
            </a:r>
          </a:p>
        </p:txBody>
      </p:sp>
      <p:sp>
        <p:nvSpPr>
          <p:cNvPr name="AutoShape 14" id="14"/>
          <p:cNvSpPr/>
          <p:nvPr/>
        </p:nvSpPr>
        <p:spPr>
          <a:xfrm rot="0" flipH="false" flipV="false">
            <a:off x="8001000" y="2794000"/>
            <a:ext cx="3238500" cy="1079500"/>
          </a:xfrm>
          <a:prstGeom prst="roundRect">
            <a:avLst>
              <a:gd name="adj" fmla="val 0"/>
            </a:avLst>
          </a:prstGeom>
          <a:solidFill>
            <a:srgbClr val="37474F">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2857500"/>
            <a:ext cx="2984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Step 2. 计算行列式值</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46E7A"/>
                </a:solidFill>
                <a:latin typeface="Noto Sans SC"/>
                <a:ea typeface="Noto Sans SC"/>
                <a:cs typeface="Noto Sans SC"/>
                <a:sym typeface="Noto Sans SC"/>
              </a:rPr>
              <a:t>二阶行列式 |A| = λ·λ - 1·1 = λ² - 1，完成行列式的代数运算。</a:t>
            </a:r>
          </a:p>
        </p:txBody>
      </p:sp>
      <p:sp>
        <p:nvSpPr>
          <p:cNvPr name="AutoShape 16" id="16"/>
          <p:cNvSpPr/>
          <p:nvPr/>
        </p:nvSpPr>
        <p:spPr>
          <a:xfrm rot="0" flipH="false" flipV="false">
            <a:off x="4635500" y="4000500"/>
            <a:ext cx="3175000" cy="889000"/>
          </a:xfrm>
          <a:prstGeom prst="roundRect">
            <a:avLst>
              <a:gd name="adj" fmla="val 0"/>
            </a:avLst>
          </a:prstGeom>
          <a:solidFill>
            <a:srgbClr val="37474F">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762500" y="4064000"/>
            <a:ext cx="292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Step 3. 建立求解方程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46E7A"/>
                </a:solidFill>
                <a:latin typeface="Noto Sans SC"/>
                <a:ea typeface="Noto Sans SC"/>
                <a:cs typeface="Noto Sans SC"/>
                <a:sym typeface="Noto Sans SC"/>
              </a:rPr>
              <a:t>令行列式为零：λ² - 1 = 0，转化为一元二次方程求解问题。</a:t>
            </a:r>
          </a:p>
        </p:txBody>
      </p:sp>
      <p:sp>
        <p:nvSpPr>
          <p:cNvPr name="AutoShape 18" id="18"/>
          <p:cNvSpPr/>
          <p:nvPr/>
        </p:nvSpPr>
        <p:spPr>
          <a:xfrm rot="0" flipH="false" flipV="false">
            <a:off x="8001000" y="4000500"/>
            <a:ext cx="3238500" cy="889000"/>
          </a:xfrm>
          <a:prstGeom prst="roundRect">
            <a:avLst>
              <a:gd name="adj" fmla="val 0"/>
            </a:avLst>
          </a:prstGeom>
          <a:solidFill>
            <a:srgbClr val="37474F">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128000" y="4064000"/>
            <a:ext cx="2984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Step 4. 解出参数值</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46E7A"/>
                </a:solidFill>
                <a:latin typeface="Noto Sans SC"/>
                <a:ea typeface="Noto Sans SC"/>
                <a:cs typeface="Noto Sans SC"/>
                <a:sym typeface="Noto Sans SC"/>
              </a:rPr>
              <a:t>通过因式分解 (λ-1)(λ+1)=0，得到方程的两个根。</a:t>
            </a:r>
          </a:p>
        </p:txBody>
      </p:sp>
      <p:sp>
        <p:nvSpPr>
          <p:cNvPr name="AutoShape 20" id="20"/>
          <p:cNvSpPr/>
          <p:nvPr/>
        </p:nvSpPr>
        <p:spPr>
          <a:xfrm rot="0" flipH="false" flipV="false">
            <a:off x="762000" y="5334000"/>
            <a:ext cx="10668000" cy="1016000"/>
          </a:xfrm>
          <a:prstGeom prst="roundRect">
            <a:avLst>
              <a:gd name="adj" fmla="val 0"/>
            </a:avLst>
          </a:prstGeom>
          <a:solidFill>
            <a:srgbClr val="26A69A">
              <a:alpha val="15000"/>
            </a:srgbClr>
          </a:solidFill>
          <a:ln cmpd="sng" cap="flat">
            <a:solidFill>
              <a:srgbClr val="128C81">
                <a:alpha val="1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5334000"/>
            <a:ext cx="76200" cy="1016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1079500" y="5524500"/>
            <a:ext cx="317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最终结论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546E7A"/>
                </a:solidFill>
                <a:latin typeface="Noto Sans SC"/>
                <a:ea typeface="Noto Sans SC"/>
                <a:cs typeface="Noto Sans SC"/>
                <a:sym typeface="Noto Sans SC"/>
              </a:rPr>
              <a:t>满足条件的参数取值为：</a:t>
            </a:r>
          </a:p>
        </p:txBody>
      </p:sp>
      <p:cxnSp>
        <p:nvCxnSpPr>
          <p:cNvPr name="Connector 23" id="23"/>
          <p:cNvCxnSpPr/>
          <p:nvPr/>
        </p:nvCxnSpPr>
        <p:spPr>
          <a:xfrm rot="5331254" flipH="false" flipV="false">
            <a:off x="4127500" y="5835713"/>
            <a:ext cx="635000" cy="12700"/>
          </a:xfrm>
          <a:prstGeom prst="straightConnector1">
            <a:avLst/>
          </a:prstGeom>
          <a:solidFill>
            <a:srgbClr val="DEE0E3">
              <a:alpha val="100000"/>
            </a:srgbClr>
          </a:solidFill>
          <a:ln w="12700" cmpd="sng" cap="flat">
            <a:solidFill>
              <a:srgbClr val="37474F">
                <a:alpha val="20000"/>
              </a:srgbClr>
            </a:solidFill>
            <a:prstDash val="solid"/>
            <a:round/>
            <a:headEnd type="none" w="med" len="med"/>
            <a:tailEnd type="none" w="med" len="med"/>
          </a:ln>
        </p:spPr>
      </p:cxnSp>
      <p:sp>
        <p:nvSpPr>
          <p:cNvPr name="AutoShape 24" id="24"/>
          <p:cNvSpPr/>
          <p:nvPr/>
        </p:nvSpPr>
        <p:spPr>
          <a:xfrm rot="0" flipH="false" flipV="false">
            <a:off x="4699000" y="5461000"/>
            <a:ext cx="647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6A69A"/>
                </a:solidFill>
                <a:latin typeface="Noto Sans SC"/>
                <a:ea typeface="Noto Sans SC"/>
                <a:cs typeface="Noto Sans SC"/>
                <a:sym typeface="Noto Sans SC"/>
              </a:rPr>
              <a:t>λ = 1 或 λ = -1</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5：二次型标准型</a:t>
            </a:r>
            <a:endParaRPr lang="en-US" sz="1100"/>
          </a:p>
        </p:txBody>
      </p:sp>
      <p:sp>
        <p:nvSpPr>
          <p:cNvPr name="AutoShape 4" id="4"/>
          <p:cNvSpPr/>
          <p:nvPr/>
        </p:nvSpPr>
        <p:spPr>
          <a:xfrm rot="0" flipH="false" flipV="false">
            <a:off x="762000" y="1778000"/>
            <a:ext cx="10668000" cy="1397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1397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05000"/>
            <a:ext cx="1003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74F"/>
                </a:solidFill>
                <a:latin typeface="Noto Sans SC"/>
                <a:ea typeface="Noto Sans SC"/>
                <a:cs typeface="Noto Sans SC"/>
                <a:sym typeface="Noto Sans SC"/>
              </a:rPr>
              <a:t>已知实二次型 \( f(x_1,x_2,x_3) = k(x_1^2+x_2^2+x_3^2) + 4x_1x_2 + 4x_1x_3 + 4x_2x_3 \) 经过正交变换 \( x = Py \) 可化成标准型 \( f = k^2y_2^2 + 2y_3^2 \)，求参数 \( k \) 的值。</a:t>
            </a:r>
            <a:endParaRPr lang="en-US" sz="1100"/>
          </a:p>
        </p:txBody>
      </p:sp>
      <p:sp>
        <p:nvSpPr>
          <p:cNvPr name="AutoShape 7" id="7"/>
          <p:cNvSpPr/>
          <p:nvPr/>
        </p:nvSpPr>
        <p:spPr>
          <a:xfrm rot="0" flipH="false" flipV="false">
            <a:off x="762000" y="3556000"/>
            <a:ext cx="5207000" cy="2540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anchorCtr="false" vert="horz" wrap="square" lIns="0" rIns="0" tIns="0" bIns="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746500"/>
            <a:ext cx="355600" cy="355600"/>
          </a:xfrm>
          <a:prstGeom prst="rect">
            <a:avLst/>
          </a:prstGeom>
        </p:spPr>
      </p:pic>
      <p:sp>
        <p:nvSpPr>
          <p:cNvPr name="AutoShape 9" id="9"/>
          <p:cNvSpPr/>
          <p:nvPr/>
        </p:nvSpPr>
        <p:spPr>
          <a:xfrm rot="0" flipH="false" flipV="false">
            <a:off x="1397000" y="37084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核心解题思路</a:t>
            </a:r>
            <a:endParaRPr lang="en-US" sz="1100"/>
          </a:p>
        </p:txBody>
      </p:sp>
      <p:cxnSp>
        <p:nvCxnSpPr>
          <p:cNvPr name="Connector 10" id="10"/>
          <p:cNvCxnSpPr/>
          <p:nvPr/>
        </p:nvCxnSpPr>
        <p:spPr>
          <a:xfrm rot="-9046" flipH="false" flipV="false">
            <a:off x="952508" y="4248150"/>
            <a:ext cx="4826000" cy="12700"/>
          </a:xfrm>
          <a:prstGeom prst="straightConnector1">
            <a:avLst/>
          </a:prstGeom>
          <a:solidFill>
            <a:srgbClr val="DEE0E3">
              <a:alpha val="100000"/>
            </a:srgbClr>
          </a:solidFill>
          <a:ln w="12700" cmpd="sng" cap="flat">
            <a:solidFill>
              <a:srgbClr val="26A69A">
                <a:alpha val="20000"/>
              </a:srgbClr>
            </a:solidFill>
            <a:prstDash val="solid"/>
            <a:round/>
            <a:headEnd type="none" w="med" len="med"/>
            <a:tailEnd type="none" w="med" len="med"/>
          </a:ln>
        </p:spPr>
      </p:cxnSp>
      <p:sp>
        <p:nvSpPr>
          <p:cNvPr name="AutoShape 11" id="11"/>
          <p:cNvSpPr/>
          <p:nvPr/>
        </p:nvSpPr>
        <p:spPr>
          <a:xfrm rot="0" flipH="false" flipV="false">
            <a:off x="952500" y="4381500"/>
            <a:ext cx="4826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55A64"/>
                </a:solidFill>
                <a:latin typeface="Noto Sans SC"/>
                <a:ea typeface="Noto Sans SC"/>
                <a:cs typeface="Noto Sans SC"/>
                <a:sym typeface="Noto Sans SC"/>
              </a:rPr>
              <a:t>二次型的矩阵为：</a:t>
            </a:r>
            <a:r>
              <a:rPr lang="en-US" b="false" i="false" strike="noStrike" u="none" sz="1400">
                <a:solidFill>
                  <a:srgbClr val="455A64"/>
                </a:solidFill>
                <a:latin typeface="Noto Sans SC"/>
                <a:ea typeface="Noto Sans SC"/>
                <a:cs typeface="Noto Sans SC"/>
                <a:sym typeface="Noto Sans SC"/>
              </a:rPr>
              <a:t/>
            </a:r>
            <a:endParaRPr lang="en-US" sz="1100"/>
          </a:p>
          <a:p>
            <a:pPr algn="ctr" marL="0" indent="0">
              <a:lnSpc>
                <a:spcPct val="108333"/>
              </a:lnSpc>
            </a:pPr>
            <a:r>
              <a:rPr lang="en-US" b="false" i="false" strike="noStrike" u="none" sz="1400">
                <a:solidFill>
                  <a:srgbClr val="455A64"/>
                </a:solidFill>
                <a:latin typeface="Noto Sans SC"/>
                <a:ea typeface="Noto Sans SC"/>
                <a:cs typeface="Noto Sans SC"/>
                <a:sym typeface="Noto Sans SC"/>
              </a:rPr>
              <a:t>A = ⎛ k 2 2 ⎞</a:t>
            </a:r>
            <a:r>
              <a:rPr lang="en-US" b="false" i="false" strike="noStrike" u="none" sz="1400">
                <a:solidFill>
                  <a:srgbClr val="455A64"/>
                </a:solidFill>
                <a:latin typeface="Noto Sans SC"/>
                <a:ea typeface="Noto Sans SC"/>
                <a:cs typeface="Noto Sans SC"/>
                <a:sym typeface="Noto Sans SC"/>
              </a:rPr>
              <a:t/>
            </a:r>
          </a:p>
          <a:p>
            <a:pPr algn="ctr" marL="0" indent="0">
              <a:lnSpc>
                <a:spcPct val="108333"/>
              </a:lnSpc>
            </a:pPr>
            <a:r>
              <a:rPr lang="en-US" b="false" i="false" strike="noStrike" u="none" sz="1400">
                <a:solidFill>
                  <a:srgbClr val="455A64"/>
                </a:solidFill>
                <a:latin typeface="Noto Sans SC"/>
                <a:ea typeface="Noto Sans SC"/>
                <a:cs typeface="Noto Sans SC"/>
                <a:sym typeface="Noto Sans SC"/>
              </a:rPr>
              <a:t>⎜ 2 k 2 ⎟</a:t>
            </a:r>
            <a:r>
              <a:rPr lang="en-US" b="false" i="false" strike="noStrike" u="none" sz="1400">
                <a:solidFill>
                  <a:srgbClr val="455A64"/>
                </a:solidFill>
                <a:latin typeface="Noto Sans SC"/>
                <a:ea typeface="Noto Sans SC"/>
                <a:cs typeface="Noto Sans SC"/>
                <a:sym typeface="Noto Sans SC"/>
              </a:rPr>
              <a:t/>
            </a:r>
          </a:p>
          <a:p>
            <a:pPr algn="ctr" marL="0" indent="0">
              <a:lnSpc>
                <a:spcPct val="108333"/>
              </a:lnSpc>
            </a:pPr>
            <a:r>
              <a:rPr lang="en-US" b="false" i="false" strike="noStrike" u="none" sz="1400">
                <a:solidFill>
                  <a:srgbClr val="455A64"/>
                </a:solidFill>
                <a:latin typeface="Noto Sans SC"/>
                <a:ea typeface="Noto Sans SC"/>
                <a:cs typeface="Noto Sans SC"/>
                <a:sym typeface="Noto Sans SC"/>
              </a:rPr>
              <a:t>⎝ 2 2 k ⎠</a:t>
            </a:r>
            <a:r>
              <a:rPr lang="en-US" b="false" i="false" strike="noStrike" u="none" sz="1400">
                <a:solidFill>
                  <a:srgbClr val="455A64"/>
                </a:solidFill>
                <a:latin typeface="Noto Sans SC"/>
                <a:ea typeface="Noto Sans SC"/>
                <a:cs typeface="Noto Sans SC"/>
                <a:sym typeface="Noto Sans SC"/>
              </a:rPr>
              <a:t/>
            </a:r>
          </a:p>
          <a:p>
            <a:pPr algn="l" marL="0" indent="0">
              <a:lnSpc>
                <a:spcPct val="108333"/>
              </a:lnSpc>
            </a:pPr>
            <a:r>
              <a:rPr lang="en-US" b="false" i="false" strike="noStrike" u="none" sz="1400">
                <a:solidFill>
                  <a:srgbClr val="455A64"/>
                </a:solidFill>
                <a:latin typeface="Noto Sans SC"/>
                <a:ea typeface="Noto Sans SC"/>
                <a:cs typeface="Noto Sans SC"/>
                <a:sym typeface="Noto Sans SC"/>
              </a:rPr>
              <a:t>标准型系数为其特征值。利用迹与行列式性质（迹=特征值和，行列式=特征值积）建立方程求解k。</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5：解题思路</a:t>
            </a:r>
            <a:endParaRPr lang="en-US" sz="1100"/>
          </a:p>
        </p:txBody>
      </p:sp>
      <p:sp>
        <p:nvSpPr>
          <p:cNvPr name="AutoShape 4" id="4"/>
          <p:cNvSpPr/>
          <p:nvPr/>
        </p:nvSpPr>
        <p:spPr>
          <a:xfrm rot="0" flipH="false" flipV="false">
            <a:off x="762000" y="1524000"/>
            <a:ext cx="10668000" cy="1143000"/>
          </a:xfrm>
          <a:prstGeom prst="roundRect">
            <a:avLst>
              <a:gd name="adj" fmla="val 0"/>
            </a:avLst>
          </a:prstGeom>
          <a:solidFill>
            <a:srgbClr val="26A69A">
              <a:alpha val="1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1143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651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37474F"/>
                </a:solidFill>
                <a:latin typeface="Noto Sans SC"/>
                <a:ea typeface="Noto Sans SC"/>
                <a:cs typeface="Noto Sans SC"/>
                <a:sym typeface="Noto Sans SC"/>
              </a:rPr>
              <a:t>解题关键在于利用二次型标准型系数即矩阵特征值的性质：</a:t>
            </a:r>
            <a:r>
              <a:rPr lang="en-US" b="true" i="false" strike="noStrike" u="none" sz="1500">
                <a:solidFill>
                  <a:srgbClr val="37474F"/>
                </a:solidFill>
                <a:latin typeface="Noto Sans SC"/>
                <a:ea typeface="Noto Sans SC"/>
                <a:cs typeface="Noto Sans SC"/>
                <a:sym typeface="Noto Sans SC"/>
              </a:rPr>
              <a:t>矩阵的迹（主对角线元素之和）等于所有特征值之和，矩阵的行列式等于所有特征值之积。</a:t>
            </a:r>
            <a:r>
              <a:rPr lang="en-US" b="false" i="false" strike="noStrike" u="none" sz="1500">
                <a:solidFill>
                  <a:srgbClr val="37474F"/>
                </a:solidFill>
                <a:latin typeface="Noto Sans SC"/>
                <a:ea typeface="Noto Sans SC"/>
                <a:cs typeface="Noto Sans SC"/>
                <a:sym typeface="Noto Sans SC"/>
              </a:rPr>
              <a:t>通过建立关于参数k的方程，联立求解即可得到结果。</a:t>
            </a:r>
            <a:endParaRPr lang="en-US" sz="1100"/>
          </a:p>
        </p:txBody>
      </p:sp>
      <p:sp>
        <p:nvSpPr>
          <p:cNvPr name="AutoShape 7" id="7"/>
          <p:cNvSpPr/>
          <p:nvPr/>
        </p:nvSpPr>
        <p:spPr>
          <a:xfrm rot="0" flipH="false" flipV="false">
            <a:off x="762000" y="3048000"/>
            <a:ext cx="5207000" cy="2095500"/>
          </a:xfrm>
          <a:prstGeom prst="roundRect">
            <a:avLst>
              <a:gd name="adj" fmla="val 0"/>
            </a:avLst>
          </a:prstGeom>
          <a:solidFill>
            <a:srgbClr val="FFFFFF">
              <a:alpha val="65000"/>
            </a:srgbClr>
          </a:solidFill>
          <a:ln w="12700" cmpd="sng" cap="flat">
            <a:solidFill>
              <a:srgbClr val="37474F">
                <a:alpha val="15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1750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01. 构建矩阵与迹的约束</a:t>
            </a:r>
            <a:endParaRPr lang="en-US" sz="1100"/>
          </a:p>
        </p:txBody>
      </p:sp>
      <p:cxnSp>
        <p:nvCxnSpPr>
          <p:cNvPr name="Connector 9" id="9"/>
          <p:cNvCxnSpPr/>
          <p:nvPr/>
        </p:nvCxnSpPr>
        <p:spPr>
          <a:xfrm rot="-9046" flipH="false" flipV="false">
            <a:off x="952508" y="3613150"/>
            <a:ext cx="48260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10" id="10"/>
          <p:cNvSpPr/>
          <p:nvPr/>
        </p:nvSpPr>
        <p:spPr>
          <a:xfrm rot="0" flipH="false" flipV="false">
            <a:off x="952500" y="37465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74F"/>
                </a:solidFill>
                <a:latin typeface="Noto Sans SC"/>
                <a:ea typeface="Noto Sans SC"/>
                <a:cs typeface="Noto Sans SC"/>
                <a:sym typeface="Noto Sans SC"/>
              </a:rPr>
              <a:t>写出二次型矩阵 A = [[k,2,2],[2,k,2],[2,2,k]]，由标准型得特征值 λ₁=0, λ₂=k², λ₃=2。利用迹相等：tr(A)=3k = 0 + k² + 2，整理得方程 k² - 3k + 2 = 0，解得</a:t>
            </a:r>
            <a:r>
              <a:rPr lang="en-US" b="true" i="false" strike="noStrike" u="none" sz="1400">
                <a:solidFill>
                  <a:srgbClr val="37474F"/>
                </a:solidFill>
                <a:latin typeface="Noto Sans SC"/>
                <a:ea typeface="Noto Sans SC"/>
                <a:cs typeface="Noto Sans SC"/>
                <a:sym typeface="Noto Sans SC"/>
              </a:rPr>
              <a:t>k=1 或 k=2</a:t>
            </a:r>
            <a:r>
              <a:rPr lang="en-US" b="false" i="false" strike="noStrike" u="none" sz="1400">
                <a:solidFill>
                  <a:srgbClr val="37474F"/>
                </a:solidFill>
                <a:latin typeface="Noto Sans SC"/>
                <a:ea typeface="Noto Sans SC"/>
                <a:cs typeface="Noto Sans SC"/>
                <a:sym typeface="Noto Sans SC"/>
              </a:rPr>
              <a:t>。</a:t>
            </a:r>
            <a:endParaRPr lang="en-US" sz="1100"/>
          </a:p>
        </p:txBody>
      </p:sp>
      <p:sp>
        <p:nvSpPr>
          <p:cNvPr name="AutoShape 11" id="11"/>
          <p:cNvSpPr/>
          <p:nvPr/>
        </p:nvSpPr>
        <p:spPr>
          <a:xfrm rot="0" flipH="false" flipV="false">
            <a:off x="6223000" y="3048000"/>
            <a:ext cx="5207000" cy="2095500"/>
          </a:xfrm>
          <a:prstGeom prst="roundRect">
            <a:avLst>
              <a:gd name="adj" fmla="val 0"/>
            </a:avLst>
          </a:prstGeom>
          <a:solidFill>
            <a:srgbClr val="FFFFFF">
              <a:alpha val="65000"/>
            </a:srgbClr>
          </a:solidFill>
          <a:ln w="12700" cmpd="sng" cap="flat">
            <a:solidFill>
              <a:srgbClr val="37474F">
                <a:alpha val="15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13500" y="31750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02. 行列式约束与结果验证</a:t>
            </a:r>
            <a:endParaRPr lang="en-US" sz="1100"/>
          </a:p>
        </p:txBody>
      </p:sp>
      <p:cxnSp>
        <p:nvCxnSpPr>
          <p:cNvPr name="Connector 13" id="13"/>
          <p:cNvCxnSpPr/>
          <p:nvPr/>
        </p:nvCxnSpPr>
        <p:spPr>
          <a:xfrm rot="-9046" flipH="false" flipV="false">
            <a:off x="6413508" y="3613150"/>
            <a:ext cx="48260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14" id="14"/>
          <p:cNvSpPr/>
          <p:nvPr/>
        </p:nvSpPr>
        <p:spPr>
          <a:xfrm rot="0" flipH="false" flipV="false">
            <a:off x="6413500" y="37465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74F"/>
                </a:solidFill>
                <a:latin typeface="Noto Sans SC"/>
                <a:ea typeface="Noto Sans SC"/>
                <a:cs typeface="Noto Sans SC"/>
                <a:sym typeface="Noto Sans SC"/>
              </a:rPr>
              <a:t>计算行列式 |A|=(k+4)(k-2)²，由特征值之积为0得 |A|=0，解得</a:t>
            </a:r>
            <a:r>
              <a:rPr lang="en-US" b="true" i="false" strike="noStrike" u="none" sz="1400">
                <a:solidFill>
                  <a:srgbClr val="37474F"/>
                </a:solidFill>
                <a:latin typeface="Noto Sans SC"/>
                <a:ea typeface="Noto Sans SC"/>
                <a:cs typeface="Noto Sans SC"/>
                <a:sym typeface="Noto Sans SC"/>
              </a:rPr>
              <a:t>k=-4 或 k=2</a:t>
            </a:r>
            <a:r>
              <a:rPr lang="en-US" b="false" i="false" strike="noStrike" u="none" sz="1400">
                <a:solidFill>
                  <a:srgbClr val="37474F"/>
                </a:solidFill>
                <a:latin typeface="Noto Sans SC"/>
                <a:ea typeface="Noto Sans SC"/>
                <a:cs typeface="Noto Sans SC"/>
                <a:sym typeface="Noto Sans SC"/>
              </a:rPr>
              <a:t>。综合迹与行列式的公共解，k必须同时满足两个条件，因此排除其他值。</a:t>
            </a:r>
            <a:endParaRPr lang="en-US" sz="1100"/>
          </a:p>
        </p:txBody>
      </p:sp>
      <p:sp>
        <p:nvSpPr>
          <p:cNvPr name="AutoShape 15" id="15"/>
          <p:cNvSpPr/>
          <p:nvPr/>
        </p:nvSpPr>
        <p:spPr>
          <a:xfrm rot="0" flipH="false" flipV="false">
            <a:off x="762000" y="5461000"/>
            <a:ext cx="10668000" cy="1016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651500"/>
            <a:ext cx="609600" cy="609600"/>
          </a:xfrm>
          <a:prstGeom prst="rect">
            <a:avLst/>
          </a:prstGeom>
        </p:spPr>
      </p:pic>
      <p:sp>
        <p:nvSpPr>
          <p:cNvPr name="AutoShape 17" id="17"/>
          <p:cNvSpPr/>
          <p:nvPr/>
        </p:nvSpPr>
        <p:spPr>
          <a:xfrm rot="0" flipH="false" flipV="false">
            <a:off x="1905000" y="5588000"/>
            <a:ext cx="863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37474F"/>
                </a:solidFill>
                <a:latin typeface="Noto Sans SC"/>
                <a:ea typeface="Noto Sans SC"/>
                <a:cs typeface="Noto Sans SC"/>
                <a:sym typeface="Noto Sans SC"/>
              </a:rPr>
              <a:t>联立迹与行列式的求解结果，参数 k 的唯一公共解为：</a:t>
            </a:r>
            <a:r>
              <a:rPr lang="en-US" b="true" i="false" strike="noStrike" u="none" sz="2400">
                <a:solidFill>
                  <a:srgbClr val="26A69A"/>
                </a:solidFill>
                <a:latin typeface="Noto Sans SC"/>
                <a:ea typeface="Noto Sans SC"/>
                <a:cs typeface="Noto Sans SC"/>
                <a:sym typeface="Noto Sans SC"/>
              </a:rPr>
              <a:t>k = 2</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6：非齐次线性方程组通解</a:t>
            </a:r>
            <a:endParaRPr lang="en-US" sz="1100"/>
          </a:p>
        </p:txBody>
      </p:sp>
      <p:sp>
        <p:nvSpPr>
          <p:cNvPr name="AutoShape 4" id="4"/>
          <p:cNvSpPr/>
          <p:nvPr/>
        </p:nvSpPr>
        <p:spPr>
          <a:xfrm rot="0" flipH="false" flipV="false">
            <a:off x="762000" y="1397000"/>
            <a:ext cx="10668000" cy="25400"/>
          </a:xfrm>
          <a:prstGeom prst="roundRect">
            <a:avLst>
              <a:gd name="adj" fmla="val 0"/>
            </a:avLst>
          </a:prstGeom>
          <a:solidFill>
            <a:srgbClr val="26A69A">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10668000" cy="2413000"/>
          </a:xfrm>
          <a:prstGeom prst="roundRect">
            <a:avLst>
              <a:gd name="adj" fmla="val 0"/>
            </a:avLst>
          </a:prstGeom>
          <a:solidFill>
            <a:srgbClr val="FFFFFF">
              <a:alpha val="6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95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01 / 求解目标：五元非齐次线性方程组</a:t>
            </a:r>
            <a:endParaRPr lang="en-US" sz="1100"/>
          </a:p>
        </p:txBody>
      </p:sp>
      <p:cxnSp>
        <p:nvCxnSpPr>
          <p:cNvPr name="Connector 7" id="7"/>
          <p:cNvCxnSpPr/>
          <p:nvPr/>
        </p:nvCxnSpPr>
        <p:spPr>
          <a:xfrm rot="-4297" flipH="false" flipV="false">
            <a:off x="1016004" y="2660650"/>
            <a:ext cx="10160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8" id="8"/>
          <p:cNvSpPr/>
          <p:nvPr/>
        </p:nvSpPr>
        <p:spPr>
          <a:xfrm rot="0" flipH="false" flipV="false">
            <a:off x="1016000" y="2857500"/>
            <a:ext cx="10160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37474F"/>
                </a:solidFill>
                <a:latin typeface="Noto Sans SC"/>
                <a:ea typeface="Noto Sans SC"/>
                <a:cs typeface="Noto Sans SC"/>
                <a:sym typeface="Noto Sans SC"/>
              </a:rPr>
              <a:t>给定线性方程组：   x₁ + x₂ + x₃ + x₄ + x₅ = 1      3x₁ + 2x₂ + x₃ + x₄ - 3x₅ = 6</a:t>
            </a:r>
            <a:r>
              <a:rPr lang="en-US" b="false" i="false" strike="noStrike" u="none" sz="1600">
                <a:solidFill>
                  <a:srgbClr val="37474F"/>
                </a:solidFill>
                <a:latin typeface="Noto Sans SC"/>
                <a:ea typeface="Noto Sans SC"/>
                <a:cs typeface="Noto Sans SC"/>
                <a:sym typeface="Noto Sans SC"/>
              </a:rPr>
              <a:t/>
            </a:r>
            <a:endParaRPr lang="en-US" sz="1100"/>
          </a:p>
          <a:p>
            <a:pPr algn="l" marL="0" indent="0">
              <a:lnSpc>
                <a:spcPct val="125000"/>
              </a:lnSpc>
            </a:pPr>
            <a:r>
              <a:rPr lang="en-US" b="false" i="false" strike="noStrike" u="none" sz="1600">
                <a:solidFill>
                  <a:srgbClr val="37474F"/>
                </a:solidFill>
                <a:latin typeface="Noto Sans SC"/>
                <a:ea typeface="Noto Sans SC"/>
                <a:cs typeface="Noto Sans SC"/>
                <a:sym typeface="Noto Sans SC"/>
              </a:rPr>
              <a:t>x₂ + 2x₃ + 2x₄ + 6x₅ = -3     5x₁ + 4x₂ + 3x₃ + 3x₄ - x₅ = 8</a:t>
            </a:r>
          </a:p>
        </p:txBody>
      </p:sp>
      <p:sp>
        <p:nvSpPr>
          <p:cNvPr name="AutoShape 9" id="9"/>
          <p:cNvSpPr/>
          <p:nvPr/>
        </p:nvSpPr>
        <p:spPr>
          <a:xfrm rot="0" flipH="false" flipV="false">
            <a:off x="762000" y="4572000"/>
            <a:ext cx="5207000" cy="17780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4572000"/>
            <a:ext cx="76200" cy="1778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79500" y="4762500"/>
            <a:ext cx="406400" cy="406400"/>
          </a:xfrm>
          <a:prstGeom prst="rect">
            <a:avLst/>
          </a:prstGeom>
        </p:spPr>
      </p:pic>
      <p:sp>
        <p:nvSpPr>
          <p:cNvPr name="AutoShape 12" id="12"/>
          <p:cNvSpPr/>
          <p:nvPr/>
        </p:nvSpPr>
        <p:spPr>
          <a:xfrm rot="0" flipH="false" flipV="false">
            <a:off x="1651000" y="47625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核心方法：矩阵初等行变换</a:t>
            </a:r>
            <a:endParaRPr lang="en-US" sz="1100"/>
          </a:p>
        </p:txBody>
      </p:sp>
      <p:sp>
        <p:nvSpPr>
          <p:cNvPr name="AutoShape 13" id="13"/>
          <p:cNvSpPr/>
          <p:nvPr/>
        </p:nvSpPr>
        <p:spPr>
          <a:xfrm rot="0" flipH="false" flipV="false">
            <a:off x="1079500" y="53340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46E7A"/>
                </a:solidFill>
                <a:latin typeface="Noto Sans SC"/>
                <a:ea typeface="Noto Sans SC"/>
                <a:cs typeface="Noto Sans SC"/>
                <a:sym typeface="Noto Sans SC"/>
              </a:rPr>
              <a:t>构建增广矩阵 [A | b]，通过行初等变换将其化为行阶梯形或行最简形，以此判断方程组的解的存在性并求解。</a:t>
            </a:r>
            <a:endParaRPr lang="en-US" sz="1100"/>
          </a:p>
        </p:txBody>
      </p:sp>
      <p:sp>
        <p:nvSpPr>
          <p:cNvPr name="AutoShape 14" id="14"/>
          <p:cNvSpPr/>
          <p:nvPr/>
        </p:nvSpPr>
        <p:spPr>
          <a:xfrm rot="0" flipH="false" flipV="false">
            <a:off x="6223000" y="4572000"/>
            <a:ext cx="5207000" cy="17780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23000" y="4572000"/>
            <a:ext cx="76200" cy="1778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4762500"/>
            <a:ext cx="406400" cy="406400"/>
          </a:xfrm>
          <a:prstGeom prst="rect">
            <a:avLst/>
          </a:prstGeom>
        </p:spPr>
      </p:pic>
      <p:sp>
        <p:nvSpPr>
          <p:cNvPr name="AutoShape 17" id="17"/>
          <p:cNvSpPr/>
          <p:nvPr/>
        </p:nvSpPr>
        <p:spPr>
          <a:xfrm rot="0" flipH="false" flipV="false">
            <a:off x="7112000" y="47625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通解结构：特解 + 基础解系</a:t>
            </a:r>
            <a:endParaRPr lang="en-US" sz="1100"/>
          </a:p>
        </p:txBody>
      </p:sp>
      <p:sp>
        <p:nvSpPr>
          <p:cNvPr name="AutoShape 18" id="18"/>
          <p:cNvSpPr/>
          <p:nvPr/>
        </p:nvSpPr>
        <p:spPr>
          <a:xfrm rot="0" flipH="false" flipV="false">
            <a:off x="6540500" y="53340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46E7A"/>
                </a:solidFill>
                <a:latin typeface="Noto Sans SC"/>
                <a:ea typeface="Noto Sans SC"/>
                <a:cs typeface="Noto Sans SC"/>
                <a:sym typeface="Noto Sans SC"/>
              </a:rPr>
              <a:t>非齐次线性方程组的通解由其对应的齐次线性方程组的通解（基础解系的线性组合）加上非齐次的一个特解构成。</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6：解题思路</a:t>
            </a:r>
            <a:endParaRPr lang="en-US" sz="1100"/>
          </a:p>
        </p:txBody>
      </p:sp>
      <p:sp>
        <p:nvSpPr>
          <p:cNvPr name="AutoShape 4" id="4"/>
          <p:cNvSpPr/>
          <p:nvPr/>
        </p:nvSpPr>
        <p:spPr>
          <a:xfrm rot="0" flipH="false" flipV="false">
            <a:off x="762000" y="1333500"/>
            <a:ext cx="10668000" cy="8255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33500"/>
            <a:ext cx="76200" cy="825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4224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500">
                <a:solidFill>
                  <a:srgbClr val="37474F"/>
                </a:solidFill>
                <a:latin typeface="Noto Sans SC"/>
                <a:ea typeface="Noto Sans SC"/>
                <a:cs typeface="Noto Sans SC"/>
                <a:sym typeface="Noto Sans SC"/>
              </a:rPr>
              <a:t>利用增广矩阵的初等行变换将其化为行最简形，确定自由变量，进而求出非齐次方程组的特解与对应齐次方程组的基础解系，最终组合得到通解。</a:t>
            </a:r>
            <a:endParaRPr lang="en-US" sz="1100"/>
          </a:p>
        </p:txBody>
      </p:sp>
      <p:sp>
        <p:nvSpPr>
          <p:cNvPr name="AutoShape 7" id="7"/>
          <p:cNvSpPr/>
          <p:nvPr/>
        </p:nvSpPr>
        <p:spPr>
          <a:xfrm rot="0" flipH="false" flipV="false">
            <a:off x="762000" y="2540000"/>
            <a:ext cx="5270500" cy="17145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540000"/>
            <a:ext cx="52705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730500"/>
            <a:ext cx="304800" cy="304800"/>
          </a:xfrm>
          <a:prstGeom prst="rect">
            <a:avLst/>
          </a:prstGeom>
        </p:spPr>
      </p:pic>
      <p:sp>
        <p:nvSpPr>
          <p:cNvPr name="AutoShape 10" id="10"/>
          <p:cNvSpPr/>
          <p:nvPr/>
        </p:nvSpPr>
        <p:spPr>
          <a:xfrm rot="0" flipH="false" flipV="false">
            <a:off x="1397000" y="27051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01. 矩阵行变换化简</a:t>
            </a:r>
            <a:endParaRPr lang="en-US" sz="1100"/>
          </a:p>
        </p:txBody>
      </p:sp>
      <p:cxnSp>
        <p:nvCxnSpPr>
          <p:cNvPr name="Connector 11" id="11"/>
          <p:cNvCxnSpPr/>
          <p:nvPr/>
        </p:nvCxnSpPr>
        <p:spPr>
          <a:xfrm rot="-9046" flipH="false" flipV="false">
            <a:off x="952508" y="3232150"/>
            <a:ext cx="4826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2" id="12"/>
          <p:cNvSpPr/>
          <p:nvPr/>
        </p:nvSpPr>
        <p:spPr>
          <a:xfrm rot="0" flipH="false" flipV="false">
            <a:off x="952500" y="33655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55A64"/>
                </a:solidFill>
                <a:latin typeface="Noto Sans SC"/>
                <a:ea typeface="Noto Sans SC"/>
                <a:cs typeface="Noto Sans SC"/>
                <a:sym typeface="Noto Sans SC"/>
              </a:rPr>
              <a:t>写出增广矩阵 [A|b]，通过初等行变换化为行最简形，得到简化后的系数矩阵结构，为后续分析解的结构奠定基础。</a:t>
            </a:r>
            <a:endParaRPr lang="en-US" sz="1100"/>
          </a:p>
        </p:txBody>
      </p:sp>
      <p:sp>
        <p:nvSpPr>
          <p:cNvPr name="AutoShape 13" id="13"/>
          <p:cNvSpPr/>
          <p:nvPr/>
        </p:nvSpPr>
        <p:spPr>
          <a:xfrm rot="0" flipH="false" flipV="false">
            <a:off x="6286500" y="2540000"/>
            <a:ext cx="5270500" cy="17145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86500" y="2540000"/>
            <a:ext cx="52705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730500"/>
            <a:ext cx="304800" cy="304800"/>
          </a:xfrm>
          <a:prstGeom prst="rect">
            <a:avLst/>
          </a:prstGeom>
        </p:spPr>
      </p:pic>
      <p:sp>
        <p:nvSpPr>
          <p:cNvPr name="AutoShape 16" id="16"/>
          <p:cNvSpPr/>
          <p:nvPr/>
        </p:nvSpPr>
        <p:spPr>
          <a:xfrm rot="0" flipH="false" flipV="false">
            <a:off x="6921500" y="27051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02. 确定自由变量与特解</a:t>
            </a:r>
            <a:endParaRPr lang="en-US" sz="1100"/>
          </a:p>
        </p:txBody>
      </p:sp>
      <p:cxnSp>
        <p:nvCxnSpPr>
          <p:cNvPr name="Connector 17" id="17"/>
          <p:cNvCxnSpPr/>
          <p:nvPr/>
        </p:nvCxnSpPr>
        <p:spPr>
          <a:xfrm rot="-9046" flipH="false" flipV="false">
            <a:off x="6477008" y="3232150"/>
            <a:ext cx="4826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8" id="18"/>
          <p:cNvSpPr/>
          <p:nvPr/>
        </p:nvSpPr>
        <p:spPr>
          <a:xfrm rot="0" flipH="false" flipV="false">
            <a:off x="6477000" y="33655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55A64"/>
                </a:solidFill>
                <a:latin typeface="Noto Sans SC"/>
                <a:ea typeface="Noto Sans SC"/>
                <a:cs typeface="Noto Sans SC"/>
                <a:sym typeface="Noto Sans SC"/>
              </a:rPr>
              <a:t>由秩 r(A)=r(A|b)=2 &lt; 5，知方程组有无穷多解。选定 x₃, x₄, x₅ 为自由变量，令其全为0，求得非齐次方程组的一个特解 η* = [4, -3, 0, 0, 0]ᵀ。</a:t>
            </a:r>
            <a:endParaRPr lang="en-US" sz="1100"/>
          </a:p>
        </p:txBody>
      </p:sp>
      <p:sp>
        <p:nvSpPr>
          <p:cNvPr name="AutoShape 19" id="19"/>
          <p:cNvSpPr/>
          <p:nvPr/>
        </p:nvSpPr>
        <p:spPr>
          <a:xfrm rot="0" flipH="false" flipV="false">
            <a:off x="762000" y="4508500"/>
            <a:ext cx="5270500" cy="17145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4508500"/>
            <a:ext cx="52705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4699000"/>
            <a:ext cx="304800" cy="304800"/>
          </a:xfrm>
          <a:prstGeom prst="rect">
            <a:avLst/>
          </a:prstGeom>
        </p:spPr>
      </p:pic>
      <p:sp>
        <p:nvSpPr>
          <p:cNvPr name="AutoShape 22" id="22"/>
          <p:cNvSpPr/>
          <p:nvPr/>
        </p:nvSpPr>
        <p:spPr>
          <a:xfrm rot="0" flipH="false" flipV="false">
            <a:off x="1397000" y="46736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03. 求齐次方程组基础解系</a:t>
            </a:r>
            <a:endParaRPr lang="en-US" sz="1100"/>
          </a:p>
        </p:txBody>
      </p:sp>
      <p:cxnSp>
        <p:nvCxnSpPr>
          <p:cNvPr name="Connector 23" id="23"/>
          <p:cNvCxnSpPr/>
          <p:nvPr/>
        </p:nvCxnSpPr>
        <p:spPr>
          <a:xfrm rot="-9046" flipH="false" flipV="false">
            <a:off x="952508" y="5200650"/>
            <a:ext cx="4826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24" id="24"/>
          <p:cNvSpPr/>
          <p:nvPr/>
        </p:nvSpPr>
        <p:spPr>
          <a:xfrm rot="0" flipH="false" flipV="false">
            <a:off x="952500" y="53340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55A64"/>
                </a:solidFill>
                <a:latin typeface="Noto Sans SC"/>
                <a:ea typeface="Noto Sans SC"/>
                <a:cs typeface="Noto Sans SC"/>
                <a:sym typeface="Noto Sans SC"/>
              </a:rPr>
              <a:t>针对导出组 Ax=0，分别令自由变量为单位向量组，解得基础解系：ξ₁ = [1, -2, 1, 0, 0]ᵀ，ξ₂ = [1, -2, 0, 1, 0]ᵀ，ξ₃ = [5, -6, 0, 0, 1]ᵀ。</a:t>
            </a:r>
            <a:endParaRPr lang="en-US" sz="1100"/>
          </a:p>
        </p:txBody>
      </p:sp>
      <p:sp>
        <p:nvSpPr>
          <p:cNvPr name="AutoShape 25" id="25"/>
          <p:cNvSpPr/>
          <p:nvPr/>
        </p:nvSpPr>
        <p:spPr>
          <a:xfrm rot="0" flipH="false" flipV="false">
            <a:off x="6286500" y="4508500"/>
            <a:ext cx="5270500" cy="17145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286500" y="4508500"/>
            <a:ext cx="52705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699000"/>
            <a:ext cx="304800" cy="304800"/>
          </a:xfrm>
          <a:prstGeom prst="rect">
            <a:avLst/>
          </a:prstGeom>
        </p:spPr>
      </p:pic>
      <p:sp>
        <p:nvSpPr>
          <p:cNvPr name="AutoShape 28" id="28"/>
          <p:cNvSpPr/>
          <p:nvPr/>
        </p:nvSpPr>
        <p:spPr>
          <a:xfrm rot="0" flipH="false" flipV="false">
            <a:off x="6921500" y="46736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04. 组合得到通解</a:t>
            </a:r>
            <a:endParaRPr lang="en-US" sz="1100"/>
          </a:p>
        </p:txBody>
      </p:sp>
      <p:cxnSp>
        <p:nvCxnSpPr>
          <p:cNvPr name="Connector 29" id="29"/>
          <p:cNvCxnSpPr/>
          <p:nvPr/>
        </p:nvCxnSpPr>
        <p:spPr>
          <a:xfrm rot="-9046" flipH="false" flipV="false">
            <a:off x="6477008" y="5200650"/>
            <a:ext cx="4826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30" id="30"/>
          <p:cNvSpPr/>
          <p:nvPr/>
        </p:nvSpPr>
        <p:spPr>
          <a:xfrm rot="0" flipH="false" flipV="false">
            <a:off x="6477000" y="53340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55A64"/>
                </a:solidFill>
                <a:latin typeface="Noto Sans SC"/>
                <a:ea typeface="Noto Sans SC"/>
                <a:cs typeface="Noto Sans SC"/>
                <a:sym typeface="Noto Sans SC"/>
              </a:rPr>
              <a:t>非齐次线性方程组的通解为特解加上其导出组基础解系的任意线性组合，即 x = η* + c₁ξ₁ + c₂ξ₂ + c₃ξ₃（c₁,c₂,c₃∈R）。</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7：代数余子式求和</a:t>
            </a:r>
            <a:endParaRPr lang="en-US" sz="1100"/>
          </a:p>
        </p:txBody>
      </p:sp>
      <p:sp>
        <p:nvSpPr>
          <p:cNvPr name="AutoShape 4" id="4"/>
          <p:cNvSpPr/>
          <p:nvPr/>
        </p:nvSpPr>
        <p:spPr>
          <a:xfrm rot="0" flipH="false" flipV="false">
            <a:off x="762000" y="1270000"/>
            <a:ext cx="10668000" cy="254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5207000" cy="2540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955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问题呈现</a:t>
            </a:r>
            <a:endParaRPr lang="en-US" sz="1100"/>
          </a:p>
        </p:txBody>
      </p:sp>
      <p:cxnSp>
        <p:nvCxnSpPr>
          <p:cNvPr name="Connector 7" id="7"/>
          <p:cNvCxnSpPr/>
          <p:nvPr/>
        </p:nvCxnSpPr>
        <p:spPr>
          <a:xfrm rot="-9291" flipH="false" flipV="false">
            <a:off x="1016009" y="2597150"/>
            <a:ext cx="4699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8" id="8"/>
          <p:cNvSpPr/>
          <p:nvPr/>
        </p:nvSpPr>
        <p:spPr>
          <a:xfrm rot="0" flipH="false" flipV="false">
            <a:off x="1016000" y="2794000"/>
            <a:ext cx="4699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37474F"/>
                </a:solidFill>
                <a:latin typeface="Noto Sans SC"/>
                <a:ea typeface="Noto Sans SC"/>
                <a:cs typeface="Noto Sans SC"/>
                <a:sym typeface="Noto Sans SC"/>
              </a:rPr>
              <a:t><![CDATA[已知四阶行列式 \( D = \begin{vmatrix} 1 & 3 & 5 & 7 \\ 1 & 2 & 0 & 0 \\ 1 & 0 & 3 & 0 \\ 1 & 0 & 0 & 4 \end{vmatrix} \)，要求计算其第一行所有元素的代数余子式之和，即 \( A_{11} + A_{12} + A_{13} + A_{14} \) 的值。]]></a:t>
            </a:r>
            <a:endParaRPr lang="en-US" sz="1100"/>
          </a:p>
        </p:txBody>
      </p:sp>
      <p:sp>
        <p:nvSpPr>
          <p:cNvPr name="AutoShape 9" id="9"/>
          <p:cNvSpPr/>
          <p:nvPr/>
        </p:nvSpPr>
        <p:spPr>
          <a:xfrm rot="0" flipH="false" flipV="false">
            <a:off x="6223000" y="1905000"/>
            <a:ext cx="5207000" cy="2540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20955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02. 核心思路：构造辅助行列式</a:t>
            </a:r>
            <a:endParaRPr lang="en-US" sz="1100"/>
          </a:p>
        </p:txBody>
      </p:sp>
      <p:cxnSp>
        <p:nvCxnSpPr>
          <p:cNvPr name="Connector 11" id="11"/>
          <p:cNvCxnSpPr/>
          <p:nvPr/>
        </p:nvCxnSpPr>
        <p:spPr>
          <a:xfrm rot="-9291" flipH="false" flipV="false">
            <a:off x="6477009" y="2597150"/>
            <a:ext cx="4699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2" id="12"/>
          <p:cNvSpPr/>
          <p:nvPr/>
        </p:nvSpPr>
        <p:spPr>
          <a:xfrm rot="0" flipH="false" flipV="false">
            <a:off x="6477000" y="2794000"/>
            <a:ext cx="4699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37474F"/>
                </a:solidFill>
                <a:latin typeface="Noto Sans SC"/>
                <a:ea typeface="Noto Sans SC"/>
                <a:cs typeface="Noto Sans SC"/>
                <a:sym typeface="Noto Sans SC"/>
              </a:rPr>
              <a:t>直接计算四个代数余子式再求和计算量极大。利用行列式按行展开定理的逆用，构造新行列式 \( D' \)，使其第一行元素全为1，其余行与D完全相同，则 \( D' \) 的值即为所求的代数余子式之和。</a:t>
            </a:r>
            <a:endParaRPr lang="en-US" sz="1100"/>
          </a:p>
        </p:txBody>
      </p:sp>
      <p:sp>
        <p:nvSpPr>
          <p:cNvPr name="AutoShape 13" id="13"/>
          <p:cNvSpPr/>
          <p:nvPr/>
        </p:nvSpPr>
        <p:spPr>
          <a:xfrm rot="0" flipH="false" flipV="false">
            <a:off x="762000" y="4826000"/>
            <a:ext cx="10668000" cy="1524000"/>
          </a:xfrm>
          <a:prstGeom prst="roundRect">
            <a:avLst>
              <a:gd name="adj" fmla="val 0"/>
            </a:avLst>
          </a:prstGeom>
          <a:solidFill>
            <a:srgbClr val="26A69A">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826000"/>
            <a:ext cx="76200" cy="1524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79500" y="4953000"/>
            <a:ext cx="100965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37474F"/>
                </a:solidFill>
                <a:latin typeface="Noto Sans SC"/>
                <a:ea typeface="Noto Sans SC"/>
                <a:cs typeface="Noto Sans SC"/>
                <a:sym typeface="Noto Sans SC"/>
              </a:rPr>
              <a:t><![CDATA[构造 \( D' = \begin{vmatrix} 1 & 1 & 1 & 1 \\ 1 & 2 & 0 & 0 \\ 1 & 0 & 3 & 0 \\ 1 & 0 & 0 & 4 \end{vmatrix} \)，按第一行展开得 \( D' = 1\cdot A_{11} + 1\cdot A_{12} + 1\cdot A_{13} + 1\cdot A_{14} \)。利用行列式性质化简计算得 \( D' = 24 - 12 - 8 - 6 = -2 \)，故 \( A_{11}+A_{12}+A_{13}+A_{14} = \boldsymbol{-2} \)。]]></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7：解题思路</a:t>
            </a:r>
            <a:endParaRPr lang="en-US" sz="1100"/>
          </a:p>
        </p:txBody>
      </p:sp>
      <p:sp>
        <p:nvSpPr>
          <p:cNvPr name="AutoShape 4" id="4"/>
          <p:cNvSpPr/>
          <p:nvPr/>
        </p:nvSpPr>
        <p:spPr>
          <a:xfrm rot="0" flipH="false" flipV="false">
            <a:off x="762000" y="1397000"/>
            <a:ext cx="10668000" cy="25400"/>
          </a:xfrm>
          <a:prstGeom prst="roundRect">
            <a:avLst>
              <a:gd name="adj" fmla="val 0"/>
            </a:avLst>
          </a:prstGeom>
          <a:solidFill>
            <a:srgbClr val="26A69A">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4826000" cy="2413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032000"/>
            <a:ext cx="76200" cy="2413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22500"/>
            <a:ext cx="355600" cy="355600"/>
          </a:xfrm>
          <a:prstGeom prst="rect">
            <a:avLst/>
          </a:prstGeom>
        </p:spPr>
      </p:pic>
      <p:sp>
        <p:nvSpPr>
          <p:cNvPr name="AutoShape 8" id="8"/>
          <p:cNvSpPr/>
          <p:nvPr/>
        </p:nvSpPr>
        <p:spPr>
          <a:xfrm rot="0" flipH="false" flipV="false">
            <a:off x="1524000" y="2184400"/>
            <a:ext cx="381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核心思想：逆用展开定理</a:t>
            </a:r>
            <a:endParaRPr lang="en-US" sz="1100"/>
          </a:p>
        </p:txBody>
      </p:sp>
      <p:cxnSp>
        <p:nvCxnSpPr>
          <p:cNvPr name="Connector 9" id="9"/>
          <p:cNvCxnSpPr/>
          <p:nvPr/>
        </p:nvCxnSpPr>
        <p:spPr>
          <a:xfrm rot="-10110" flipH="false" flipV="false">
            <a:off x="1016009" y="2787650"/>
            <a:ext cx="43180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10" id="10"/>
          <p:cNvSpPr/>
          <p:nvPr/>
        </p:nvSpPr>
        <p:spPr>
          <a:xfrm rot="0" flipH="false" flipV="false">
            <a:off x="1016000" y="3048000"/>
            <a:ext cx="4318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455A64"/>
                </a:solidFill>
                <a:latin typeface="Noto Sans SC"/>
                <a:ea typeface="Noto Sans SC"/>
                <a:cs typeface="Noto Sans SC"/>
                <a:sym typeface="Noto Sans SC"/>
              </a:rPr>
              <a:t>代数余子式之和 \(A_{11}+A_{12}+A_{13}+A_{14}\) 可看作用系数矩阵 \([1, 1, 1, 1]^T\) 替换原行列式第一行后，得到的新行列式的值。这是将求和问题转化为行列式计算的关键技巧。</a:t>
            </a:r>
            <a:endParaRPr lang="en-US" sz="1100"/>
          </a:p>
        </p:txBody>
      </p:sp>
      <p:sp>
        <p:nvSpPr>
          <p:cNvPr name="AutoShape 11" id="11"/>
          <p:cNvSpPr/>
          <p:nvPr/>
        </p:nvSpPr>
        <p:spPr>
          <a:xfrm rot="0" flipH="false" flipV="false">
            <a:off x="6096000" y="2032000"/>
            <a:ext cx="5334000" cy="2413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2222500"/>
            <a:ext cx="355600" cy="355600"/>
          </a:xfrm>
          <a:prstGeom prst="rect">
            <a:avLst/>
          </a:prstGeom>
        </p:spPr>
      </p:pic>
      <p:sp>
        <p:nvSpPr>
          <p:cNvPr name="AutoShape 13" id="13"/>
          <p:cNvSpPr/>
          <p:nvPr/>
        </p:nvSpPr>
        <p:spPr>
          <a:xfrm rot="0" flipH="false" flipV="false">
            <a:off x="6858000" y="2184400"/>
            <a:ext cx="4318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推演步骤分解</a:t>
            </a:r>
            <a:endParaRPr lang="en-US" sz="1100"/>
          </a:p>
        </p:txBody>
      </p:sp>
      <p:cxnSp>
        <p:nvCxnSpPr>
          <p:cNvPr name="Connector 14" id="14"/>
          <p:cNvCxnSpPr/>
          <p:nvPr/>
        </p:nvCxnSpPr>
        <p:spPr>
          <a:xfrm rot="-9046" flipH="false" flipV="false">
            <a:off x="6350008" y="2787650"/>
            <a:ext cx="48260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15" id="15"/>
          <p:cNvSpPr/>
          <p:nvPr/>
        </p:nvSpPr>
        <p:spPr>
          <a:xfrm rot="0" flipH="false" flipV="false">
            <a:off x="6350000" y="29845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1. 构造新行列式 \(D'\)，首行替换为 \([1, 1, 1, 1]\)，其余行保持不变。</a:t>
            </a:r>
            <a:r>
              <a:rPr lang="en-US" b="false" i="false" strike="noStrike" u="none" sz="1400">
                <a:solidFill>
                  <a:srgbClr val="455A64"/>
                </a:solidFill>
                <a:latin typeface="Noto Sans SC"/>
                <a:ea typeface="Noto Sans SC"/>
                <a:cs typeface="Noto Sans SC"/>
                <a:sym typeface="Noto Sans SC"/>
              </a:rPr>
              <a:t/>
            </a:r>
            <a:br>
              <a:rPr lang="en-US" b="false" i="false" strike="noStrike" u="none" sz="1400">
                <a:solidFill>
                  <a:srgbClr val="455A64"/>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2. 由展开定理，\(D' = 1\cdot A_{11} + 1\cdot A_{12} + 1\cdot A_{13} + 1\cdot A_{14}\)。</a:t>
            </a:r>
            <a:r>
              <a:rPr lang="en-US" b="false" i="false" strike="noStrike" u="none" sz="1400">
                <a:solidFill>
                  <a:srgbClr val="455A64"/>
                </a:solidFill>
                <a:latin typeface="Noto Sans SC"/>
                <a:ea typeface="Noto Sans SC"/>
                <a:cs typeface="Noto Sans SC"/>
                <a:sym typeface="Noto Sans SC"/>
              </a:rPr>
              <a:t/>
            </a:r>
            <a:br>
              <a:rPr lang="en-US" b="false" i="false" strike="noStrike" u="none" sz="1400">
                <a:solidFill>
                  <a:srgbClr val="455A64"/>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3. 将 \(D'\) 化为上三角行列式，通过行变换简化计算，消元后求得结果。</a:t>
            </a:r>
            <a:endParaRPr lang="en-US" sz="1100"/>
          </a:p>
        </p:txBody>
      </p:sp>
      <p:sp>
        <p:nvSpPr>
          <p:cNvPr name="AutoShape 16" id="16"/>
          <p:cNvSpPr/>
          <p:nvPr/>
        </p:nvSpPr>
        <p:spPr>
          <a:xfrm rot="0" flipH="false" flipV="false">
            <a:off x="762000" y="5080000"/>
            <a:ext cx="10668000" cy="1143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5080000"/>
            <a:ext cx="10668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143000" y="5397500"/>
            <a:ext cx="508000" cy="508000"/>
          </a:xfrm>
          <a:prstGeom prst="rect">
            <a:avLst/>
          </a:prstGeom>
        </p:spPr>
      </p:pic>
      <p:sp>
        <p:nvSpPr>
          <p:cNvPr name="AutoShape 19" id="19"/>
          <p:cNvSpPr/>
          <p:nvPr/>
        </p:nvSpPr>
        <p:spPr>
          <a:xfrm rot="0" flipH="false" flipV="false">
            <a:off x="2032000" y="5334000"/>
            <a:ext cx="444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最终结论：</a:t>
            </a:r>
            <a:r>
              <a:rPr lang="en-US" b="false" i="false" strike="noStrike" u="none" sz="1600">
                <a:solidFill>
                  <a:srgbClr val="455A64"/>
                </a:solidFill>
                <a:latin typeface="Noto Sans SC"/>
                <a:ea typeface="Noto Sans SC"/>
                <a:cs typeface="Noto Sans SC"/>
                <a:sym typeface="Noto Sans SC"/>
              </a:rPr>
              <a:t>新行列式 \(D'\) 经计算化简后，得到最终数值解。</a:t>
            </a:r>
            <a:endParaRPr lang="en-US" sz="1100"/>
          </a:p>
        </p:txBody>
      </p:sp>
      <p:cxnSp>
        <p:nvCxnSpPr>
          <p:cNvPr name="Connector 20" id="20"/>
          <p:cNvCxnSpPr/>
          <p:nvPr/>
        </p:nvCxnSpPr>
        <p:spPr>
          <a:xfrm rot="5342709" flipH="false" flipV="false">
            <a:off x="6477000" y="5645203"/>
            <a:ext cx="762000" cy="12700"/>
          </a:xfrm>
          <a:prstGeom prst="straightConnector1">
            <a:avLst/>
          </a:prstGeom>
          <a:solidFill>
            <a:srgbClr val="DEE0E3">
              <a:alpha val="100000"/>
            </a:srgbClr>
          </a:solidFill>
          <a:ln w="12700" cmpd="sng" cap="flat">
            <a:solidFill>
              <a:srgbClr val="26A69A">
                <a:alpha val="40000"/>
              </a:srgbClr>
            </a:solidFill>
            <a:prstDash val="solid"/>
            <a:round/>
            <a:headEnd type="none" w="med" len="med"/>
            <a:tailEnd type="none" w="med" len="med"/>
          </a:ln>
        </p:spPr>
      </p:cxnSp>
      <p:sp>
        <p:nvSpPr>
          <p:cNvPr name="AutoShape 21" id="21"/>
          <p:cNvSpPr/>
          <p:nvPr/>
        </p:nvSpPr>
        <p:spPr>
          <a:xfrm rot="0" flipH="false" flipV="false">
            <a:off x="7112000" y="5270500"/>
            <a:ext cx="393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55A64"/>
                </a:solidFill>
                <a:latin typeface="Noto Sans SC"/>
                <a:ea typeface="Noto Sans SC"/>
                <a:cs typeface="Noto Sans SC"/>
                <a:sym typeface="Noto Sans SC"/>
              </a:rPr>
              <a:t>计算结果为：</a:t>
            </a:r>
            <a:r>
              <a:rPr lang="en-US" b="true" i="false" strike="noStrike" u="none" sz="3600">
                <a:solidFill>
                  <a:srgbClr val="26A69A"/>
                </a:solidFill>
                <a:latin typeface="Noto Sans SC"/>
                <a:ea typeface="Noto Sans SC"/>
                <a:cs typeface="Noto Sans SC"/>
                <a:sym typeface="Noto Sans SC"/>
              </a:rPr>
              <a:t>4</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8：矩阵方程求解</a:t>
            </a:r>
            <a:endParaRPr lang="en-US" sz="1100"/>
          </a:p>
        </p:txBody>
      </p:sp>
      <p:cxnSp>
        <p:nvCxnSpPr>
          <p:cNvPr name="Connector 4" id="4"/>
          <p:cNvCxnSpPr/>
          <p:nvPr/>
        </p:nvCxnSpPr>
        <p:spPr>
          <a:xfrm rot="-4092" flipH="false" flipV="false">
            <a:off x="762004" y="1390650"/>
            <a:ext cx="10668000" cy="12700"/>
          </a:xfrm>
          <a:prstGeom prst="straightConnector1">
            <a:avLst/>
          </a:prstGeom>
          <a:solidFill>
            <a:srgbClr val="DEE0E3">
              <a:alpha val="100000"/>
            </a:srgbClr>
          </a:solidFill>
          <a:ln w="25400" cmpd="sng" cap="flat">
            <a:solidFill>
              <a:srgbClr val="26A69A">
                <a:alpha val="60000"/>
              </a:srgbClr>
            </a:solidFill>
            <a:prstDash val="solid"/>
            <a:round/>
            <a:headEnd type="none" w="lg" len="lg"/>
            <a:tailEnd type="none" w="lg" len="lg"/>
          </a:ln>
        </p:spPr>
      </p:cxnSp>
      <p:sp>
        <p:nvSpPr>
          <p:cNvPr name="AutoShape 5" id="5"/>
          <p:cNvSpPr/>
          <p:nvPr/>
        </p:nvSpPr>
        <p:spPr>
          <a:xfrm rot="0" flipH="false" flipV="false">
            <a:off x="762000" y="1905000"/>
            <a:ext cx="3429000" cy="3556000"/>
          </a:xfrm>
          <a:prstGeom prst="roundRect">
            <a:avLst>
              <a:gd name="adj" fmla="val 0"/>
            </a:avLst>
          </a:prstGeom>
          <a:solidFill>
            <a:srgbClr val="FFFFFF">
              <a:alpha val="8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159000"/>
            <a:ext cx="304800" cy="304800"/>
          </a:xfrm>
          <a:prstGeom prst="rect">
            <a:avLst/>
          </a:prstGeom>
        </p:spPr>
      </p:pic>
      <p:sp>
        <p:nvSpPr>
          <p:cNvPr name="AutoShape 8" id="8"/>
          <p:cNvSpPr/>
          <p:nvPr/>
        </p:nvSpPr>
        <p:spPr>
          <a:xfrm rot="0" flipH="false" flipV="false">
            <a:off x="1397000" y="2133600"/>
            <a:ext cx="2603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题目条件与要求</a:t>
            </a:r>
            <a:endParaRPr lang="en-US" sz="1100"/>
          </a:p>
        </p:txBody>
      </p:sp>
      <p:cxnSp>
        <p:nvCxnSpPr>
          <p:cNvPr name="Connector 9" id="9"/>
          <p:cNvCxnSpPr/>
          <p:nvPr/>
        </p:nvCxnSpPr>
        <p:spPr>
          <a:xfrm rot="-14323" flipH="false" flipV="false">
            <a:off x="952513" y="2724150"/>
            <a:ext cx="3048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0" id="10"/>
          <p:cNvSpPr/>
          <p:nvPr/>
        </p:nvSpPr>
        <p:spPr>
          <a:xfrm rot="0" flipH="false" flipV="false">
            <a:off x="952500" y="2921000"/>
            <a:ext cx="3048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55A64"/>
                </a:solidFill>
                <a:latin typeface="Noto Sans SC"/>
                <a:ea typeface="Noto Sans SC"/>
                <a:cs typeface="Noto Sans SC"/>
                <a:sym typeface="Noto Sans SC"/>
              </a:rPr>
              <a:t>给定对角矩阵 A 为：</a:t>
            </a:r>
            <a:r>
              <a:rPr lang="en-US" b="false" i="false" strike="noStrike" u="none" sz="1300">
                <a:solidFill>
                  <a:srgbClr val="1F2329"/>
                </a:solidFill>
                <a:latin typeface="Noto Sans SC"/>
                <a:ea typeface="Noto Sans SC"/>
                <a:cs typeface="Noto Sans SC"/>
                <a:sym typeface="Noto Sans SC"/>
              </a:rPr>
              <a:t/>
            </a:r>
            <a:endParaRPr lang="en-US" sz="1100"/>
          </a:p>
          <a:p>
            <a:pPr algn="ctr" marL="0" indent="0">
              <a:lnSpc>
                <a:spcPct val="100000"/>
              </a:lnSpc>
            </a:pPr>
            <a:r>
              <a:rPr lang="en-US" b="true" i="false" strike="noStrike" u="none" sz="1200">
                <a:solidFill>
                  <a:srgbClr val="26A69A"/>
                </a:solidFill>
                <a:latin typeface="Noto Sans SC"/>
                <a:ea typeface="Noto Sans SC"/>
                <a:cs typeface="Noto Sans SC"/>
                <a:sym typeface="Noto Sans SC"/>
              </a:rPr>
              <a:t>⎛ 1/3 0 0 ⎞</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true" i="false" strike="noStrike" u="none" sz="1200">
                <a:solidFill>
                  <a:srgbClr val="26A69A"/>
                </a:solidFill>
                <a:latin typeface="Noto Sans SC"/>
                <a:ea typeface="Noto Sans SC"/>
                <a:cs typeface="Noto Sans SC"/>
                <a:sym typeface="Noto Sans SC"/>
              </a:rPr>
              <a:t>⎜ 0 1/4 0 ⎟</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true" i="false" strike="noStrike" u="none" sz="1200">
                <a:solidFill>
                  <a:srgbClr val="26A69A"/>
                </a:solidFill>
                <a:latin typeface="Noto Sans SC"/>
                <a:ea typeface="Noto Sans SC"/>
                <a:cs typeface="Noto Sans SC"/>
                <a:sym typeface="Noto Sans SC"/>
              </a:rPr>
              <a:t>⎝ 0 0 1/7 ⎠</a:t>
            </a:r>
            <a:r>
              <a:rPr lang="en-US" b="false" i="false" strike="noStrike" u="none" sz="13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300">
                <a:solidFill>
                  <a:srgbClr val="455A64"/>
                </a:solidFill>
                <a:latin typeface="Noto Sans SC"/>
                <a:ea typeface="Noto Sans SC"/>
                <a:cs typeface="Noto Sans SC"/>
                <a:sym typeface="Noto Sans SC"/>
              </a:rPr>
              <a:t>求满足矩阵方程</a:t>
            </a:r>
            <a:r>
              <a:rPr lang="en-US" b="true" i="false" strike="noStrike" u="none" sz="1300">
                <a:solidFill>
                  <a:srgbClr val="37474F"/>
                </a:solidFill>
                <a:latin typeface="Noto Sans SC"/>
                <a:ea typeface="Noto Sans SC"/>
                <a:cs typeface="Noto Sans SC"/>
                <a:sym typeface="Noto Sans SC"/>
              </a:rPr>
              <a:t>A⁻¹BA = 6A + BA</a:t>
            </a:r>
            <a:r>
              <a:rPr lang="en-US" b="false" i="false" strike="noStrike" u="none" sz="1300">
                <a:solidFill>
                  <a:srgbClr val="455A64"/>
                </a:solidFill>
                <a:latin typeface="Noto Sans SC"/>
                <a:ea typeface="Noto Sans SC"/>
                <a:cs typeface="Noto Sans SC"/>
                <a:sym typeface="Noto Sans SC"/>
              </a:rPr>
              <a:t>的三阶矩阵 B。</a:t>
            </a:r>
          </a:p>
        </p:txBody>
      </p:sp>
      <p:sp>
        <p:nvSpPr>
          <p:cNvPr name="AutoShape 11" id="11"/>
          <p:cNvSpPr/>
          <p:nvPr/>
        </p:nvSpPr>
        <p:spPr>
          <a:xfrm rot="0" flipH="false" flipV="false">
            <a:off x="4445000" y="1905000"/>
            <a:ext cx="3429000" cy="3556000"/>
          </a:xfrm>
          <a:prstGeom prst="roundRect">
            <a:avLst>
              <a:gd name="adj" fmla="val 0"/>
            </a:avLst>
          </a:prstGeom>
          <a:solidFill>
            <a:srgbClr val="FFFFFF">
              <a:alpha val="8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1905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2159000"/>
            <a:ext cx="304800" cy="304800"/>
          </a:xfrm>
          <a:prstGeom prst="rect">
            <a:avLst/>
          </a:prstGeom>
        </p:spPr>
      </p:pic>
      <p:sp>
        <p:nvSpPr>
          <p:cNvPr name="AutoShape 14" id="14"/>
          <p:cNvSpPr/>
          <p:nvPr/>
        </p:nvSpPr>
        <p:spPr>
          <a:xfrm rot="0" flipH="false" flipV="false">
            <a:off x="5080000" y="2133600"/>
            <a:ext cx="2603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解题核心分析</a:t>
            </a:r>
            <a:endParaRPr lang="en-US" sz="1100"/>
          </a:p>
        </p:txBody>
      </p:sp>
      <p:cxnSp>
        <p:nvCxnSpPr>
          <p:cNvPr name="Connector 15" id="15"/>
          <p:cNvCxnSpPr/>
          <p:nvPr/>
        </p:nvCxnSpPr>
        <p:spPr>
          <a:xfrm rot="-14323" flipH="false" flipV="false">
            <a:off x="4635513" y="2724150"/>
            <a:ext cx="3048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6" id="16"/>
          <p:cNvSpPr/>
          <p:nvPr/>
        </p:nvSpPr>
        <p:spPr>
          <a:xfrm rot="0" flipH="false" flipV="false">
            <a:off x="4635500" y="2921000"/>
            <a:ext cx="3048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26A69A"/>
                </a:solidFill>
                <a:latin typeface="Noto Sans SC"/>
                <a:ea typeface="Noto Sans SC"/>
                <a:cs typeface="Noto Sans SC"/>
                <a:sym typeface="Noto Sans SC"/>
              </a:rPr>
              <a:t>1. 移项整理：</a:t>
            </a:r>
            <a:r>
              <a:rPr lang="en-US" b="false" i="false" strike="noStrike" u="none" sz="1400">
                <a:solidFill>
                  <a:srgbClr val="455A64"/>
                </a:solidFill>
                <a:latin typeface="Noto Sans SC"/>
                <a:ea typeface="Noto Sans SC"/>
                <a:cs typeface="Noto Sans SC"/>
                <a:sym typeface="Noto Sans SC"/>
              </a:rPr>
              <a:t>将含 B 的项移至一侧，利用矩阵运算律变形为 (A⁻¹ - E)BA = 6A。</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26A69A"/>
                </a:solidFill>
                <a:latin typeface="Noto Sans SC"/>
                <a:ea typeface="Noto Sans SC"/>
                <a:cs typeface="Noto Sans SC"/>
                <a:sym typeface="Noto Sans SC"/>
              </a:rPr>
              <a:t>2. 利用可逆性：</a:t>
            </a:r>
            <a:r>
              <a:rPr lang="en-US" b="false" i="false" strike="noStrike" u="none" sz="1400">
                <a:solidFill>
                  <a:srgbClr val="455A64"/>
                </a:solidFill>
                <a:latin typeface="Noto Sans SC"/>
                <a:ea typeface="Noto Sans SC"/>
                <a:cs typeface="Noto Sans SC"/>
                <a:sym typeface="Noto Sans SC"/>
              </a:rPr>
              <a:t>矩阵 A 是对角矩阵且主对角线元素非零，故 A 可逆。方程两边右乘 A⁻¹ 简化。</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26A69A"/>
                </a:solidFill>
                <a:latin typeface="Noto Sans SC"/>
                <a:ea typeface="Noto Sans SC"/>
                <a:cs typeface="Noto Sans SC"/>
                <a:sym typeface="Noto Sans SC"/>
              </a:rPr>
              <a:t>3. 解出矩阵 B：</a:t>
            </a:r>
            <a:r>
              <a:rPr lang="en-US" b="false" i="false" strike="noStrike" u="none" sz="1400">
                <a:solidFill>
                  <a:srgbClr val="455A64"/>
                </a:solidFill>
                <a:latin typeface="Noto Sans SC"/>
                <a:ea typeface="Noto Sans SC"/>
                <a:cs typeface="Noto Sans SC"/>
                <a:sym typeface="Noto Sans SC"/>
              </a:rPr>
              <a:t>进一步整理得到 B = 6(A⁻¹ - E)⁻¹，通过计算逆矩阵求解 B。</a:t>
            </a:r>
          </a:p>
        </p:txBody>
      </p:sp>
      <p:sp>
        <p:nvSpPr>
          <p:cNvPr name="AutoShape 17" id="17"/>
          <p:cNvSpPr/>
          <p:nvPr/>
        </p:nvSpPr>
        <p:spPr>
          <a:xfrm rot="0" flipH="false" flipV="false">
            <a:off x="8128000" y="1905000"/>
            <a:ext cx="3429000" cy="3556000"/>
          </a:xfrm>
          <a:prstGeom prst="roundRect">
            <a:avLst>
              <a:gd name="adj" fmla="val 0"/>
            </a:avLst>
          </a:prstGeom>
          <a:solidFill>
            <a:srgbClr val="FFFFFF">
              <a:alpha val="8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128000" y="1905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2159000"/>
            <a:ext cx="304800" cy="304800"/>
          </a:xfrm>
          <a:prstGeom prst="rect">
            <a:avLst/>
          </a:prstGeom>
        </p:spPr>
      </p:pic>
      <p:sp>
        <p:nvSpPr>
          <p:cNvPr name="AutoShape 20" id="20"/>
          <p:cNvSpPr/>
          <p:nvPr/>
        </p:nvSpPr>
        <p:spPr>
          <a:xfrm rot="0" flipH="false" flipV="false">
            <a:off x="8763000" y="2133600"/>
            <a:ext cx="2603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推导步骤与结果</a:t>
            </a:r>
            <a:endParaRPr lang="en-US" sz="1100"/>
          </a:p>
        </p:txBody>
      </p:sp>
      <p:cxnSp>
        <p:nvCxnSpPr>
          <p:cNvPr name="Connector 21" id="21"/>
          <p:cNvCxnSpPr/>
          <p:nvPr/>
        </p:nvCxnSpPr>
        <p:spPr>
          <a:xfrm rot="-14323" flipH="false" flipV="false">
            <a:off x="8318513" y="2724150"/>
            <a:ext cx="3048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22" id="22"/>
          <p:cNvSpPr/>
          <p:nvPr/>
        </p:nvSpPr>
        <p:spPr>
          <a:xfrm rot="0" flipH="false" flipV="false">
            <a:off x="8318500" y="2921000"/>
            <a:ext cx="3048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由 A⁻¹BA - BA = 6A，得 (A⁻¹ - E)BA = 6A。两边右乘 A⁻¹，得 (A⁻¹ - E)B = 6E。计算得 A⁻¹ = diag(3,4,7)，故 A⁻¹ - E = diag(2,3,6)，其逆矩阵为 diag(1/2, 1/3, 1/6)。</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26A69A"/>
                </a:solidFill>
                <a:latin typeface="Noto Sans SC"/>
                <a:ea typeface="Noto Sans SC"/>
                <a:cs typeface="Noto Sans SC"/>
                <a:sym typeface="Noto Sans SC"/>
              </a:rPr>
              <a:t>最终 B = 6(A⁻¹ - E)⁻¹ = diag(3, 2, 1)。</a:t>
            </a:r>
          </a:p>
        </p:txBody>
      </p:sp>
      <p:sp>
        <p:nvSpPr>
          <p:cNvPr name="AutoShape 23" id="23"/>
          <p:cNvSpPr/>
          <p:nvPr/>
        </p:nvSpPr>
        <p:spPr>
          <a:xfrm rot="0" flipH="false" flipV="false">
            <a:off x="762000" y="5778500"/>
            <a:ext cx="10795000" cy="762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5943600"/>
            <a:ext cx="304800" cy="304800"/>
          </a:xfrm>
          <a:prstGeom prst="rect">
            <a:avLst/>
          </a:prstGeom>
        </p:spPr>
      </p:pic>
      <p:sp>
        <p:nvSpPr>
          <p:cNvPr name="AutoShape 25" id="25"/>
          <p:cNvSpPr/>
          <p:nvPr/>
        </p:nvSpPr>
        <p:spPr>
          <a:xfrm rot="0" flipH="false" flipV="false">
            <a:off x="1460500" y="5867400"/>
            <a:ext cx="9906000" cy="584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74F"/>
                </a:solidFill>
                <a:latin typeface="Noto Sans SC"/>
                <a:ea typeface="Noto Sans SC"/>
                <a:cs typeface="Noto Sans SC"/>
                <a:sym typeface="Noto Sans SC"/>
              </a:rPr>
              <a:t>关键提示：解矩阵方程的关键在于利用矩阵运算律合理移项、整理，将方程化为关于未知矩阵的最简形式。对于对角矩阵，其逆矩阵可直接通过主对角线元素取倒数得到，极大简化了计算。</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8：解题思路</a:t>
            </a:r>
            <a:endParaRPr lang="en-US" sz="1100"/>
          </a:p>
        </p:txBody>
      </p:sp>
      <p:sp>
        <p:nvSpPr>
          <p:cNvPr name="AutoShape 4" id="4"/>
          <p:cNvSpPr/>
          <p:nvPr/>
        </p:nvSpPr>
        <p:spPr>
          <a:xfrm rot="0" flipH="false" flipV="false">
            <a:off x="762000" y="1524000"/>
            <a:ext cx="10668000" cy="1016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1016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651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37474F"/>
                </a:solidFill>
                <a:latin typeface="Noto Sans SC"/>
                <a:ea typeface="Noto Sans SC"/>
                <a:cs typeface="Noto Sans SC"/>
                <a:sym typeface="Noto Sans SC"/>
              </a:rPr>
              <a:t>解矩阵方程的核心是通过代数变形简化等式。首先将含矩阵</a:t>
            </a:r>
            <a:r>
              <a:rPr lang="en-US" b="true" i="false" strike="noStrike" u="none" sz="1600">
                <a:solidFill>
                  <a:srgbClr val="26A69A"/>
                </a:solidFill>
                <a:latin typeface="Noto Sans SC"/>
                <a:ea typeface="Noto Sans SC"/>
                <a:cs typeface="Noto Sans SC"/>
                <a:sym typeface="Noto Sans SC"/>
              </a:rPr>
              <a:t>B</a:t>
            </a:r>
            <a:r>
              <a:rPr lang="en-US" b="false" i="false" strike="noStrike" u="none" sz="1600">
                <a:solidFill>
                  <a:srgbClr val="37474F"/>
                </a:solidFill>
                <a:latin typeface="Noto Sans SC"/>
                <a:ea typeface="Noto Sans SC"/>
                <a:cs typeface="Noto Sans SC"/>
                <a:sym typeface="Noto Sans SC"/>
              </a:rPr>
              <a:t>的项移至一侧并提取公因子，利用矩阵可逆性在等式两侧同时乘逆矩阵消元，最终分离出矩阵</a:t>
            </a:r>
            <a:r>
              <a:rPr lang="en-US" b="true" i="false" strike="noStrike" u="none" sz="1600">
                <a:solidFill>
                  <a:srgbClr val="26A69A"/>
                </a:solidFill>
                <a:latin typeface="Noto Sans SC"/>
                <a:ea typeface="Noto Sans SC"/>
                <a:cs typeface="Noto Sans SC"/>
                <a:sym typeface="Noto Sans SC"/>
              </a:rPr>
              <a:t>B</a:t>
            </a:r>
            <a:r>
              <a:rPr lang="en-US" b="false" i="false" strike="noStrike" u="none" sz="1600">
                <a:solidFill>
                  <a:srgbClr val="37474F"/>
                </a:solidFill>
                <a:latin typeface="Noto Sans SC"/>
                <a:ea typeface="Noto Sans SC"/>
                <a:cs typeface="Noto Sans SC"/>
                <a:sym typeface="Noto Sans SC"/>
              </a:rPr>
              <a:t>进行计算。</a:t>
            </a:r>
            <a:endParaRPr lang="en-US" sz="1100"/>
          </a:p>
        </p:txBody>
      </p:sp>
      <p:sp>
        <p:nvSpPr>
          <p:cNvPr name="AutoShape 7" id="7"/>
          <p:cNvSpPr/>
          <p:nvPr/>
        </p:nvSpPr>
        <p:spPr>
          <a:xfrm rot="0" flipH="false" flipV="false">
            <a:off x="762000" y="3048000"/>
            <a:ext cx="5270500" cy="20955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175000"/>
            <a:ext cx="4889500" cy="184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STEP 01-03：代数变形与化简</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55A64"/>
                </a:solidFill>
                <a:latin typeface="Noto Sans SC"/>
                <a:ea typeface="Noto Sans SC"/>
                <a:cs typeface="Noto Sans SC"/>
                <a:sym typeface="Noto Sans SC"/>
              </a:rPr>
              <a:t>① 移项整理：将含B项归至左侧，得</a:t>
            </a:r>
            <a:r>
              <a:rPr lang="en-US" b="true" i="false" strike="noStrike" u="none" sz="1400">
                <a:solidFill>
                  <a:srgbClr val="000000"/>
                </a:solidFill>
                <a:latin typeface="Noto Sans SC"/>
                <a:ea typeface="Noto Sans SC"/>
                <a:cs typeface="Noto Sans SC"/>
                <a:sym typeface="Noto Sans SC"/>
              </a:rPr>
              <a:t>A⁻¹BA - BA = 6A</a:t>
            </a:r>
            <a:r>
              <a:rPr lang="en-US" b="false" i="false" strike="noStrike" u="none" sz="1400">
                <a:solidFill>
                  <a:srgbClr val="455A64"/>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② 提取公因子：左侧提取B，得</a:t>
            </a:r>
            <a:r>
              <a:rPr lang="en-US" b="true" i="false" strike="noStrike" u="none" sz="1400">
                <a:solidFill>
                  <a:srgbClr val="000000"/>
                </a:solidFill>
                <a:latin typeface="Noto Sans SC"/>
                <a:ea typeface="Noto Sans SC"/>
                <a:cs typeface="Noto Sans SC"/>
                <a:sym typeface="Noto Sans SC"/>
              </a:rPr>
              <a:t>(A⁻¹ - E)BA = 6A</a:t>
            </a:r>
            <a:r>
              <a:rPr lang="en-US" b="false" i="false" strike="noStrike" u="none" sz="1400">
                <a:solidFill>
                  <a:srgbClr val="455A64"/>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③ 消元简化：两边右乘A⁻¹，得</a:t>
            </a:r>
            <a:r>
              <a:rPr lang="en-US" b="true" i="false" strike="noStrike" u="none" sz="1400">
                <a:solidFill>
                  <a:srgbClr val="000000"/>
                </a:solidFill>
                <a:latin typeface="Noto Sans SC"/>
                <a:ea typeface="Noto Sans SC"/>
                <a:cs typeface="Noto Sans SC"/>
                <a:sym typeface="Noto Sans SC"/>
              </a:rPr>
              <a:t>(A⁻¹ - E)B = 6E</a:t>
            </a:r>
            <a:r>
              <a:rPr lang="en-US" b="false" i="false" strike="noStrike" u="none" sz="1400">
                <a:solidFill>
                  <a:srgbClr val="455A64"/>
                </a:solidFill>
                <a:latin typeface="Noto Sans SC"/>
                <a:ea typeface="Noto Sans SC"/>
                <a:cs typeface="Noto Sans SC"/>
                <a:sym typeface="Noto Sans SC"/>
              </a:rPr>
              <a:t>。</a:t>
            </a:r>
          </a:p>
        </p:txBody>
      </p:sp>
      <p:sp>
        <p:nvSpPr>
          <p:cNvPr name="AutoShape 9" id="9"/>
          <p:cNvSpPr/>
          <p:nvPr/>
        </p:nvSpPr>
        <p:spPr>
          <a:xfrm rot="0" flipH="false" flipV="false">
            <a:off x="6159500" y="3048000"/>
            <a:ext cx="5270500" cy="20955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50000" y="3175000"/>
            <a:ext cx="4889500" cy="184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STEP 04-06：矩阵运算求解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455A64"/>
                </a:solidFill>
                <a:latin typeface="Noto Sans SC"/>
                <a:ea typeface="Noto Sans SC"/>
                <a:cs typeface="Noto Sans SC"/>
                <a:sym typeface="Noto Sans SC"/>
              </a:rPr>
              <a:t>④ 计算逆矩阵：求得 A⁻¹ = diag(3, 4, 7)；</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⑤ 计算差值矩阵：A⁻¹ - E = diag(2, 3, 6)；</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⑥ 最终计算：B = 6(A⁻¹ - E)⁻¹，代入逆矩阵数乘后得到结果。</a:t>
            </a:r>
          </a:p>
        </p:txBody>
      </p:sp>
      <p:sp>
        <p:nvSpPr>
          <p:cNvPr name="AutoShape 11" id="11"/>
          <p:cNvSpPr/>
          <p:nvPr/>
        </p:nvSpPr>
        <p:spPr>
          <a:xfrm rot="0" flipH="false" flipV="false">
            <a:off x="762000" y="5461000"/>
            <a:ext cx="10668000" cy="10795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62000" y="5461000"/>
            <a:ext cx="76200" cy="1079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016000" y="5588000"/>
            <a:ext cx="3048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最终答案</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546E7A"/>
                </a:solidFill>
                <a:latin typeface="Noto Sans SC"/>
                <a:ea typeface="Noto Sans SC"/>
                <a:cs typeface="Noto Sans SC"/>
                <a:sym typeface="Noto Sans SC"/>
              </a:rPr>
              <a:t>矩阵 B 的最终计算结果为：</a:t>
            </a:r>
          </a:p>
        </p:txBody>
      </p:sp>
      <p:cxnSp>
        <p:nvCxnSpPr>
          <p:cNvPr name="Connector 14" id="14"/>
          <p:cNvCxnSpPr/>
          <p:nvPr/>
        </p:nvCxnSpPr>
        <p:spPr>
          <a:xfrm rot="5337502" flipH="false" flipV="false">
            <a:off x="3968750" y="5994458"/>
            <a:ext cx="698500" cy="12700"/>
          </a:xfrm>
          <a:prstGeom prst="straightConnector1">
            <a:avLst/>
          </a:prstGeom>
          <a:solidFill>
            <a:srgbClr val="DEE0E3">
              <a:alpha val="100000"/>
            </a:srgbClr>
          </a:solidFill>
          <a:ln w="12700" cmpd="sng" cap="flat">
            <a:solidFill>
              <a:srgbClr val="26A69A">
                <a:alpha val="40000"/>
              </a:srgbClr>
            </a:solidFill>
            <a:prstDash val="solid"/>
            <a:round/>
            <a:headEnd type="none" w="med" len="med"/>
            <a:tailEnd type="none" w="med" len="med"/>
          </a:ln>
        </p:spPr>
      </p:cxnSp>
      <p:sp>
        <p:nvSpPr>
          <p:cNvPr name="AutoShape 15" id="15"/>
          <p:cNvSpPr/>
          <p:nvPr/>
        </p:nvSpPr>
        <p:spPr>
          <a:xfrm rot="0" flipH="false" flipV="false">
            <a:off x="4572000" y="5588000"/>
            <a:ext cx="6604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600">
                <a:solidFill>
                  <a:srgbClr val="37474F"/>
                </a:solidFill>
                <a:latin typeface="Noto Sans SC"/>
                <a:ea typeface="Noto Sans SC"/>
                <a:cs typeface="Noto Sans SC"/>
                <a:sym typeface="Noto Sans SC"/>
              </a:rPr>
              <a:t>B = ⎛ 3 0 0 ⎞</a:t>
            </a:r>
            <a:r>
              <a:rPr lang="en-US" b="true" i="false" strike="noStrike" u="none" sz="1600">
                <a:solidFill>
                  <a:srgbClr val="37474F"/>
                </a:solidFill>
                <a:latin typeface="Noto Sans SC"/>
                <a:ea typeface="Noto Sans SC"/>
                <a:cs typeface="Noto Sans SC"/>
                <a:sym typeface="Noto Sans SC"/>
              </a:rPr>
              <a:t/>
            </a:r>
            <a:endParaRPr lang="en-US" sz="1100"/>
          </a:p>
          <a:p>
            <a:pPr algn="l" marL="0" indent="0">
              <a:lnSpc>
                <a:spcPct val="91666"/>
              </a:lnSpc>
            </a:pPr>
            <a:r>
              <a:rPr lang="en-US" b="true" i="false" strike="noStrike" u="none" sz="1600">
                <a:solidFill>
                  <a:srgbClr val="37474F"/>
                </a:solidFill>
                <a:latin typeface="Noto Sans SC"/>
                <a:ea typeface="Noto Sans SC"/>
                <a:cs typeface="Noto Sans SC"/>
                <a:sym typeface="Noto Sans SC"/>
              </a:rPr>
              <a:t>⎜ 0 2 0 ⎟</a:t>
            </a:r>
            <a:r>
              <a:rPr lang="en-US" b="true" i="false" strike="noStrike" u="none" sz="1600">
                <a:solidFill>
                  <a:srgbClr val="37474F"/>
                </a:solidFill>
                <a:latin typeface="Noto Sans SC"/>
                <a:ea typeface="Noto Sans SC"/>
                <a:cs typeface="Noto Sans SC"/>
                <a:sym typeface="Noto Sans SC"/>
              </a:rPr>
              <a:t/>
            </a:r>
          </a:p>
          <a:p>
            <a:pPr algn="l" marL="0" indent="0">
              <a:lnSpc>
                <a:spcPct val="91666"/>
              </a:lnSpc>
            </a:pPr>
            <a:r>
              <a:rPr lang="en-US" b="true" i="false" strike="noStrike" u="none" sz="1600">
                <a:solidFill>
                  <a:srgbClr val="37474F"/>
                </a:solidFill>
                <a:latin typeface="Noto Sans SC"/>
                <a:ea typeface="Noto Sans SC"/>
                <a:cs typeface="Noto Sans SC"/>
                <a:sym typeface="Noto Sans SC"/>
              </a:rPr>
              <a:t>⎝ 0 0 1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9：向量组线性相关性</a:t>
            </a:r>
            <a:endParaRPr lang="en-US" sz="1100"/>
          </a:p>
        </p:txBody>
      </p:sp>
      <p:cxnSp>
        <p:nvCxnSpPr>
          <p:cNvPr name="Connector 4" id="4"/>
          <p:cNvCxnSpPr/>
          <p:nvPr/>
        </p:nvCxnSpPr>
        <p:spPr>
          <a:xfrm rot="-4092" flipH="false" flipV="false">
            <a:off x="762004" y="1390650"/>
            <a:ext cx="10668000" cy="12700"/>
          </a:xfrm>
          <a:prstGeom prst="straightConnector1">
            <a:avLst/>
          </a:prstGeom>
          <a:solidFill>
            <a:srgbClr val="DEE0E3">
              <a:alpha val="100000"/>
            </a:srgbClr>
          </a:solidFill>
          <a:ln w="25400" cmpd="sng" cap="flat">
            <a:solidFill>
              <a:srgbClr val="26A69A">
                <a:alpha val="50000"/>
              </a:srgbClr>
            </a:solidFill>
            <a:prstDash val="solid"/>
            <a:round/>
            <a:headEnd type="none" w="lg" len="lg"/>
            <a:tailEnd type="none" w="lg" len="lg"/>
          </a:ln>
        </p:spPr>
      </p:cxnSp>
      <p:sp>
        <p:nvSpPr>
          <p:cNvPr name="AutoShape 5" id="5"/>
          <p:cNvSpPr/>
          <p:nvPr/>
        </p:nvSpPr>
        <p:spPr>
          <a:xfrm rot="0" flipH="false" flipV="false">
            <a:off x="762000" y="1905000"/>
            <a:ext cx="4318000" cy="3048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4318000" cy="508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889000" y="2006600"/>
            <a:ext cx="304800" cy="304800"/>
          </a:xfrm>
          <a:prstGeom prst="rect">
            <a:avLst/>
          </a:prstGeom>
        </p:spPr>
      </p:pic>
      <p:sp>
        <p:nvSpPr>
          <p:cNvPr name="AutoShape 8" id="8"/>
          <p:cNvSpPr/>
          <p:nvPr/>
        </p:nvSpPr>
        <p:spPr>
          <a:xfrm rot="0" flipH="false" flipV="false">
            <a:off x="1270000" y="1968500"/>
            <a:ext cx="355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已知条件与问题</a:t>
            </a:r>
            <a:endParaRPr lang="en-US" sz="1100"/>
          </a:p>
        </p:txBody>
      </p:sp>
      <p:sp>
        <p:nvSpPr>
          <p:cNvPr name="AutoShape 9" id="9"/>
          <p:cNvSpPr/>
          <p:nvPr/>
        </p:nvSpPr>
        <p:spPr>
          <a:xfrm rot="0" flipH="false" flipV="false">
            <a:off x="952500" y="2667000"/>
            <a:ext cx="3937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74F"/>
                </a:solidFill>
                <a:latin typeface="Noto Sans SC"/>
                <a:ea typeface="Noto Sans SC"/>
                <a:cs typeface="Noto Sans SC"/>
                <a:sym typeface="Noto Sans SC"/>
              </a:rPr>
              <a:t>给定向量组：α₁=[1,-1,0,4]ᵀ，α₂=[2,1,5,6]ᵀ，α₃=[1,-1,-2,0]ᵀ，α₄=[3,0,7,k]ᵀ。</a:t>
            </a:r>
            <a:r>
              <a:rPr lang="en-US" b="false" i="false" strike="noStrike" u="none" sz="1400">
                <a:solidFill>
                  <a:srgbClr val="37474F"/>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37474F"/>
                </a:solidFill>
                <a:latin typeface="Noto Sans SC"/>
                <a:ea typeface="Noto Sans SC"/>
                <a:cs typeface="Noto Sans SC"/>
                <a:sym typeface="Noto Sans SC"/>
              </a:rPr>
              <a:t>求解目标：</a:t>
            </a:r>
            <a:r>
              <a:rPr lang="en-US" b="false" i="false" strike="noStrike" u="none" sz="1400">
                <a:solidFill>
                  <a:srgbClr val="37474F"/>
                </a:solidFill>
                <a:latin typeface="Noto Sans SC"/>
                <a:ea typeface="Noto Sans SC"/>
                <a:cs typeface="Noto Sans SC"/>
                <a:sym typeface="Noto Sans SC"/>
              </a:rPr>
              <a:t>确定参数 k 的取值使向量组线性相关；并在相关时求出其最大无关组，将其余向量由该组线性表示。</a:t>
            </a:r>
          </a:p>
        </p:txBody>
      </p:sp>
      <p:sp>
        <p:nvSpPr>
          <p:cNvPr name="AutoShape 10" id="10"/>
          <p:cNvSpPr/>
          <p:nvPr/>
        </p:nvSpPr>
        <p:spPr>
          <a:xfrm rot="0" flipH="false" flipV="false">
            <a:off x="5588000" y="1905000"/>
            <a:ext cx="5842000" cy="3048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588000" y="1905000"/>
            <a:ext cx="5842000" cy="508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715000" y="2006600"/>
            <a:ext cx="304800" cy="304800"/>
          </a:xfrm>
          <a:prstGeom prst="rect">
            <a:avLst/>
          </a:prstGeom>
        </p:spPr>
      </p:pic>
      <p:sp>
        <p:nvSpPr>
          <p:cNvPr name="AutoShape 13" id="13"/>
          <p:cNvSpPr/>
          <p:nvPr/>
        </p:nvSpPr>
        <p:spPr>
          <a:xfrm rot="0" flipH="false" flipV="false">
            <a:off x="6096000" y="19685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核心分析思路：矩阵初等行变换</a:t>
            </a:r>
            <a:endParaRPr lang="en-US" sz="1100"/>
          </a:p>
        </p:txBody>
      </p:sp>
      <p:sp>
        <p:nvSpPr>
          <p:cNvPr name="AutoShape 14" id="14"/>
          <p:cNvSpPr/>
          <p:nvPr/>
        </p:nvSpPr>
        <p:spPr>
          <a:xfrm rot="0" flipH="false" flipV="false">
            <a:off x="5778500" y="2667000"/>
            <a:ext cx="5461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400">
                <a:solidFill>
                  <a:srgbClr val="37474F"/>
                </a:solidFill>
                <a:latin typeface="Noto Sans SC"/>
                <a:ea typeface="Noto Sans SC"/>
                <a:cs typeface="Noto Sans SC"/>
                <a:sym typeface="Noto Sans SC"/>
              </a:rPr>
              <a:t>1. 构建矩阵并化简：</a:t>
            </a:r>
            <a:r>
              <a:rPr lang="en-US" b="false" i="false" strike="noStrike" u="none" sz="1400">
                <a:solidFill>
                  <a:srgbClr val="546E7A"/>
                </a:solidFill>
                <a:latin typeface="Noto Sans SC"/>
                <a:ea typeface="Noto Sans SC"/>
                <a:cs typeface="Noto Sans SC"/>
                <a:sym typeface="Noto Sans SC"/>
              </a:rPr>
              <a:t>将向量组按列构成矩阵 A=(α₁,α₂,α₃,α₄)，对其进行初等行变换化为行阶梯形，分析矩阵的秩与向量个数的关系。</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33333"/>
              </a:lnSpc>
            </a:pPr>
            <a:r>
              <a:rPr lang="en-US" b="true" i="false" strike="noStrike" u="none" sz="1400">
                <a:solidFill>
                  <a:srgbClr val="37474F"/>
                </a:solidFill>
                <a:latin typeface="Noto Sans SC"/>
                <a:ea typeface="Noto Sans SC"/>
                <a:cs typeface="Noto Sans SC"/>
                <a:sym typeface="Noto Sans SC"/>
              </a:rPr>
              <a:t>2. 确定参数 k：</a:t>
            </a:r>
            <a:r>
              <a:rPr lang="en-US" b="false" i="false" strike="noStrike" u="none" sz="1400">
                <a:solidFill>
                  <a:srgbClr val="546E7A"/>
                </a:solidFill>
                <a:latin typeface="Noto Sans SC"/>
                <a:ea typeface="Noto Sans SC"/>
                <a:cs typeface="Noto Sans SC"/>
                <a:sym typeface="Noto Sans SC"/>
              </a:rPr>
              <a:t>当矩阵的秩小于向量个数 4 时，向量组线性相关，由此解出 k 的取值；再进一步化为行最简形，确定最大无关组及线性表示系数。</a:t>
            </a:r>
          </a:p>
        </p:txBody>
      </p:sp>
      <p:sp>
        <p:nvSpPr>
          <p:cNvPr name="AutoShape 15" id="15"/>
          <p:cNvSpPr/>
          <p:nvPr/>
        </p:nvSpPr>
        <p:spPr>
          <a:xfrm rot="0" flipH="false" flipV="false">
            <a:off x="762000" y="5334000"/>
            <a:ext cx="5270500" cy="1143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524500"/>
            <a:ext cx="355600" cy="355600"/>
          </a:xfrm>
          <a:prstGeom prst="rect">
            <a:avLst/>
          </a:prstGeom>
        </p:spPr>
      </p:pic>
      <p:sp>
        <p:nvSpPr>
          <p:cNvPr name="AutoShape 17" id="17"/>
          <p:cNvSpPr/>
          <p:nvPr/>
        </p:nvSpPr>
        <p:spPr>
          <a:xfrm rot="0" flipH="false" flipV="false">
            <a:off x="1460500" y="5461000"/>
            <a:ext cx="4381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关键结论一：参数 k 的值</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546E7A"/>
                </a:solidFill>
                <a:latin typeface="Noto Sans SC"/>
                <a:ea typeface="Noto Sans SC"/>
                <a:cs typeface="Noto Sans SC"/>
                <a:sym typeface="Noto Sans SC"/>
              </a:rPr>
              <a:t>通过秩的判定可得，当 k=10 时，矩阵的秩为 3 &lt; 4，此时向量组线性相关。</a:t>
            </a:r>
          </a:p>
        </p:txBody>
      </p:sp>
      <p:sp>
        <p:nvSpPr>
          <p:cNvPr name="AutoShape 18" id="18"/>
          <p:cNvSpPr/>
          <p:nvPr/>
        </p:nvSpPr>
        <p:spPr>
          <a:xfrm rot="0" flipH="false" flipV="false">
            <a:off x="6286500" y="5334000"/>
            <a:ext cx="5270500" cy="1143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5524500"/>
            <a:ext cx="355600" cy="355600"/>
          </a:xfrm>
          <a:prstGeom prst="rect">
            <a:avLst/>
          </a:prstGeom>
        </p:spPr>
      </p:pic>
      <p:sp>
        <p:nvSpPr>
          <p:cNvPr name="AutoShape 20" id="20"/>
          <p:cNvSpPr/>
          <p:nvPr/>
        </p:nvSpPr>
        <p:spPr>
          <a:xfrm rot="0" flipH="false" flipV="false">
            <a:off x="6985000" y="54610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关键结论二：无关组与线性表示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300">
                <a:solidFill>
                  <a:srgbClr val="546E7A"/>
                </a:solidFill>
                <a:latin typeface="Noto Sans SC"/>
                <a:ea typeface="Noto Sans SC"/>
                <a:cs typeface="Noto Sans SC"/>
                <a:sym typeface="Noto Sans SC"/>
              </a:rPr>
              <a:t>α₁,α₂,α₃ 为一个最大无关组，且可推导出 α₄ = α₁ + α₂ + α₃，完成其余向量的线性表示。</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9：解题思路</a:t>
            </a:r>
            <a:endParaRPr lang="en-US" sz="1100"/>
          </a:p>
        </p:txBody>
      </p:sp>
      <p:sp>
        <p:nvSpPr>
          <p:cNvPr name="AutoShape 4" id="4"/>
          <p:cNvSpPr/>
          <p:nvPr/>
        </p:nvSpPr>
        <p:spPr>
          <a:xfrm rot="0" flipH="false" flipV="false">
            <a:off x="762000" y="1397000"/>
            <a:ext cx="10668000" cy="1143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76200" cy="1143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524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74F"/>
                </a:solidFill>
                <a:latin typeface="Noto Sans SC"/>
                <a:ea typeface="Noto Sans SC"/>
                <a:cs typeface="Noto Sans SC"/>
                <a:sym typeface="Noto Sans SC"/>
              </a:rPr>
              <a:t>核心思路是将向量组按列构成矩阵，通过初等行变换化为行阶梯形，矩阵的秩即为向量组的秩。若秩小于向量个数，则向量组线性相关；再通过行最简形可直接确定最大无关组，并得出其余向量由该组线性表示的系数。</a:t>
            </a:r>
            <a:endParaRPr lang="en-US" sz="1100"/>
          </a:p>
        </p:txBody>
      </p:sp>
      <p:sp>
        <p:nvSpPr>
          <p:cNvPr name="AutoShape 7" id="7"/>
          <p:cNvSpPr/>
          <p:nvPr/>
        </p:nvSpPr>
        <p:spPr>
          <a:xfrm rot="0" flipH="false" flipV="false">
            <a:off x="762000" y="2921000"/>
            <a:ext cx="5207000" cy="1651000"/>
          </a:xfrm>
          <a:prstGeom prst="roundRect">
            <a:avLst>
              <a:gd name="adj" fmla="val 0"/>
            </a:avLst>
          </a:prstGeom>
          <a:solidFill>
            <a:srgbClr val="FFFFFF">
              <a:alpha val="7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8" id="8"/>
          <p:cNvSpPr/>
          <p:nvPr/>
        </p:nvSpPr>
        <p:spPr>
          <a:xfrm rot="0" flipH="false" flipV="false">
            <a:off x="762000" y="2921000"/>
            <a:ext cx="50800" cy="1651000"/>
          </a:xfrm>
          <a:prstGeom prst="roundRect">
            <a:avLst>
              <a:gd name="adj" fmla="val 0"/>
            </a:avLst>
          </a:prstGeom>
          <a:solidFill>
            <a:srgbClr val="26A69A">
              <a:alpha val="6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048000"/>
            <a:ext cx="304800" cy="304800"/>
          </a:xfrm>
          <a:prstGeom prst="rect">
            <a:avLst/>
          </a:prstGeom>
        </p:spPr>
      </p:pic>
      <p:sp>
        <p:nvSpPr>
          <p:cNvPr name="AutoShape 10" id="10"/>
          <p:cNvSpPr/>
          <p:nvPr/>
        </p:nvSpPr>
        <p:spPr>
          <a:xfrm rot="0" flipH="false" flipV="false">
            <a:off x="1397000" y="30226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构造矩阵并初等行变换</a:t>
            </a:r>
            <a:endParaRPr lang="en-US" sz="1100"/>
          </a:p>
        </p:txBody>
      </p:sp>
      <p:cxnSp>
        <p:nvCxnSpPr>
          <p:cNvPr name="Connector 11" id="11"/>
          <p:cNvCxnSpPr/>
          <p:nvPr/>
        </p:nvCxnSpPr>
        <p:spPr>
          <a:xfrm rot="-9046" flipH="false" flipV="false">
            <a:off x="952508" y="3422650"/>
            <a:ext cx="4826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12" id="12"/>
          <p:cNvSpPr/>
          <p:nvPr/>
        </p:nvSpPr>
        <p:spPr>
          <a:xfrm rot="0" flipH="false" flipV="false">
            <a:off x="952500" y="3530600"/>
            <a:ext cx="4889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55A64"/>
                </a:solidFill>
                <a:latin typeface="Noto Sans SC"/>
                <a:ea typeface="Noto Sans SC"/>
                <a:cs typeface="Noto Sans SC"/>
                <a:sym typeface="Noto Sans SC"/>
              </a:rPr>
              <a:t>将向量组按列构造矩阵：</a:t>
            </a:r>
            <a:r>
              <a:rPr lang="en-US" b="false" i="false" strike="noStrike" u="none" sz="1200">
                <a:solidFill>
                  <a:srgbClr val="455A64"/>
                </a:solidFill>
                <a:latin typeface="Noto Sans SC"/>
                <a:ea typeface="Noto Sans SC"/>
                <a:cs typeface="Noto Sans SC"/>
                <a:sym typeface="Noto Sans SC"/>
              </a:rPr>
              <a:t/>
            </a:r>
            <a:endParaRPr lang="en-US" sz="1100"/>
          </a:p>
          <a:p>
            <a:pPr algn="ctr" marL="0" indent="0">
              <a:lnSpc>
                <a:spcPct val="100000"/>
              </a:lnSpc>
            </a:pPr>
            <a:r>
              <a:rPr lang="en-US" b="false" i="false" strike="noStrike" u="none" sz="1200">
                <a:solidFill>
                  <a:srgbClr val="455A64"/>
                </a:solidFill>
                <a:latin typeface="Noto Sans SC"/>
                <a:ea typeface="Noto Sans SC"/>
                <a:cs typeface="Noto Sans SC"/>
                <a:sym typeface="Noto Sans SC"/>
              </a:rPr>
              <a:t>A = ⎛ 1 2 1 3 ⎞</a:t>
            </a:r>
            <a:r>
              <a:rPr lang="en-US" b="false" i="false" strike="noStrike" u="none" sz="1200">
                <a:solidFill>
                  <a:srgbClr val="455A64"/>
                </a:solidFill>
                <a:latin typeface="Noto Sans SC"/>
                <a:ea typeface="Noto Sans SC"/>
                <a:cs typeface="Noto Sans SC"/>
                <a:sym typeface="Noto Sans SC"/>
              </a:rPr>
              <a:t/>
            </a:r>
          </a:p>
          <a:p>
            <a:pPr algn="ctr" marL="0" indent="0">
              <a:lnSpc>
                <a:spcPct val="100000"/>
              </a:lnSpc>
            </a:pPr>
            <a:r>
              <a:rPr lang="en-US" b="false" i="false" strike="noStrike" u="none" sz="1200">
                <a:solidFill>
                  <a:srgbClr val="455A64"/>
                </a:solidFill>
                <a:latin typeface="Noto Sans SC"/>
                <a:ea typeface="Noto Sans SC"/>
                <a:cs typeface="Noto Sans SC"/>
                <a:sym typeface="Noto Sans SC"/>
              </a:rPr>
              <a:t>⎜-1 1 -1 0 ⎟</a:t>
            </a:r>
            <a:r>
              <a:rPr lang="en-US" b="false" i="false" strike="noStrike" u="none" sz="1200">
                <a:solidFill>
                  <a:srgbClr val="455A64"/>
                </a:solidFill>
                <a:latin typeface="Noto Sans SC"/>
                <a:ea typeface="Noto Sans SC"/>
                <a:cs typeface="Noto Sans SC"/>
                <a:sym typeface="Noto Sans SC"/>
              </a:rPr>
              <a:t/>
            </a:r>
          </a:p>
          <a:p>
            <a:pPr algn="ctr" marL="0" indent="0">
              <a:lnSpc>
                <a:spcPct val="100000"/>
              </a:lnSpc>
            </a:pPr>
            <a:r>
              <a:rPr lang="en-US" b="false" i="false" strike="noStrike" u="none" sz="1200">
                <a:solidFill>
                  <a:srgbClr val="455A64"/>
                </a:solidFill>
                <a:latin typeface="Noto Sans SC"/>
                <a:ea typeface="Noto Sans SC"/>
                <a:cs typeface="Noto Sans SC"/>
                <a:sym typeface="Noto Sans SC"/>
              </a:rPr>
              <a:t>⎜ 0 5 -2 7 ⎟</a:t>
            </a:r>
            <a:r>
              <a:rPr lang="en-US" b="false" i="false" strike="noStrike" u="none" sz="1200">
                <a:solidFill>
                  <a:srgbClr val="455A64"/>
                </a:solidFill>
                <a:latin typeface="Noto Sans SC"/>
                <a:ea typeface="Noto Sans SC"/>
                <a:cs typeface="Noto Sans SC"/>
                <a:sym typeface="Noto Sans SC"/>
              </a:rPr>
              <a:t/>
            </a:r>
          </a:p>
          <a:p>
            <a:pPr algn="ctr" marL="0" indent="0">
              <a:lnSpc>
                <a:spcPct val="100000"/>
              </a:lnSpc>
            </a:pPr>
            <a:r>
              <a:rPr lang="en-US" b="false" i="false" strike="noStrike" u="none" sz="1200">
                <a:solidFill>
                  <a:srgbClr val="455A64"/>
                </a:solidFill>
                <a:latin typeface="Noto Sans SC"/>
                <a:ea typeface="Noto Sans SC"/>
                <a:cs typeface="Noto Sans SC"/>
                <a:sym typeface="Noto Sans SC"/>
              </a:rPr>
              <a:t>⎝ 4 6 0 k ⎠</a:t>
            </a:r>
            <a:r>
              <a:rPr lang="en-US" b="false" i="false" strike="noStrike" u="none" sz="1200">
                <a:solidFill>
                  <a:srgbClr val="455A64"/>
                </a:solidFill>
                <a:latin typeface="Noto Sans SC"/>
                <a:ea typeface="Noto Sans SC"/>
                <a:cs typeface="Noto Sans SC"/>
                <a:sym typeface="Noto Sans SC"/>
              </a:rPr>
              <a:t/>
            </a:r>
          </a:p>
          <a:p>
            <a:pPr algn="l" marL="0" indent="0">
              <a:lnSpc>
                <a:spcPct val="100000"/>
              </a:lnSpc>
            </a:pPr>
            <a:r>
              <a:rPr lang="en-US" b="false" i="false" strike="noStrike" u="none" sz="1200">
                <a:solidFill>
                  <a:srgbClr val="455A64"/>
                </a:solidFill>
                <a:latin typeface="Noto Sans SC"/>
                <a:ea typeface="Noto Sans SC"/>
                <a:cs typeface="Noto Sans SC"/>
                <a:sym typeface="Noto Sans SC"/>
              </a:rPr>
              <a:t>对其施行初等行变换，转化为行阶梯形矩阵，以便后续求秩与判断相关性。</a:t>
            </a:r>
          </a:p>
        </p:txBody>
      </p:sp>
      <p:sp>
        <p:nvSpPr>
          <p:cNvPr name="AutoShape 13" id="13"/>
          <p:cNvSpPr/>
          <p:nvPr/>
        </p:nvSpPr>
        <p:spPr>
          <a:xfrm rot="0" flipH="false" flipV="false">
            <a:off x="762000" y="4762500"/>
            <a:ext cx="5207000" cy="1460500"/>
          </a:xfrm>
          <a:prstGeom prst="roundRect">
            <a:avLst>
              <a:gd name="adj" fmla="val 0"/>
            </a:avLst>
          </a:prstGeom>
          <a:solidFill>
            <a:srgbClr val="FFFFFF">
              <a:alpha val="7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762000" y="4762500"/>
            <a:ext cx="50800" cy="1460500"/>
          </a:xfrm>
          <a:prstGeom prst="roundRect">
            <a:avLst>
              <a:gd name="adj" fmla="val 0"/>
            </a:avLst>
          </a:prstGeom>
          <a:solidFill>
            <a:srgbClr val="26A69A">
              <a:alpha val="6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5" id="15"/>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4889500"/>
            <a:ext cx="304800" cy="304800"/>
          </a:xfrm>
          <a:prstGeom prst="rect">
            <a:avLst/>
          </a:prstGeom>
        </p:spPr>
      </p:pic>
      <p:sp>
        <p:nvSpPr>
          <p:cNvPr name="AutoShape 16" id="16"/>
          <p:cNvSpPr/>
          <p:nvPr/>
        </p:nvSpPr>
        <p:spPr>
          <a:xfrm rot="0" flipH="false" flipV="false">
            <a:off x="1397000" y="48641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02. 判断向量组线性相关性</a:t>
            </a:r>
            <a:endParaRPr lang="en-US" sz="1100"/>
          </a:p>
        </p:txBody>
      </p:sp>
      <p:cxnSp>
        <p:nvCxnSpPr>
          <p:cNvPr name="Connector 17" id="17"/>
          <p:cNvCxnSpPr/>
          <p:nvPr/>
        </p:nvCxnSpPr>
        <p:spPr>
          <a:xfrm rot="-9046" flipH="false" flipV="false">
            <a:off x="952508" y="5327650"/>
            <a:ext cx="4826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18" id="18"/>
          <p:cNvSpPr/>
          <p:nvPr/>
        </p:nvSpPr>
        <p:spPr>
          <a:xfrm rot="0" flipH="false" flipV="false">
            <a:off x="952500" y="5422900"/>
            <a:ext cx="4889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55A64"/>
                </a:solidFill>
                <a:latin typeface="Noto Sans SC"/>
                <a:ea typeface="Noto Sans SC"/>
                <a:cs typeface="Noto Sans SC"/>
                <a:sym typeface="Noto Sans SC"/>
              </a:rPr>
              <a:t>当 k=14 时，求得矩阵的秩 r(A) = 3，小于向量组所含向量个数 4，根据秩的判定定理，可直接得出该向量组线性相关。</a:t>
            </a:r>
            <a:endParaRPr lang="en-US" sz="1100"/>
          </a:p>
        </p:txBody>
      </p:sp>
      <p:cxnSp>
        <p:nvCxnSpPr>
          <p:cNvPr name="Connector 19" id="19"/>
          <p:cNvCxnSpPr/>
          <p:nvPr/>
        </p:nvCxnSpPr>
        <p:spPr>
          <a:xfrm rot="5386777" flipH="false" flipV="false">
            <a:off x="4572000" y="4565662"/>
            <a:ext cx="3302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20" id="20"/>
          <p:cNvSpPr/>
          <p:nvPr/>
        </p:nvSpPr>
        <p:spPr>
          <a:xfrm rot="0" flipH="false" flipV="false">
            <a:off x="6477000" y="2921000"/>
            <a:ext cx="52070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77000" y="2921000"/>
            <a:ext cx="50800" cy="1460500"/>
          </a:xfrm>
          <a:prstGeom prst="roundRect">
            <a:avLst>
              <a:gd name="adj" fmla="val 0"/>
            </a:avLst>
          </a:prstGeom>
          <a:solidFill>
            <a:srgbClr val="26A69A">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67500" y="3048000"/>
            <a:ext cx="304800" cy="304800"/>
          </a:xfrm>
          <a:prstGeom prst="rect">
            <a:avLst/>
          </a:prstGeom>
        </p:spPr>
      </p:pic>
      <p:sp>
        <p:nvSpPr>
          <p:cNvPr name="AutoShape 23" id="23"/>
          <p:cNvSpPr/>
          <p:nvPr/>
        </p:nvSpPr>
        <p:spPr>
          <a:xfrm rot="0" flipH="false" flipV="false">
            <a:off x="7112000" y="30226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03. 确定最大线性无关组</a:t>
            </a:r>
            <a:endParaRPr lang="en-US" sz="1100"/>
          </a:p>
        </p:txBody>
      </p:sp>
      <p:cxnSp>
        <p:nvCxnSpPr>
          <p:cNvPr name="Connector 24" id="24"/>
          <p:cNvCxnSpPr/>
          <p:nvPr/>
        </p:nvCxnSpPr>
        <p:spPr>
          <a:xfrm rot="-9046" flipH="false" flipV="false">
            <a:off x="6667508" y="3486150"/>
            <a:ext cx="4826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25" id="25"/>
          <p:cNvSpPr/>
          <p:nvPr/>
        </p:nvSpPr>
        <p:spPr>
          <a:xfrm rot="0" flipH="false" flipV="false">
            <a:off x="6667500" y="3581400"/>
            <a:ext cx="4889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55A64"/>
                </a:solidFill>
                <a:latin typeface="Noto Sans SC"/>
                <a:ea typeface="Noto Sans SC"/>
                <a:cs typeface="Noto Sans SC"/>
                <a:sym typeface="Noto Sans SC"/>
              </a:rPr>
              <a:t>行最简形矩阵中主元（非零首元）所在的列对应原矩阵的第1、2、3列，因此 α₁, α₂, α₃ 构成该向量组的一个最大线性无关组。</a:t>
            </a:r>
            <a:endParaRPr lang="en-US" sz="1100"/>
          </a:p>
        </p:txBody>
      </p:sp>
      <p:sp>
        <p:nvSpPr>
          <p:cNvPr name="AutoShape 26" id="26"/>
          <p:cNvSpPr/>
          <p:nvPr/>
        </p:nvSpPr>
        <p:spPr>
          <a:xfrm rot="0" flipH="false" flipV="false">
            <a:off x="6477000" y="4762500"/>
            <a:ext cx="5207000" cy="1460500"/>
          </a:xfrm>
          <a:prstGeom prst="roundRect">
            <a:avLst>
              <a:gd name="adj" fmla="val 0"/>
            </a:avLst>
          </a:prstGeom>
          <a:solidFill>
            <a:srgbClr val="FFFFFF">
              <a:alpha val="7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7" id="27"/>
          <p:cNvSpPr/>
          <p:nvPr/>
        </p:nvSpPr>
        <p:spPr>
          <a:xfrm rot="0" flipH="false" flipV="false">
            <a:off x="6477000" y="4762500"/>
            <a:ext cx="50800" cy="1460500"/>
          </a:xfrm>
          <a:prstGeom prst="roundRect">
            <a:avLst>
              <a:gd name="adj" fmla="val 0"/>
            </a:avLst>
          </a:prstGeom>
          <a:solidFill>
            <a:srgbClr val="26A69A">
              <a:alpha val="60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8" id="2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67500" y="4889500"/>
            <a:ext cx="304800" cy="304800"/>
          </a:xfrm>
          <a:prstGeom prst="rect">
            <a:avLst/>
          </a:prstGeom>
        </p:spPr>
      </p:pic>
      <p:sp>
        <p:nvSpPr>
          <p:cNvPr name="AutoShape 29" id="29"/>
          <p:cNvSpPr/>
          <p:nvPr/>
        </p:nvSpPr>
        <p:spPr>
          <a:xfrm rot="0" flipH="false" flipV="false">
            <a:off x="7112000" y="48641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04. 线性表示系数求解</a:t>
            </a:r>
            <a:endParaRPr lang="en-US" sz="1100"/>
          </a:p>
        </p:txBody>
      </p:sp>
      <p:cxnSp>
        <p:nvCxnSpPr>
          <p:cNvPr name="Connector 30" id="30"/>
          <p:cNvCxnSpPr/>
          <p:nvPr/>
        </p:nvCxnSpPr>
        <p:spPr>
          <a:xfrm rot="-9046" flipH="false" flipV="false">
            <a:off x="6667508" y="5327650"/>
            <a:ext cx="4826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31" id="31"/>
          <p:cNvSpPr/>
          <p:nvPr/>
        </p:nvSpPr>
        <p:spPr>
          <a:xfrm rot="0" flipH="false" flipV="false">
            <a:off x="6667500" y="5422900"/>
            <a:ext cx="4889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55A64"/>
                </a:solidFill>
                <a:latin typeface="Noto Sans SC"/>
                <a:ea typeface="Noto Sans SC"/>
                <a:cs typeface="Noto Sans SC"/>
                <a:sym typeface="Noto Sans SC"/>
              </a:rPr>
              <a:t>行最简形第4列的元素即为 α₄ 由最大无关组表示的系数，最终得到表达式：α₄ = 2α₁ + α₂ - α₃。</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问题10：实对称矩阵</a:t>
            </a:r>
            <a:endParaRPr lang="en-US" sz="1100"/>
          </a:p>
        </p:txBody>
      </p:sp>
      <p:sp>
        <p:nvSpPr>
          <p:cNvPr name="AutoShape 4" id="4"/>
          <p:cNvSpPr/>
          <p:nvPr/>
        </p:nvSpPr>
        <p:spPr>
          <a:xfrm rot="0" flipH="false" flipV="false">
            <a:off x="762000" y="1651000"/>
            <a:ext cx="5207000" cy="2794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5207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05000"/>
            <a:ext cx="4699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【题目条件】</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设三阶实对称矩阵</a:t>
            </a:r>
            <a:r>
              <a:rPr lang="en-US" b="false" i="true" strike="noStrike" u="none" sz="1400">
                <a:solidFill>
                  <a:srgbClr val="37474F"/>
                </a:solidFill>
                <a:latin typeface="Noto Sans SC"/>
                <a:ea typeface="Noto Sans SC"/>
                <a:cs typeface="Noto Sans SC"/>
                <a:sym typeface="Noto Sans SC"/>
              </a:rPr>
              <a:t>A</a:t>
            </a:r>
            <a:r>
              <a:rPr lang="en-US" b="false" i="false" strike="noStrike" u="none" sz="1400">
                <a:solidFill>
                  <a:srgbClr val="37474F"/>
                </a:solidFill>
                <a:latin typeface="Noto Sans SC"/>
                <a:ea typeface="Noto Sans SC"/>
                <a:cs typeface="Noto Sans SC"/>
                <a:sym typeface="Noto Sans SC"/>
              </a:rPr>
              <a:t>的秩为 2，二重特征值</a:t>
            </a:r>
            <a:r>
              <a:rPr lang="en-US" b="false" i="true" strike="noStrike" u="none" sz="1400">
                <a:solidFill>
                  <a:srgbClr val="37474F"/>
                </a:solidFill>
                <a:latin typeface="Noto Sans SC"/>
                <a:ea typeface="Noto Sans SC"/>
                <a:cs typeface="Noto Sans SC"/>
                <a:sym typeface="Noto Sans SC"/>
              </a:rPr>
              <a:t>λ₁=λ₂=6</a:t>
            </a:r>
            <a:r>
              <a:rPr lang="en-US" b="false" i="false" strike="noStrike" u="none" sz="1400">
                <a:solidFill>
                  <a:srgbClr val="37474F"/>
                </a:solidFill>
                <a:latin typeface="Noto Sans SC"/>
                <a:ea typeface="Noto Sans SC"/>
                <a:cs typeface="Noto Sans SC"/>
                <a:sym typeface="Noto Sans SC"/>
              </a:rPr>
              <a:t>，其对应的特征向量为</a:t>
            </a:r>
            <a:r>
              <a:rPr lang="en-US" b="false" i="true" strike="noStrike" u="none" sz="1400">
                <a:solidFill>
                  <a:srgbClr val="37474F"/>
                </a:solidFill>
                <a:latin typeface="Noto Sans SC"/>
                <a:ea typeface="Noto Sans SC"/>
                <a:cs typeface="Noto Sans SC"/>
                <a:sym typeface="Noto Sans SC"/>
              </a:rPr>
              <a:t>α₁=[1,0,1]ᵀ</a:t>
            </a:r>
            <a:r>
              <a:rPr lang="en-US" b="false" i="false" strike="noStrike" u="none" sz="1400">
                <a:solidFill>
                  <a:srgbClr val="37474F"/>
                </a:solidFill>
                <a:latin typeface="Noto Sans SC"/>
                <a:ea typeface="Noto Sans SC"/>
                <a:cs typeface="Noto Sans SC"/>
                <a:sym typeface="Noto Sans SC"/>
              </a:rPr>
              <a:t>，</a:t>
            </a:r>
            <a:r>
              <a:rPr lang="en-US" b="false" i="true" strike="noStrike" u="none" sz="1400">
                <a:solidFill>
                  <a:srgbClr val="37474F"/>
                </a:solidFill>
                <a:latin typeface="Noto Sans SC"/>
                <a:ea typeface="Noto Sans SC"/>
                <a:cs typeface="Noto Sans SC"/>
                <a:sym typeface="Noto Sans SC"/>
              </a:rPr>
              <a:t>α₂=[1,2,-1]ᵀ</a:t>
            </a:r>
            <a:r>
              <a:rPr lang="en-US" b="false" i="false" strike="noStrike" u="none" sz="1400">
                <a:solidFill>
                  <a:srgbClr val="37474F"/>
                </a:solidFill>
                <a:latin typeface="Noto Sans SC"/>
                <a:ea typeface="Noto Sans SC"/>
                <a:cs typeface="Noto Sans SC"/>
                <a:sym typeface="Noto Sans SC"/>
              </a:rPr>
              <a:t>。</a:t>
            </a:r>
          </a:p>
        </p:txBody>
      </p:sp>
      <p:sp>
        <p:nvSpPr>
          <p:cNvPr name="AutoShape 7" id="7"/>
          <p:cNvSpPr/>
          <p:nvPr/>
        </p:nvSpPr>
        <p:spPr>
          <a:xfrm rot="0" flipH="false" flipV="false">
            <a:off x="762000" y="4826000"/>
            <a:ext cx="5207000" cy="1397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50165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【求解目标】</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（1）求矩阵 A 的另一特征值及其特征向量；（2）利用实对称矩阵的性质，求矩阵 A 的具体表达式。</a:t>
            </a:r>
          </a:p>
        </p:txBody>
      </p:sp>
      <p:cxnSp>
        <p:nvCxnSpPr>
          <p:cNvPr name="Connector 9" id="9"/>
          <p:cNvCxnSpPr/>
          <p:nvPr/>
        </p:nvCxnSpPr>
        <p:spPr>
          <a:xfrm rot="5390177" flipH="false" flipV="false">
            <a:off x="4064000" y="3994159"/>
            <a:ext cx="4445000" cy="12700"/>
          </a:xfrm>
          <a:prstGeom prst="straightConnector1">
            <a:avLst/>
          </a:prstGeom>
          <a:solidFill>
            <a:srgbClr val="DEE0E3">
              <a:alpha val="100000"/>
            </a:srgbClr>
          </a:solidFill>
          <a:ln w="12700" cmpd="sng" cap="flat">
            <a:solidFill>
              <a:srgbClr val="37474F">
                <a:alpha val="20000"/>
              </a:srgbClr>
            </a:solidFill>
            <a:prstDash val="dash"/>
            <a:round/>
            <a:headEnd type="none" w="med" len="med"/>
            <a:tailEnd type="none" w="med" len="med"/>
          </a:ln>
        </p:spPr>
      </p:cxnSp>
      <p:sp>
        <p:nvSpPr>
          <p:cNvPr name="AutoShape 10" id="10"/>
          <p:cNvSpPr/>
          <p:nvPr/>
        </p:nvSpPr>
        <p:spPr>
          <a:xfrm rot="0" flipH="false" flipV="false">
            <a:off x="6477000" y="1651000"/>
            <a:ext cx="4953000" cy="177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67500" y="1841500"/>
            <a:ext cx="355600" cy="355600"/>
          </a:xfrm>
          <a:prstGeom prst="rect">
            <a:avLst/>
          </a:prstGeom>
        </p:spPr>
      </p:pic>
      <p:sp>
        <p:nvSpPr>
          <p:cNvPr name="AutoShape 12" id="12"/>
          <p:cNvSpPr/>
          <p:nvPr/>
        </p:nvSpPr>
        <p:spPr>
          <a:xfrm rot="0" flipH="false" flipV="false">
            <a:off x="7175500" y="1803400"/>
            <a:ext cx="4127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7474F"/>
                </a:solidFill>
                <a:latin typeface="Noto Sans SC"/>
                <a:ea typeface="Noto Sans SC"/>
                <a:cs typeface="Noto Sans SC"/>
                <a:sym typeface="Noto Sans SC"/>
              </a:rPr>
              <a:t>STEP 1：求第三个特征值 λ₃</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546E7A"/>
                </a:solidFill>
                <a:latin typeface="Noto Sans SC"/>
                <a:ea typeface="Noto Sans SC"/>
                <a:cs typeface="Noto Sans SC"/>
                <a:sym typeface="Noto Sans SC"/>
              </a:rPr>
              <a:t>由 r(A)=2 可知 |A|=0，而矩阵的行列式等于其所有特征值的乘积，即 |A|=λ₁λ₂λ₃=6×6×λ₃=0，故得</a:t>
            </a:r>
            <a:r>
              <a:rPr lang="en-US" b="false" i="true" strike="noStrike" u="none" sz="1300">
                <a:solidFill>
                  <a:srgbClr val="26A69A"/>
                </a:solidFill>
                <a:latin typeface="Noto Sans SC"/>
                <a:ea typeface="Noto Sans SC"/>
                <a:cs typeface="Noto Sans SC"/>
                <a:sym typeface="Noto Sans SC"/>
              </a:rPr>
              <a:t>λ₃=0</a:t>
            </a:r>
            <a:r>
              <a:rPr lang="en-US" b="false" i="false" strike="noStrike" u="none" sz="1300">
                <a:solidFill>
                  <a:srgbClr val="546E7A"/>
                </a:solidFill>
                <a:latin typeface="Noto Sans SC"/>
                <a:ea typeface="Noto Sans SC"/>
                <a:cs typeface="Noto Sans SC"/>
                <a:sym typeface="Noto Sans SC"/>
              </a:rPr>
              <a:t>。</a:t>
            </a:r>
          </a:p>
        </p:txBody>
      </p:sp>
      <p:sp>
        <p:nvSpPr>
          <p:cNvPr name="AutoShape 13" id="13"/>
          <p:cNvSpPr/>
          <p:nvPr/>
        </p:nvSpPr>
        <p:spPr>
          <a:xfrm rot="0" flipH="false" flipV="false">
            <a:off x="6477000" y="3683000"/>
            <a:ext cx="4953000" cy="1651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67500" y="3873500"/>
            <a:ext cx="355600" cy="355600"/>
          </a:xfrm>
          <a:prstGeom prst="rect">
            <a:avLst/>
          </a:prstGeom>
        </p:spPr>
      </p:pic>
      <p:sp>
        <p:nvSpPr>
          <p:cNvPr name="AutoShape 15" id="15"/>
          <p:cNvSpPr/>
          <p:nvPr/>
        </p:nvSpPr>
        <p:spPr>
          <a:xfrm rot="0" flipH="false" flipV="false">
            <a:off x="7175500" y="3835400"/>
            <a:ext cx="41275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7474F"/>
                </a:solidFill>
                <a:latin typeface="Noto Sans SC"/>
                <a:ea typeface="Noto Sans SC"/>
                <a:cs typeface="Noto Sans SC"/>
                <a:sym typeface="Noto Sans SC"/>
              </a:rPr>
              <a:t>STEP 2：求 λ₃=0 对应的特征向量 α₃</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546E7A"/>
                </a:solidFill>
                <a:latin typeface="Noto Sans SC"/>
                <a:ea typeface="Noto Sans SC"/>
                <a:cs typeface="Noto Sans SC"/>
                <a:sym typeface="Noto Sans SC"/>
              </a:rPr>
              <a:t>实对称矩阵的不同特征值的特征向量正交。设 α₃=[x₁,x₂,x₃]ᵀ，则 (α₁,α₃)=0 且 (α₂,α₃)=0，解得基础解系为</a:t>
            </a:r>
            <a:r>
              <a:rPr lang="en-US" b="false" i="true" strike="noStrike" u="none" sz="1300">
                <a:solidFill>
                  <a:srgbClr val="26A69A"/>
                </a:solidFill>
                <a:latin typeface="Noto Sans SC"/>
                <a:ea typeface="Noto Sans SC"/>
                <a:cs typeface="Noto Sans SC"/>
                <a:sym typeface="Noto Sans SC"/>
              </a:rPr>
              <a:t>α₃=[-1,1,1]ᵀ</a:t>
            </a:r>
            <a:r>
              <a:rPr lang="en-US" b="false" i="false" strike="noStrike" u="none" sz="1300">
                <a:solidFill>
                  <a:srgbClr val="546E7A"/>
                </a:solidFill>
                <a:latin typeface="Noto Sans SC"/>
                <a:ea typeface="Noto Sans SC"/>
                <a:cs typeface="Noto Sans SC"/>
                <a:sym typeface="Noto Sans SC"/>
              </a:rPr>
              <a:t>（k≠0）。</a:t>
            </a:r>
          </a:p>
        </p:txBody>
      </p:sp>
      <p:sp>
        <p:nvSpPr>
          <p:cNvPr name="AutoShape 16" id="16"/>
          <p:cNvSpPr/>
          <p:nvPr/>
        </p:nvSpPr>
        <p:spPr>
          <a:xfrm rot="0" flipH="false" flipV="false">
            <a:off x="6477000" y="5588000"/>
            <a:ext cx="4953000" cy="762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667500" y="5689600"/>
            <a:ext cx="457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最终构造矩阵：</a:t>
            </a:r>
            <a:r>
              <a:rPr lang="en-US" b="false" i="false" strike="noStrike" u="none" sz="1300">
                <a:solidFill>
                  <a:srgbClr val="37474F"/>
                </a:solidFill>
                <a:latin typeface="Noto Sans SC"/>
                <a:ea typeface="Noto Sans SC"/>
                <a:cs typeface="Noto Sans SC"/>
                <a:sym typeface="Noto Sans SC"/>
              </a:rPr>
              <a:t>取 P=[α₁,α₂,α₃]，Λ=diag(6,6,0)，则 A = PΛP⁻¹，计算得 A 的具体元素。</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问题10：解题思路</a:t>
            </a:r>
            <a:endParaRPr lang="en-US" sz="1100"/>
          </a:p>
        </p:txBody>
      </p:sp>
      <p:sp>
        <p:nvSpPr>
          <p:cNvPr name="AutoShape 4" id="4"/>
          <p:cNvSpPr/>
          <p:nvPr/>
        </p:nvSpPr>
        <p:spPr>
          <a:xfrm rot="0" flipH="false" flipV="false">
            <a:off x="762000" y="1270000"/>
            <a:ext cx="10668000" cy="25400"/>
          </a:xfrm>
          <a:prstGeom prst="roundRect">
            <a:avLst>
              <a:gd name="adj" fmla="val 0"/>
            </a:avLst>
          </a:prstGeom>
          <a:solidFill>
            <a:srgbClr val="26A69A">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429000" cy="3683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32000"/>
            <a:ext cx="304800" cy="304800"/>
          </a:xfrm>
          <a:prstGeom prst="rect">
            <a:avLst/>
          </a:prstGeom>
        </p:spPr>
      </p:pic>
      <p:sp>
        <p:nvSpPr>
          <p:cNvPr name="AutoShape 8" id="8"/>
          <p:cNvSpPr/>
          <p:nvPr/>
        </p:nvSpPr>
        <p:spPr>
          <a:xfrm rot="0" flipH="false" flipV="false">
            <a:off x="1397000" y="20066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核心理论依据</a:t>
            </a:r>
            <a:endParaRPr lang="en-US" sz="1100"/>
          </a:p>
        </p:txBody>
      </p:sp>
      <p:cxnSp>
        <p:nvCxnSpPr>
          <p:cNvPr name="Connector 9" id="9"/>
          <p:cNvCxnSpPr/>
          <p:nvPr/>
        </p:nvCxnSpPr>
        <p:spPr>
          <a:xfrm rot="-14323" flipH="false" flipV="false">
            <a:off x="952513" y="2597150"/>
            <a:ext cx="3048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10" id="10"/>
          <p:cNvSpPr/>
          <p:nvPr/>
        </p:nvSpPr>
        <p:spPr>
          <a:xfrm rot="0" flipH="false" flipV="false">
            <a:off x="952500" y="2794000"/>
            <a:ext cx="304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7474F"/>
                </a:solidFill>
                <a:latin typeface="Noto Sans SC"/>
                <a:ea typeface="Noto Sans SC"/>
                <a:cs typeface="Noto Sans SC"/>
                <a:sym typeface="Noto Sans SC"/>
              </a:rPr>
              <a:t>1. 秩与特征值关系：</a:t>
            </a:r>
            <a:r>
              <a:rPr lang="en-US" b="false" i="false" strike="noStrike" u="none" sz="1600">
                <a:solidFill>
                  <a:srgbClr val="455A64"/>
                </a:solidFill>
                <a:latin typeface="Noto Sans SC"/>
                <a:ea typeface="Noto Sans SC"/>
                <a:cs typeface="Noto Sans SC"/>
                <a:sym typeface="Noto Sans SC"/>
              </a:rPr>
              <a:t>实对称矩阵的秩等于其非零特征值的个数，由此可直接判定第三个特征值为 0。</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600">
                <a:solidFill>
                  <a:srgbClr val="37474F"/>
                </a:solidFill>
                <a:latin typeface="Noto Sans SC"/>
                <a:ea typeface="Noto Sans SC"/>
                <a:cs typeface="Noto Sans SC"/>
                <a:sym typeface="Noto Sans SC"/>
              </a:rPr>
              <a:t>2. 特征向量正交性：</a:t>
            </a:r>
            <a:r>
              <a:rPr lang="en-US" b="false" i="false" strike="noStrike" u="none" sz="1600">
                <a:solidFill>
                  <a:srgbClr val="455A64"/>
                </a:solidFill>
                <a:latin typeface="Noto Sans SC"/>
                <a:ea typeface="Noto Sans SC"/>
                <a:cs typeface="Noto Sans SC"/>
                <a:sym typeface="Noto Sans SC"/>
              </a:rPr>
              <a:t>实对称矩阵属于不同特征值的特征向量相互正交，利用此性质可列方程求解 0 对应的特征向量。</a:t>
            </a:r>
          </a:p>
        </p:txBody>
      </p:sp>
      <p:sp>
        <p:nvSpPr>
          <p:cNvPr name="AutoShape 11" id="11"/>
          <p:cNvSpPr/>
          <p:nvPr/>
        </p:nvSpPr>
        <p:spPr>
          <a:xfrm rot="0" flipH="false" flipV="false">
            <a:off x="4445000" y="1778000"/>
            <a:ext cx="3429000" cy="3683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1778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2032000"/>
            <a:ext cx="304800" cy="304800"/>
          </a:xfrm>
          <a:prstGeom prst="rect">
            <a:avLst/>
          </a:prstGeom>
        </p:spPr>
      </p:pic>
      <p:sp>
        <p:nvSpPr>
          <p:cNvPr name="AutoShape 14" id="14"/>
          <p:cNvSpPr/>
          <p:nvPr/>
        </p:nvSpPr>
        <p:spPr>
          <a:xfrm rot="0" flipH="false" flipV="false">
            <a:off x="5080000" y="20066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关键步骤推演</a:t>
            </a:r>
            <a:endParaRPr lang="en-US" sz="1100"/>
          </a:p>
        </p:txBody>
      </p:sp>
      <p:cxnSp>
        <p:nvCxnSpPr>
          <p:cNvPr name="Connector 15" id="15"/>
          <p:cNvCxnSpPr/>
          <p:nvPr/>
        </p:nvCxnSpPr>
        <p:spPr>
          <a:xfrm rot="-14323" flipH="false" flipV="false">
            <a:off x="4635513" y="2597150"/>
            <a:ext cx="3048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16" id="16"/>
          <p:cNvSpPr/>
          <p:nvPr/>
        </p:nvSpPr>
        <p:spPr>
          <a:xfrm rot="0" flipH="false" flipV="false">
            <a:off x="4635500" y="2794000"/>
            <a:ext cx="304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7474F"/>
                </a:solidFill>
                <a:latin typeface="Noto Sans SC"/>
                <a:ea typeface="Noto Sans SC"/>
                <a:cs typeface="Noto Sans SC"/>
                <a:sym typeface="Noto Sans SC"/>
              </a:rPr>
              <a:t>Step 1: 求解特征向量 α₃</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455A64"/>
                </a:solidFill>
                <a:latin typeface="Noto Sans SC"/>
                <a:ea typeface="Noto Sans SC"/>
                <a:cs typeface="Noto Sans SC"/>
                <a:sym typeface="Noto Sans SC"/>
              </a:rPr>
              <a:t>设 α₃=(x,y,z)ᵀ，由正交性得方程组：α₃·α₁=0 且 α₃·α₂=0，解得基础解系 α₃=[1, -1, -1]ᵀ。</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600">
                <a:solidFill>
                  <a:srgbClr val="37474F"/>
                </a:solidFill>
                <a:latin typeface="Noto Sans SC"/>
                <a:ea typeface="Noto Sans SC"/>
                <a:cs typeface="Noto Sans SC"/>
                <a:sym typeface="Noto Sans SC"/>
              </a:rPr>
              <a:t>Step 2: 构造矩阵求 A</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455A64"/>
                </a:solidFill>
                <a:latin typeface="Noto Sans SC"/>
                <a:ea typeface="Noto Sans SC"/>
                <a:cs typeface="Noto Sans SC"/>
                <a:sym typeface="Noto Sans SC"/>
              </a:rPr>
              <a:t>令 P=[α₁,α₂,α₃]，D=diag(6,6,0)，通过公式 A = PDP⁻¹ 计算，最终化简得到矩阵 A。</a:t>
            </a:r>
          </a:p>
        </p:txBody>
      </p:sp>
      <p:sp>
        <p:nvSpPr>
          <p:cNvPr name="AutoShape 17" id="17"/>
          <p:cNvSpPr/>
          <p:nvPr/>
        </p:nvSpPr>
        <p:spPr>
          <a:xfrm rot="0" flipH="false" flipV="false">
            <a:off x="8001000" y="1778000"/>
            <a:ext cx="3429000" cy="3683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001000" y="1778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2032000"/>
            <a:ext cx="304800" cy="304800"/>
          </a:xfrm>
          <a:prstGeom prst="rect">
            <a:avLst/>
          </a:prstGeom>
        </p:spPr>
      </p:pic>
      <p:sp>
        <p:nvSpPr>
          <p:cNvPr name="AutoShape 20" id="20"/>
          <p:cNvSpPr/>
          <p:nvPr/>
        </p:nvSpPr>
        <p:spPr>
          <a:xfrm rot="0" flipH="false" flipV="false">
            <a:off x="8636000" y="20066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最终结果呈现</a:t>
            </a:r>
            <a:endParaRPr lang="en-US" sz="1100"/>
          </a:p>
        </p:txBody>
      </p:sp>
      <p:cxnSp>
        <p:nvCxnSpPr>
          <p:cNvPr name="Connector 21" id="21"/>
          <p:cNvCxnSpPr/>
          <p:nvPr/>
        </p:nvCxnSpPr>
        <p:spPr>
          <a:xfrm rot="-14323" flipH="false" flipV="false">
            <a:off x="8191513" y="2597150"/>
            <a:ext cx="3048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22" id="22"/>
          <p:cNvSpPr/>
          <p:nvPr/>
        </p:nvSpPr>
        <p:spPr>
          <a:xfrm rot="0" flipH="false" flipV="false">
            <a:off x="8191500" y="2794000"/>
            <a:ext cx="304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(1) 特征值与特征向量：</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另一个特征值为 0，对应的全部特征向量为 k[1, -1, -1]ᵀ (k 为非零常数)。</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400">
                <a:solidFill>
                  <a:srgbClr val="37474F"/>
                </a:solidFill>
                <a:latin typeface="Noto Sans SC"/>
                <a:ea typeface="Noto Sans SC"/>
                <a:cs typeface="Noto Sans SC"/>
                <a:sym typeface="Noto Sans SC"/>
              </a:rPr>
              <a:t>(2) 矩阵 A 的结果：</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A = ⎛ 4 2 2 ⎞</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 2 4 -2 ⎟</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 2 -2 4 ⎠</a:t>
            </a:r>
          </a:p>
        </p:txBody>
      </p:sp>
      <p:sp>
        <p:nvSpPr>
          <p:cNvPr name="AutoShape 23" id="23"/>
          <p:cNvSpPr/>
          <p:nvPr/>
        </p:nvSpPr>
        <p:spPr>
          <a:xfrm rot="0" flipH="false" flipV="false">
            <a:off x="762000" y="5715000"/>
            <a:ext cx="10668000" cy="762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62000" y="5715000"/>
            <a:ext cx="50800" cy="762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16000" y="58166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26A69A"/>
                </a:solidFill>
                <a:latin typeface="Noto Sans SC"/>
                <a:ea typeface="Noto Sans SC"/>
                <a:cs typeface="Noto Sans SC"/>
                <a:sym typeface="Noto Sans SC"/>
              </a:rPr>
              <a:t>总结：</a:t>
            </a:r>
            <a:r>
              <a:rPr lang="en-US" b="false" i="false" strike="noStrike" u="none" sz="1600">
                <a:solidFill>
                  <a:srgbClr val="37474F"/>
                </a:solidFill>
                <a:latin typeface="Noto Sans SC"/>
                <a:ea typeface="Noto Sans SC"/>
                <a:cs typeface="Noto Sans SC"/>
                <a:sym typeface="Noto Sans SC"/>
              </a:rPr>
              <a:t>解决此类问题的关键在于熟练运用实对称矩阵“秩与特征值个数相等”和“不同特征值特征向量正交”这两个核心性质，结合相似对角化公式即可快速求解。</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问题11：行列式性质</a:t>
            </a:r>
            <a:endParaRPr lang="en-US" sz="1100"/>
          </a:p>
        </p:txBody>
      </p:sp>
      <p:sp>
        <p:nvSpPr>
          <p:cNvPr name="AutoShape 4" id="4"/>
          <p:cNvSpPr/>
          <p:nvPr/>
        </p:nvSpPr>
        <p:spPr>
          <a:xfrm rot="0" flipH="false" flipV="false">
            <a:off x="762000" y="1778000"/>
            <a:ext cx="3556000" cy="3429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9685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题目条件呈现</a:t>
            </a:r>
            <a:endParaRPr lang="en-US" sz="1100"/>
          </a:p>
        </p:txBody>
      </p:sp>
      <p:cxnSp>
        <p:nvCxnSpPr>
          <p:cNvPr name="Connector 6" id="6"/>
          <p:cNvCxnSpPr/>
          <p:nvPr/>
        </p:nvCxnSpPr>
        <p:spPr>
          <a:xfrm rot="-13222" flipH="false" flipV="false">
            <a:off x="889012" y="2406650"/>
            <a:ext cx="3302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7" id="7"/>
          <p:cNvSpPr/>
          <p:nvPr/>
        </p:nvSpPr>
        <p:spPr>
          <a:xfrm rot="0" flipH="false" flipV="false">
            <a:off x="889000" y="2603500"/>
            <a:ext cx="3302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已知二阶行列式：</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① \( \begin{vmatrix} a_{11} &amp; a_{12} \\ a_{21} &amp; a_{22} \end{vmatrix} = m \)</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② \( \begin{vmatrix} 2a_{12} &amp; 2a_{11} \\ a_{22} &amp; a_{21} \end{vmatrix} = n \)</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26A69A"/>
                </a:solidFill>
                <a:latin typeface="Noto Sans SC"/>
                <a:ea typeface="Noto Sans SC"/>
                <a:cs typeface="Noto Sans SC"/>
                <a:sym typeface="Noto Sans SC"/>
              </a:rPr>
              <a:t>求解目标：</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计算 \( D = \begin{vmatrix} a_{11} &amp; a_{12}+a_{11} \\ a_{21} &amp; a_{22}+a_{21} \end{vmatrix} \) 的值。</a:t>
            </a:r>
          </a:p>
        </p:txBody>
      </p:sp>
      <p:sp>
        <p:nvSpPr>
          <p:cNvPr name="AutoShape 8" id="8"/>
          <p:cNvSpPr/>
          <p:nvPr/>
        </p:nvSpPr>
        <p:spPr>
          <a:xfrm rot="0" flipH="false" flipV="false">
            <a:off x="4572000" y="1778000"/>
            <a:ext cx="3302000" cy="3429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99000" y="1968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02. 关键性质回顾</a:t>
            </a:r>
            <a:endParaRPr lang="en-US" sz="1100"/>
          </a:p>
        </p:txBody>
      </p:sp>
      <p:cxnSp>
        <p:nvCxnSpPr>
          <p:cNvPr name="Connector 10" id="10"/>
          <p:cNvCxnSpPr/>
          <p:nvPr/>
        </p:nvCxnSpPr>
        <p:spPr>
          <a:xfrm rot="-14323" flipH="false" flipV="false">
            <a:off x="4699013" y="2406650"/>
            <a:ext cx="3048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1" id="11"/>
          <p:cNvSpPr/>
          <p:nvPr/>
        </p:nvSpPr>
        <p:spPr>
          <a:xfrm rot="0" flipH="false" flipV="false">
            <a:off x="4699000" y="2603500"/>
            <a:ext cx="304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74F"/>
                </a:solidFill>
                <a:latin typeface="Noto Sans SC"/>
                <a:ea typeface="Noto Sans SC"/>
                <a:cs typeface="Noto Sans SC"/>
                <a:sym typeface="Noto Sans SC"/>
              </a:rPr>
              <a:t>性质一：行列式加法拆分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37474F">
                    <a:alpha val="80000"/>
                  </a:srgbClr>
                </a:solidFill>
                <a:latin typeface="Noto Sans SC"/>
                <a:ea typeface="Noto Sans SC"/>
                <a:cs typeface="Noto Sans SC"/>
                <a:sym typeface="Noto Sans SC"/>
              </a:rPr>
              <a:t>若行列式某列(行)元素为两数之和，则可拆分为两个行列式之和，其余列(行)保持不变。</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400">
                <a:solidFill>
                  <a:srgbClr val="37474F"/>
                </a:solidFill>
                <a:latin typeface="Noto Sans SC"/>
                <a:ea typeface="Noto Sans SC"/>
                <a:cs typeface="Noto Sans SC"/>
                <a:sym typeface="Noto Sans SC"/>
              </a:rPr>
              <a:t>性质二：行列式的初等变换</a:t>
            </a:r>
            <a:r>
              <a:rPr lang="en-US" b="false" i="false" strike="noStrike" u="none" sz="16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300">
                <a:solidFill>
                  <a:srgbClr val="37474F">
                    <a:alpha val="80000"/>
                  </a:srgbClr>
                </a:solidFill>
                <a:latin typeface="Noto Sans SC"/>
                <a:ea typeface="Noto Sans SC"/>
                <a:cs typeface="Noto Sans SC"/>
                <a:sym typeface="Noto Sans SC"/>
              </a:rPr>
              <a:t>交换行列式两列(行)，行列式变号；某列(行)乘以常数k，行列式值也乘以k。</a:t>
            </a:r>
          </a:p>
        </p:txBody>
      </p:sp>
      <p:sp>
        <p:nvSpPr>
          <p:cNvPr name="AutoShape 12" id="12"/>
          <p:cNvSpPr/>
          <p:nvPr/>
        </p:nvSpPr>
        <p:spPr>
          <a:xfrm rot="0" flipH="false" flipV="false">
            <a:off x="8128000" y="1778000"/>
            <a:ext cx="3302000" cy="3429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255000" y="1968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03. 逐步推导与求解</a:t>
            </a:r>
            <a:endParaRPr lang="en-US" sz="1100"/>
          </a:p>
        </p:txBody>
      </p:sp>
      <p:cxnSp>
        <p:nvCxnSpPr>
          <p:cNvPr name="Connector 14" id="14"/>
          <p:cNvCxnSpPr/>
          <p:nvPr/>
        </p:nvCxnSpPr>
        <p:spPr>
          <a:xfrm rot="-14323" flipH="false" flipV="false">
            <a:off x="8255013" y="2406650"/>
            <a:ext cx="3048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5" id="15"/>
          <p:cNvSpPr/>
          <p:nvPr/>
        </p:nvSpPr>
        <p:spPr>
          <a:xfrm rot="0" flipH="false" flipV="false">
            <a:off x="8255000" y="2603500"/>
            <a:ext cx="304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第一步：对目标行列式按第二列拆分：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37474F">
                    <a:alpha val="90196"/>
                  </a:srgbClr>
                </a:solidFill>
                <a:latin typeface="Noto Sans SC"/>
                <a:ea typeface="Noto Sans SC"/>
                <a:cs typeface="Noto Sans SC"/>
                <a:sym typeface="Noto Sans SC"/>
              </a:rPr>
              <a:t>\( D = \begin{vmatrix} a_{11} &amp; a_{12} \\ a_{21} &amp; a_{22} \end{vmatrix} + \begin{vmatrix} a_{11} &amp; a_{11} \\ a_{21} &amp; a_{21} \end{vmatrix} \)</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第二步：分析第二个行列式，两列成比例，值为0。因此：</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26A69A"/>
                </a:solidFill>
                <a:latin typeface="Noto Sans SC"/>
                <a:ea typeface="Noto Sans SC"/>
                <a:cs typeface="Noto Sans SC"/>
                <a:sym typeface="Noto Sans SC"/>
              </a:rPr>
              <a:t>\( D = m + 0 = m \)</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300">
                <a:solidFill>
                  <a:srgbClr val="37474F">
                    <a:alpha val="70196"/>
                  </a:srgbClr>
                </a:solidFill>
                <a:latin typeface="Noto Sans SC"/>
                <a:ea typeface="Noto Sans SC"/>
                <a:cs typeface="Noto Sans SC"/>
                <a:sym typeface="Noto Sans SC"/>
              </a:rPr>
              <a:t>注：条件②给出的n值在此题求解中为干扰项，用于检验对核心性质的把握。</a:t>
            </a:r>
          </a:p>
        </p:txBody>
      </p:sp>
      <p:sp>
        <p:nvSpPr>
          <p:cNvPr name="AutoShape 16" id="16"/>
          <p:cNvSpPr/>
          <p:nvPr/>
        </p:nvSpPr>
        <p:spPr>
          <a:xfrm rot="0" flipH="false" flipV="false">
            <a:off x="762000" y="5461000"/>
            <a:ext cx="10668000" cy="1016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5765800"/>
            <a:ext cx="406400" cy="406400"/>
          </a:xfrm>
          <a:prstGeom prst="rect">
            <a:avLst/>
          </a:prstGeom>
        </p:spPr>
      </p:pic>
      <p:sp>
        <p:nvSpPr>
          <p:cNvPr name="AutoShape 18" id="18"/>
          <p:cNvSpPr/>
          <p:nvPr/>
        </p:nvSpPr>
        <p:spPr>
          <a:xfrm rot="0" flipH="false" flipV="false">
            <a:off x="1651000" y="5588000"/>
            <a:ext cx="939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解题关键：</a:t>
            </a:r>
            <a:r>
              <a:rPr lang="en-US" b="false" i="false" strike="noStrike" u="none" sz="1400">
                <a:solidFill>
                  <a:srgbClr val="37474F">
                    <a:alpha val="80000"/>
                  </a:srgbClr>
                </a:solidFill>
                <a:latin typeface="Noto Sans SC"/>
                <a:ea typeface="Noto Sans SC"/>
                <a:cs typeface="Noto Sans SC"/>
                <a:sym typeface="Noto Sans SC"/>
              </a:rPr>
              <a:t>解决此类问题的核心在于观察所求行列式的结构特征，优先使用“行列式加法拆分”性质将其分解为简单行列式之和。同时注意题目中给出的冗余条件，避免被无关信息干扰思路。</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问题11：解题思路</a:t>
            </a:r>
            <a:endParaRPr lang="en-US" sz="1100"/>
          </a:p>
        </p:txBody>
      </p:sp>
      <p:sp>
        <p:nvSpPr>
          <p:cNvPr name="AutoShape 4" id="4"/>
          <p:cNvSpPr/>
          <p:nvPr/>
        </p:nvSpPr>
        <p:spPr>
          <a:xfrm rot="0" flipH="false" flipV="false">
            <a:off x="762000" y="2032000"/>
            <a:ext cx="3378200" cy="3302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33782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349500"/>
            <a:ext cx="355600" cy="355600"/>
          </a:xfrm>
          <a:prstGeom prst="rect">
            <a:avLst/>
          </a:prstGeom>
        </p:spPr>
      </p:pic>
      <p:sp>
        <p:nvSpPr>
          <p:cNvPr name="AutoShape 7" id="7"/>
          <p:cNvSpPr/>
          <p:nvPr/>
        </p:nvSpPr>
        <p:spPr>
          <a:xfrm rot="0" flipH="false" flipV="false">
            <a:off x="1498600" y="2311400"/>
            <a:ext cx="2413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核心原理：倍加性质</a:t>
            </a:r>
            <a:endParaRPr lang="en-US" sz="1100"/>
          </a:p>
        </p:txBody>
      </p:sp>
      <p:cxnSp>
        <p:nvCxnSpPr>
          <p:cNvPr name="Connector 8" id="8"/>
          <p:cNvCxnSpPr/>
          <p:nvPr/>
        </p:nvCxnSpPr>
        <p:spPr>
          <a:xfrm rot="-15211" flipH="false" flipV="false">
            <a:off x="1016014" y="3041650"/>
            <a:ext cx="28702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9" id="9"/>
          <p:cNvSpPr/>
          <p:nvPr/>
        </p:nvSpPr>
        <p:spPr>
          <a:xfrm rot="0" flipH="false" flipV="false">
            <a:off x="1016000" y="3302000"/>
            <a:ext cx="28702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37474F"/>
                </a:solidFill>
                <a:latin typeface="Noto Sans SC"/>
                <a:ea typeface="Noto Sans SC"/>
                <a:cs typeface="Noto Sans SC"/>
                <a:sym typeface="Noto Sans SC"/>
              </a:rPr>
              <a:t>行列式的重要性质之一：把行列式的某一行（列）的k倍加到另一行（列）上，行列式的值保持不变。这是化简行列式的常用方法。</a:t>
            </a:r>
            <a:endParaRPr lang="en-US" sz="1100"/>
          </a:p>
        </p:txBody>
      </p:sp>
      <p:sp>
        <p:nvSpPr>
          <p:cNvPr name="AutoShape 10" id="10"/>
          <p:cNvSpPr/>
          <p:nvPr/>
        </p:nvSpPr>
        <p:spPr>
          <a:xfrm rot="0" flipH="false" flipV="false">
            <a:off x="4394200" y="2032000"/>
            <a:ext cx="3403600" cy="3302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394200" y="2032000"/>
            <a:ext cx="34036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2349500"/>
            <a:ext cx="355600" cy="355600"/>
          </a:xfrm>
          <a:prstGeom prst="rect">
            <a:avLst/>
          </a:prstGeom>
        </p:spPr>
      </p:pic>
      <p:sp>
        <p:nvSpPr>
          <p:cNvPr name="AutoShape 13" id="13"/>
          <p:cNvSpPr/>
          <p:nvPr/>
        </p:nvSpPr>
        <p:spPr>
          <a:xfrm rot="0" flipH="false" flipV="false">
            <a:off x="5130800" y="2311400"/>
            <a:ext cx="2413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逐步推演过程</a:t>
            </a:r>
            <a:endParaRPr lang="en-US" sz="1100"/>
          </a:p>
        </p:txBody>
      </p:sp>
      <p:cxnSp>
        <p:nvCxnSpPr>
          <p:cNvPr name="Connector 14" id="14"/>
          <p:cNvCxnSpPr/>
          <p:nvPr/>
        </p:nvCxnSpPr>
        <p:spPr>
          <a:xfrm rot="-15077" flipH="false" flipV="false">
            <a:off x="4648214" y="3041650"/>
            <a:ext cx="28956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5" id="15"/>
          <p:cNvSpPr/>
          <p:nvPr/>
        </p:nvSpPr>
        <p:spPr>
          <a:xfrm rot="0" flipH="false" flipV="false">
            <a:off x="4648200" y="3302000"/>
            <a:ext cx="28956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7474F"/>
                </a:solidFill>
                <a:latin typeface="Noto Sans SC"/>
                <a:ea typeface="Noto Sans SC"/>
                <a:cs typeface="Noto Sans SC"/>
                <a:sym typeface="Noto Sans SC"/>
              </a:rPr>
              <a:t>设原行列式为 D = |(a₁₁,a₁₂+a₁₁),(a₂₁,a₂₂+a₂₁)|，对其作列变换 c₂ = c₂ - c₁，行列式值不变，化简后得到 D = |(a₁₁,a₁₂),(a₂₁,a₂₂)|。</a:t>
            </a:r>
            <a:endParaRPr lang="en-US" sz="1100"/>
          </a:p>
        </p:txBody>
      </p:sp>
      <p:sp>
        <p:nvSpPr>
          <p:cNvPr name="AutoShape 16" id="16"/>
          <p:cNvSpPr/>
          <p:nvPr/>
        </p:nvSpPr>
        <p:spPr>
          <a:xfrm rot="0" flipH="false" flipV="false">
            <a:off x="8026400" y="2032000"/>
            <a:ext cx="3403600" cy="3302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26400" y="2032000"/>
            <a:ext cx="34036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2349500"/>
            <a:ext cx="355600" cy="355600"/>
          </a:xfrm>
          <a:prstGeom prst="rect">
            <a:avLst/>
          </a:prstGeom>
        </p:spPr>
      </p:pic>
      <p:sp>
        <p:nvSpPr>
          <p:cNvPr name="AutoShape 19" id="19"/>
          <p:cNvSpPr/>
          <p:nvPr/>
        </p:nvSpPr>
        <p:spPr>
          <a:xfrm rot="0" flipH="false" flipV="false">
            <a:off x="8763000" y="2311400"/>
            <a:ext cx="2413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最终答案确定</a:t>
            </a:r>
            <a:endParaRPr lang="en-US" sz="1100"/>
          </a:p>
        </p:txBody>
      </p:sp>
      <p:cxnSp>
        <p:nvCxnSpPr>
          <p:cNvPr name="Connector 20" id="20"/>
          <p:cNvCxnSpPr/>
          <p:nvPr/>
        </p:nvCxnSpPr>
        <p:spPr>
          <a:xfrm rot="-15077" flipH="false" flipV="false">
            <a:off x="8280414" y="3041650"/>
            <a:ext cx="28956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21" id="21"/>
          <p:cNvSpPr/>
          <p:nvPr/>
        </p:nvSpPr>
        <p:spPr>
          <a:xfrm rot="0" flipH="false" flipV="false">
            <a:off x="8280400" y="3302000"/>
            <a:ext cx="28956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37474F"/>
                </a:solidFill>
                <a:latin typeface="Noto Sans SC"/>
                <a:ea typeface="Noto Sans SC"/>
                <a:cs typeface="Noto Sans SC"/>
                <a:sym typeface="Noto Sans SC"/>
              </a:rPr>
              <a:t>由已知条件，化简后的行列式值为 m，因此所求行列式的值即为 m。该方法避免了复杂的展开计算，极大提高了解题效率。</a:t>
            </a:r>
            <a:endParaRPr lang="en-US" sz="1100"/>
          </a:p>
        </p:txBody>
      </p:sp>
      <p:sp>
        <p:nvSpPr>
          <p:cNvPr name="AutoShape 22" id="22"/>
          <p:cNvSpPr/>
          <p:nvPr/>
        </p:nvSpPr>
        <p:spPr>
          <a:xfrm rot="0" flipH="false" flipV="false">
            <a:off x="762000" y="5715000"/>
            <a:ext cx="10668000" cy="762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1016000" y="58420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37474F"/>
                </a:solidFill>
                <a:latin typeface="Noto Sans SC"/>
                <a:ea typeface="Noto Sans SC"/>
                <a:cs typeface="Noto Sans SC"/>
                <a:sym typeface="Noto Sans SC"/>
              </a:rPr>
              <a:t>💡</a:t>
            </a:r>
            <a:r>
              <a:rPr lang="en-US" b="true" i="false" strike="noStrike" u="none" sz="1500">
                <a:solidFill>
                  <a:srgbClr val="37474F"/>
                </a:solidFill>
                <a:latin typeface="Noto Sans SC"/>
                <a:ea typeface="Noto Sans SC"/>
                <a:cs typeface="Noto Sans SC"/>
                <a:sym typeface="Noto Sans SC"/>
              </a:rPr>
              <a:t>关键提示：</a:t>
            </a:r>
            <a:r>
              <a:rPr lang="en-US" b="false" i="false" strike="noStrike" u="none" sz="1500">
                <a:solidFill>
                  <a:srgbClr val="37474F"/>
                </a:solidFill>
                <a:latin typeface="Noto Sans SC"/>
                <a:ea typeface="Noto Sans SC"/>
                <a:cs typeface="Noto Sans SC"/>
                <a:sym typeface="Noto Sans SC"/>
              </a:rPr>
              <a:t>面对行列式求值问题，优先观察行列元素的关系，灵活运用“倍加性质”进行降阶或化简是核心技巧。</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问题12：行列式计算</a:t>
            </a:r>
            <a:endParaRPr lang="en-US" sz="1100"/>
          </a:p>
        </p:txBody>
      </p:sp>
      <p:sp>
        <p:nvSpPr>
          <p:cNvPr name="AutoShape 4" id="4"/>
          <p:cNvSpPr/>
          <p:nvPr/>
        </p:nvSpPr>
        <p:spPr>
          <a:xfrm rot="0" flipH="false" flipV="false">
            <a:off x="762000" y="1397000"/>
            <a:ext cx="10668000" cy="25400"/>
          </a:xfrm>
          <a:prstGeom prst="roundRect">
            <a:avLst>
              <a:gd name="adj" fmla="val 0"/>
            </a:avLst>
          </a:prstGeom>
          <a:solidFill>
            <a:srgbClr val="26A69A">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3429000" cy="3302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032000"/>
            <a:ext cx="3429000" cy="762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413000"/>
            <a:ext cx="406400" cy="406400"/>
          </a:xfrm>
          <a:prstGeom prst="rect">
            <a:avLst/>
          </a:prstGeom>
        </p:spPr>
      </p:pic>
      <p:sp>
        <p:nvSpPr>
          <p:cNvPr name="AutoShape 8" id="8"/>
          <p:cNvSpPr/>
          <p:nvPr/>
        </p:nvSpPr>
        <p:spPr>
          <a:xfrm rot="0" flipH="false" flipV="false">
            <a:off x="1524000" y="2413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题目条件</a:t>
            </a:r>
            <a:endParaRPr lang="en-US" sz="1100"/>
          </a:p>
        </p:txBody>
      </p:sp>
      <p:cxnSp>
        <p:nvCxnSpPr>
          <p:cNvPr name="Connector 9" id="9"/>
          <p:cNvCxnSpPr/>
          <p:nvPr/>
        </p:nvCxnSpPr>
        <p:spPr>
          <a:xfrm rot="-14946" flipH="false" flipV="false">
            <a:off x="1016014" y="3168650"/>
            <a:ext cx="2921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0" id="10"/>
          <p:cNvSpPr/>
          <p:nvPr/>
        </p:nvSpPr>
        <p:spPr>
          <a:xfrm rot="0" flipH="false" flipV="false">
            <a:off x="1016000" y="3429000"/>
            <a:ext cx="2921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55A64"/>
                </a:solidFill>
                <a:latin typeface="Noto Sans SC"/>
                <a:ea typeface="Noto Sans SC"/>
                <a:cs typeface="Noto Sans SC"/>
                <a:sym typeface="Noto Sans SC"/>
              </a:rPr>
              <a:t>设 A 是 3 阶方阵，且其行列式的值为 |A| = 3。</a:t>
            </a:r>
            <a:r>
              <a:rPr lang="en-US" b="false" i="false" strike="noStrike" u="none" sz="1600">
                <a:solidFill>
                  <a:srgbClr val="455A64"/>
                </a:solidFill>
                <a:latin typeface="Noto Sans SC"/>
                <a:ea typeface="Noto Sans SC"/>
                <a:cs typeface="Noto Sans SC"/>
                <a:sym typeface="Noto Sans SC"/>
              </a:rPr>
              <a:t/>
            </a:r>
            <a:endParaRPr lang="en-US" sz="1100"/>
          </a:p>
          <a:p>
            <a:pPr algn="l" marL="0" indent="0">
              <a:lnSpc>
                <a:spcPct val="125000"/>
              </a:lnSpc>
            </a:pPr>
            <a:r>
              <a:rPr lang="en-US" b="false" i="false" strike="noStrike" u="none" sz="1600">
                <a:solidFill>
                  <a:srgbClr val="455A64"/>
                </a:solidFill>
                <a:latin typeface="Noto Sans SC"/>
                <a:ea typeface="Noto Sans SC"/>
                <a:cs typeface="Noto Sans SC"/>
                <a:sym typeface="Noto Sans SC"/>
              </a:rPr>
              <a:t>求解目标：计算数乘矩阵 2A 的行列式，即求 |2A| 的值。</a:t>
            </a:r>
          </a:p>
        </p:txBody>
      </p:sp>
      <p:sp>
        <p:nvSpPr>
          <p:cNvPr name="AutoShape 11" id="11"/>
          <p:cNvSpPr/>
          <p:nvPr/>
        </p:nvSpPr>
        <p:spPr>
          <a:xfrm rot="0" flipH="false" flipV="false">
            <a:off x="4381500" y="2032000"/>
            <a:ext cx="3429000" cy="3302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381500" y="2032000"/>
            <a:ext cx="3429000" cy="762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2413000"/>
            <a:ext cx="406400" cy="406400"/>
          </a:xfrm>
          <a:prstGeom prst="rect">
            <a:avLst/>
          </a:prstGeom>
        </p:spPr>
      </p:pic>
      <p:sp>
        <p:nvSpPr>
          <p:cNvPr name="AutoShape 14" id="14"/>
          <p:cNvSpPr/>
          <p:nvPr/>
        </p:nvSpPr>
        <p:spPr>
          <a:xfrm rot="0" flipH="false" flipV="false">
            <a:off x="5143500" y="2413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核心性质</a:t>
            </a:r>
            <a:endParaRPr lang="en-US" sz="1100"/>
          </a:p>
        </p:txBody>
      </p:sp>
      <p:cxnSp>
        <p:nvCxnSpPr>
          <p:cNvPr name="Connector 15" id="15"/>
          <p:cNvCxnSpPr/>
          <p:nvPr/>
        </p:nvCxnSpPr>
        <p:spPr>
          <a:xfrm rot="-14946" flipH="false" flipV="false">
            <a:off x="4635514" y="3168650"/>
            <a:ext cx="2921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6" id="16"/>
          <p:cNvSpPr/>
          <p:nvPr/>
        </p:nvSpPr>
        <p:spPr>
          <a:xfrm rot="0" flipH="false" flipV="false">
            <a:off x="4635500" y="3429000"/>
            <a:ext cx="2921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55A64"/>
                </a:solidFill>
                <a:latin typeface="Noto Sans SC"/>
                <a:ea typeface="Noto Sans SC"/>
                <a:cs typeface="Noto Sans SC"/>
                <a:sym typeface="Noto Sans SC"/>
              </a:rPr>
              <a:t>对于 n 阶方阵 A 和常数 k，数乘矩阵的行列式满足：</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33333"/>
              </a:lnSpc>
            </a:pPr>
            <a:r>
              <a:rPr lang="en-US" b="true" i="false" strike="noStrike" u="none" sz="1800">
                <a:solidFill>
                  <a:srgbClr val="26A69A"/>
                </a:solidFill>
                <a:latin typeface="Noto Sans SC"/>
                <a:ea typeface="Noto Sans SC"/>
                <a:cs typeface="Noto Sans SC"/>
                <a:sym typeface="Noto Sans SC"/>
              </a:rPr>
              <a:t>|kA| = kⁿ · |A|</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455A64">
                    <a:alpha val="80000"/>
                  </a:srgbClr>
                </a:solidFill>
                <a:latin typeface="Noto Sans SC"/>
                <a:ea typeface="Noto Sans SC"/>
                <a:cs typeface="Noto Sans SC"/>
                <a:sym typeface="Noto Sans SC"/>
              </a:rPr>
              <a:t>注意：是 k 的 n 次方，而非直接乘 k。</a:t>
            </a:r>
          </a:p>
        </p:txBody>
      </p:sp>
      <p:sp>
        <p:nvSpPr>
          <p:cNvPr name="AutoShape 17" id="17"/>
          <p:cNvSpPr/>
          <p:nvPr/>
        </p:nvSpPr>
        <p:spPr>
          <a:xfrm rot="0" flipH="false" flipV="false">
            <a:off x="8001000" y="2032000"/>
            <a:ext cx="3429000" cy="3302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001000" y="2032000"/>
            <a:ext cx="3429000" cy="762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2413000"/>
            <a:ext cx="406400" cy="406400"/>
          </a:xfrm>
          <a:prstGeom prst="rect">
            <a:avLst/>
          </a:prstGeom>
        </p:spPr>
      </p:pic>
      <p:sp>
        <p:nvSpPr>
          <p:cNvPr name="AutoShape 20" id="20"/>
          <p:cNvSpPr/>
          <p:nvPr/>
        </p:nvSpPr>
        <p:spPr>
          <a:xfrm rot="0" flipH="false" flipV="false">
            <a:off x="8763000" y="2413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推导计算</a:t>
            </a:r>
            <a:endParaRPr lang="en-US" sz="1100"/>
          </a:p>
        </p:txBody>
      </p:sp>
      <p:cxnSp>
        <p:nvCxnSpPr>
          <p:cNvPr name="Connector 21" id="21"/>
          <p:cNvCxnSpPr/>
          <p:nvPr/>
        </p:nvCxnSpPr>
        <p:spPr>
          <a:xfrm rot="-14946" flipH="false" flipV="false">
            <a:off x="8255014" y="3168650"/>
            <a:ext cx="2921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22" id="22"/>
          <p:cNvSpPr/>
          <p:nvPr/>
        </p:nvSpPr>
        <p:spPr>
          <a:xfrm rot="0" flipH="false" flipV="false">
            <a:off x="8255000" y="3429000"/>
            <a:ext cx="2921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55A64"/>
                </a:solidFill>
                <a:latin typeface="Noto Sans SC"/>
                <a:ea typeface="Noto Sans SC"/>
                <a:cs typeface="Noto Sans SC"/>
                <a:sym typeface="Noto Sans SC"/>
              </a:rPr>
              <a:t>本题中，n=3，k=2，|A|=3，代入公式：</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33333"/>
              </a:lnSpc>
            </a:pPr>
            <a:r>
              <a:rPr lang="en-US" b="false" i="false" strike="noStrike" u="none" sz="1600">
                <a:solidFill>
                  <a:srgbClr val="455A64"/>
                </a:solidFill>
                <a:latin typeface="Noto Sans SC"/>
                <a:ea typeface="Noto Sans SC"/>
                <a:cs typeface="Noto Sans SC"/>
                <a:sym typeface="Noto Sans SC"/>
              </a:rPr>
              <a:t>|2A| = 2³ × |A| = 8 × 3 =</a:t>
            </a:r>
            <a:r>
              <a:rPr lang="en-US" b="true" i="false" strike="noStrike" u="none" sz="2200">
                <a:solidFill>
                  <a:srgbClr val="26A69A"/>
                </a:solidFill>
                <a:latin typeface="Noto Sans SC"/>
                <a:ea typeface="Noto Sans SC"/>
                <a:cs typeface="Noto Sans SC"/>
                <a:sym typeface="Noto Sans SC"/>
              </a:rPr>
              <a:t>24</a:t>
            </a:r>
          </a:p>
        </p:txBody>
      </p:sp>
      <p:sp>
        <p:nvSpPr>
          <p:cNvPr name="AutoShape 23" id="23"/>
          <p:cNvSpPr/>
          <p:nvPr/>
        </p:nvSpPr>
        <p:spPr>
          <a:xfrm rot="0" flipH="false" flipV="false">
            <a:off x="762000" y="5715000"/>
            <a:ext cx="10668000" cy="762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62000" y="5715000"/>
            <a:ext cx="76200" cy="762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16000" y="57785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易错点提示：</a:t>
            </a:r>
            <a:r>
              <a:rPr lang="en-US" b="false" i="false" strike="noStrike" u="none" sz="1500">
                <a:solidFill>
                  <a:srgbClr val="455A64"/>
                </a:solidFill>
                <a:latin typeface="Noto Sans SC"/>
                <a:ea typeface="Noto Sans SC"/>
                <a:cs typeface="Noto Sans SC"/>
                <a:sym typeface="Noto Sans SC"/>
              </a:rPr>
              <a:t>容易误将 |kA| 计算为 k|A|，忽略矩阵阶数 n 对 k 的指数影响。牢记行列式是将矩阵的每一行（列）都乘了 k，因此总共有 n 个 k 相乘。</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问题12：解题思路</a:t>
            </a:r>
            <a:endParaRPr lang="en-US" sz="1100"/>
          </a:p>
        </p:txBody>
      </p:sp>
      <p:sp>
        <p:nvSpPr>
          <p:cNvPr name="AutoShape 4" id="4"/>
          <p:cNvSpPr/>
          <p:nvPr/>
        </p:nvSpPr>
        <p:spPr>
          <a:xfrm rot="0" flipH="false" flipV="false">
            <a:off x="762000" y="1778000"/>
            <a:ext cx="10668000" cy="1524000"/>
          </a:xfrm>
          <a:prstGeom prst="roundRect">
            <a:avLst>
              <a:gd name="adj" fmla="val 0"/>
            </a:avLst>
          </a:prstGeom>
          <a:solidFill>
            <a:srgbClr val="26A69A">
              <a:alpha val="1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508000" cy="508000"/>
          </a:xfrm>
          <a:prstGeom prst="rect">
            <a:avLst/>
          </a:prstGeom>
        </p:spPr>
      </p:pic>
      <p:sp>
        <p:nvSpPr>
          <p:cNvPr name="AutoShape 6" id="6"/>
          <p:cNvSpPr/>
          <p:nvPr/>
        </p:nvSpPr>
        <p:spPr>
          <a:xfrm rot="0" flipH="false" flipV="false">
            <a:off x="1778000" y="1968500"/>
            <a:ext cx="927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核心原理：数乘矩阵的行列式性质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500">
                <a:solidFill>
                  <a:srgbClr val="37474F"/>
                </a:solidFill>
                <a:latin typeface="Noto Sans SC"/>
                <a:ea typeface="Noto Sans SC"/>
                <a:cs typeface="Noto Sans SC"/>
                <a:sym typeface="Noto Sans SC"/>
              </a:rPr>
              <a:t>对于 n 阶方阵 A 和常数 k，行列式满足 |kA| = kⁿ|A|。这一性质表明，矩阵数乘后的行列式，等于常数的矩阵阶数次方，再乘以原矩阵的行列式。</a:t>
            </a:r>
          </a:p>
        </p:txBody>
      </p:sp>
      <p:sp>
        <p:nvSpPr>
          <p:cNvPr name="AutoShape 7" id="7"/>
          <p:cNvSpPr/>
          <p:nvPr/>
        </p:nvSpPr>
        <p:spPr>
          <a:xfrm rot="0" flipH="false" flipV="false">
            <a:off x="762000" y="3810000"/>
            <a:ext cx="3429000" cy="1587500"/>
          </a:xfrm>
          <a:prstGeom prst="roundRect">
            <a:avLst>
              <a:gd name="adj" fmla="val 0"/>
            </a:avLst>
          </a:prstGeom>
          <a:solidFill>
            <a:srgbClr val="FFFFFF">
              <a:alpha val="70000"/>
            </a:srgbClr>
          </a:solidFill>
          <a:ln w="12700" cmpd="sng" cap="flat">
            <a:solidFill>
              <a:srgbClr val="37474F">
                <a:alpha val="15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810000"/>
            <a:ext cx="76200" cy="1587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3937000"/>
            <a:ext cx="2921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01. 确定矩阵阶数 n</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46E7A"/>
                </a:solidFill>
                <a:latin typeface="Noto Sans SC"/>
                <a:ea typeface="Noto Sans SC"/>
                <a:cs typeface="Noto Sans SC"/>
                <a:sym typeface="Noto Sans SC"/>
              </a:rPr>
              <a:t>题目明确给出矩阵 A 是 3 阶方阵，因此 n = 3，这是计算指数的关键依据。</a:t>
            </a:r>
          </a:p>
        </p:txBody>
      </p:sp>
      <p:sp>
        <p:nvSpPr>
          <p:cNvPr name="AutoShape 10" id="10"/>
          <p:cNvSpPr/>
          <p:nvPr/>
        </p:nvSpPr>
        <p:spPr>
          <a:xfrm rot="0" flipH="false" flipV="false">
            <a:off x="4381500" y="3810000"/>
            <a:ext cx="3429000" cy="1587500"/>
          </a:xfrm>
          <a:prstGeom prst="roundRect">
            <a:avLst>
              <a:gd name="adj" fmla="val 0"/>
            </a:avLst>
          </a:prstGeom>
          <a:solidFill>
            <a:srgbClr val="FFFFFF">
              <a:alpha val="70000"/>
            </a:srgbClr>
          </a:solidFill>
          <a:ln w="12700" cmpd="sng" cap="flat">
            <a:solidFill>
              <a:srgbClr val="37474F">
                <a:alpha val="15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381500" y="3810000"/>
            <a:ext cx="76200" cy="1587500"/>
          </a:xfrm>
          <a:prstGeom prst="roundRect">
            <a:avLst>
              <a:gd name="adj" fmla="val 0"/>
            </a:avLst>
          </a:prstGeom>
          <a:solidFill>
            <a:srgbClr val="26A69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635500" y="3937000"/>
            <a:ext cx="2921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02. 代入数乘常数 k</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46E7A"/>
                </a:solidFill>
                <a:latin typeface="Noto Sans SC"/>
                <a:ea typeface="Noto Sans SC"/>
                <a:cs typeface="Noto Sans SC"/>
                <a:sym typeface="Noto Sans SC"/>
              </a:rPr>
              <a:t>题目要求计算 |2A|，即数乘常数 k = 2。根据性质，需计算 k 的 n 次方，即 2³ = 8。</a:t>
            </a:r>
          </a:p>
        </p:txBody>
      </p:sp>
      <p:sp>
        <p:nvSpPr>
          <p:cNvPr name="AutoShape 13" id="13"/>
          <p:cNvSpPr/>
          <p:nvPr/>
        </p:nvSpPr>
        <p:spPr>
          <a:xfrm rot="0" flipH="false" flipV="false">
            <a:off x="8001000" y="3810000"/>
            <a:ext cx="3429000" cy="1587500"/>
          </a:xfrm>
          <a:prstGeom prst="roundRect">
            <a:avLst>
              <a:gd name="adj" fmla="val 0"/>
            </a:avLst>
          </a:prstGeom>
          <a:solidFill>
            <a:srgbClr val="FFFFFF">
              <a:alpha val="70000"/>
            </a:srgbClr>
          </a:solidFill>
          <a:ln w="12700" cmpd="sng" cap="flat">
            <a:solidFill>
              <a:srgbClr val="37474F">
                <a:alpha val="15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001000" y="3810000"/>
            <a:ext cx="76200" cy="1587500"/>
          </a:xfrm>
          <a:prstGeom prst="roundRect">
            <a:avLst>
              <a:gd name="adj" fmla="val 0"/>
            </a:avLst>
          </a:prstGeom>
          <a:solidFill>
            <a:srgbClr val="26A69A">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255000" y="3937000"/>
            <a:ext cx="2921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03. 结合 |A| 完成计算</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46E7A"/>
                </a:solidFill>
                <a:latin typeface="Noto Sans SC"/>
                <a:ea typeface="Noto Sans SC"/>
                <a:cs typeface="Noto Sans SC"/>
                <a:sym typeface="Noto Sans SC"/>
              </a:rPr>
              <a:t>已知 |A| = 3，因此 |2A| = 8 × 3 = 24。注意区分数乘矩阵与数乘行列式的不同规则。</a:t>
            </a:r>
          </a:p>
        </p:txBody>
      </p:sp>
      <p:sp>
        <p:nvSpPr>
          <p:cNvPr name="AutoShape 16" id="16"/>
          <p:cNvSpPr/>
          <p:nvPr/>
        </p:nvSpPr>
        <p:spPr>
          <a:xfrm rot="0" flipH="false" flipV="false">
            <a:off x="762000" y="5715000"/>
            <a:ext cx="10668000" cy="762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16000" y="5842000"/>
            <a:ext cx="444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综上，该行列式的最终计算结果为：</a:t>
            </a:r>
            <a:endParaRPr lang="en-US" sz="1100"/>
          </a:p>
        </p:txBody>
      </p:sp>
      <p:sp>
        <p:nvSpPr>
          <p:cNvPr name="AutoShape 18" id="18"/>
          <p:cNvSpPr/>
          <p:nvPr/>
        </p:nvSpPr>
        <p:spPr>
          <a:xfrm rot="0" flipH="false" flipV="false">
            <a:off x="6096000" y="5778500"/>
            <a:ext cx="4953000" cy="635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true" i="false" strike="noStrike" u="none" sz="2800">
                <a:solidFill>
                  <a:srgbClr val="26A69A"/>
                </a:solidFill>
                <a:latin typeface="Noto Sans SC"/>
                <a:ea typeface="Noto Sans SC"/>
                <a:cs typeface="Noto Sans SC"/>
                <a:sym typeface="Noto Sans SC"/>
              </a:rPr>
              <a:t>24</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问题13：逆矩阵的行列式</a:t>
            </a:r>
            <a:endParaRPr lang="en-US" sz="1100"/>
          </a:p>
        </p:txBody>
      </p:sp>
      <p:sp>
        <p:nvSpPr>
          <p:cNvPr name="AutoShape 4" id="4"/>
          <p:cNvSpPr/>
          <p:nvPr/>
        </p:nvSpPr>
        <p:spPr>
          <a:xfrm rot="0" flipH="false" flipV="false">
            <a:off x="762000" y="1778000"/>
            <a:ext cx="3302000" cy="3429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302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95500"/>
            <a:ext cx="304800" cy="304800"/>
          </a:xfrm>
          <a:prstGeom prst="rect">
            <a:avLst/>
          </a:prstGeom>
        </p:spPr>
      </p:pic>
      <p:sp>
        <p:nvSpPr>
          <p:cNvPr name="AutoShape 7" id="7"/>
          <p:cNvSpPr/>
          <p:nvPr/>
        </p:nvSpPr>
        <p:spPr>
          <a:xfrm rot="0" flipH="false" flipV="false">
            <a:off x="1460500" y="2057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题目条件与要求</a:t>
            </a:r>
            <a:endParaRPr lang="en-US" sz="1100"/>
          </a:p>
        </p:txBody>
      </p:sp>
      <p:cxnSp>
        <p:nvCxnSpPr>
          <p:cNvPr name="Connector 8" id="8"/>
          <p:cNvCxnSpPr/>
          <p:nvPr/>
        </p:nvCxnSpPr>
        <p:spPr>
          <a:xfrm rot="-15626" flipH="false" flipV="false">
            <a:off x="1016014" y="2660650"/>
            <a:ext cx="2794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9" id="9"/>
          <p:cNvSpPr/>
          <p:nvPr/>
        </p:nvSpPr>
        <p:spPr>
          <a:xfrm rot="0" flipH="false" flipV="false">
            <a:off x="1016000" y="2921000"/>
            <a:ext cx="2794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455A64"/>
                </a:solidFill>
                <a:latin typeface="Noto Sans SC"/>
                <a:ea typeface="Noto Sans SC"/>
                <a:cs typeface="Noto Sans SC"/>
                <a:sym typeface="Noto Sans SC"/>
              </a:rPr>
              <a:t>已知 \( A \) 是 3 阶方阵，其 3 个特征值分别为 \( 1 \)，\( 2 \)，\( 3 \)。</a:t>
            </a:r>
            <a:r>
              <a:rPr lang="en-US" b="false" i="false" strike="noStrike" u="none" sz="1500">
                <a:solidFill>
                  <a:srgbClr val="455A64"/>
                </a:solidFill>
                <a:latin typeface="Noto Sans SC"/>
                <a:ea typeface="Noto Sans SC"/>
                <a:cs typeface="Noto Sans SC"/>
                <a:sym typeface="Noto Sans SC"/>
              </a:rPr>
              <a:t/>
            </a:r>
            <a:endParaRPr lang="en-US" sz="1100"/>
          </a:p>
          <a:p>
            <a:pPr algn="l" marL="0" indent="0">
              <a:lnSpc>
                <a:spcPct val="125000"/>
              </a:lnSpc>
            </a:pPr>
            <a:r>
              <a:rPr lang="en-US" b="false" i="false" strike="noStrike" u="none" sz="1500">
                <a:solidFill>
                  <a:srgbClr val="455A64"/>
                </a:solidFill>
                <a:latin typeface="Noto Sans SC"/>
                <a:ea typeface="Noto Sans SC"/>
                <a:cs typeface="Noto Sans SC"/>
                <a:sym typeface="Noto Sans SC"/>
              </a:rPr>
              <a:t>求解目标：计算该矩阵的逆矩阵的行列式，即 \( |A^{-1}| = ? \)</a:t>
            </a:r>
          </a:p>
        </p:txBody>
      </p:sp>
      <p:sp>
        <p:nvSpPr>
          <p:cNvPr name="AutoShape 10" id="10"/>
          <p:cNvSpPr/>
          <p:nvPr/>
        </p:nvSpPr>
        <p:spPr>
          <a:xfrm rot="0" flipH="false" flipV="false">
            <a:off x="4445000" y="1778000"/>
            <a:ext cx="3302000" cy="3429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1778000"/>
            <a:ext cx="3302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95500"/>
            <a:ext cx="304800" cy="304800"/>
          </a:xfrm>
          <a:prstGeom prst="rect">
            <a:avLst/>
          </a:prstGeom>
        </p:spPr>
      </p:pic>
      <p:sp>
        <p:nvSpPr>
          <p:cNvPr name="AutoShape 13" id="13"/>
          <p:cNvSpPr/>
          <p:nvPr/>
        </p:nvSpPr>
        <p:spPr>
          <a:xfrm rot="0" flipH="false" flipV="false">
            <a:off x="5143500" y="2057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关键理论依据</a:t>
            </a:r>
            <a:endParaRPr lang="en-US" sz="1100"/>
          </a:p>
        </p:txBody>
      </p:sp>
      <p:cxnSp>
        <p:nvCxnSpPr>
          <p:cNvPr name="Connector 14" id="14"/>
          <p:cNvCxnSpPr/>
          <p:nvPr/>
        </p:nvCxnSpPr>
        <p:spPr>
          <a:xfrm rot="-15626" flipH="false" flipV="false">
            <a:off x="4699014" y="2660650"/>
            <a:ext cx="2794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15" id="15"/>
          <p:cNvSpPr/>
          <p:nvPr/>
        </p:nvSpPr>
        <p:spPr>
          <a:xfrm rot="0" flipH="false" flipV="false">
            <a:off x="4699000" y="2921000"/>
            <a:ext cx="2794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26A69A"/>
                </a:solidFill>
                <a:latin typeface="Noto Sans SC"/>
                <a:ea typeface="Noto Sans SC"/>
                <a:cs typeface="Noto Sans SC"/>
                <a:sym typeface="Noto Sans SC"/>
              </a:rPr>
              <a:t>1. 方阵行列式与特征值：</a:t>
            </a:r>
            <a:r>
              <a:rPr lang="en-US" b="false" i="false" strike="noStrike" u="none" sz="1400">
                <a:solidFill>
                  <a:srgbClr val="455A64"/>
                </a:solidFill>
                <a:latin typeface="Noto Sans SC"/>
                <a:ea typeface="Noto Sans SC"/>
                <a:cs typeface="Noto Sans SC"/>
                <a:sym typeface="Noto Sans SC"/>
              </a:rPr>
              <a:t>n 阶方阵的行列式等于其所有特征值的乘积，即 \( |A| = \lambda_1 \lambda_2 \dots \lambda_n \)。</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500">
                <a:solidFill>
                  <a:srgbClr val="26A69A"/>
                </a:solidFill>
                <a:latin typeface="Noto Sans SC"/>
                <a:ea typeface="Noto Sans SC"/>
                <a:cs typeface="Noto Sans SC"/>
                <a:sym typeface="Noto Sans SC"/>
              </a:rPr>
              <a:t>2. 逆矩阵的行列式性质：</a:t>
            </a:r>
            <a:r>
              <a:rPr lang="en-US" b="false" i="false" strike="noStrike" u="none" sz="1400">
                <a:solidFill>
                  <a:srgbClr val="455A64"/>
                </a:solidFill>
                <a:latin typeface="Noto Sans SC"/>
                <a:ea typeface="Noto Sans SC"/>
                <a:cs typeface="Noto Sans SC"/>
                <a:sym typeface="Noto Sans SC"/>
              </a:rPr>
              <a:t>若矩阵可逆，则 \( |A^{-1}| = \frac{1}{|A|} \)，即逆矩阵的行列式等于原矩阵行列式的倒数。</a:t>
            </a:r>
          </a:p>
        </p:txBody>
      </p:sp>
      <p:sp>
        <p:nvSpPr>
          <p:cNvPr name="AutoShape 16" id="16"/>
          <p:cNvSpPr/>
          <p:nvPr/>
        </p:nvSpPr>
        <p:spPr>
          <a:xfrm rot="0" flipH="false" flipV="false">
            <a:off x="8128000" y="1778000"/>
            <a:ext cx="3302000" cy="3429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1778000"/>
            <a:ext cx="3302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095500"/>
            <a:ext cx="304800" cy="304800"/>
          </a:xfrm>
          <a:prstGeom prst="rect">
            <a:avLst/>
          </a:prstGeom>
        </p:spPr>
      </p:pic>
      <p:sp>
        <p:nvSpPr>
          <p:cNvPr name="AutoShape 19" id="19"/>
          <p:cNvSpPr/>
          <p:nvPr/>
        </p:nvSpPr>
        <p:spPr>
          <a:xfrm rot="0" flipH="false" flipV="false">
            <a:off x="8826500" y="20574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分步推导计算</a:t>
            </a:r>
            <a:endParaRPr lang="en-US" sz="1100"/>
          </a:p>
        </p:txBody>
      </p:sp>
      <p:cxnSp>
        <p:nvCxnSpPr>
          <p:cNvPr name="Connector 20" id="20"/>
          <p:cNvCxnSpPr/>
          <p:nvPr/>
        </p:nvCxnSpPr>
        <p:spPr>
          <a:xfrm rot="-15626" flipH="false" flipV="false">
            <a:off x="8382014" y="2660650"/>
            <a:ext cx="2794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21" id="21"/>
          <p:cNvSpPr/>
          <p:nvPr/>
        </p:nvSpPr>
        <p:spPr>
          <a:xfrm rot="0" flipH="false" flipV="false">
            <a:off x="8382000" y="2921000"/>
            <a:ext cx="2794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455A64"/>
                </a:solidFill>
                <a:latin typeface="Noto Sans SC"/>
                <a:ea typeface="Noto Sans SC"/>
                <a:cs typeface="Noto Sans SC"/>
                <a:sym typeface="Noto Sans SC"/>
              </a:rPr>
              <a:t>第一步：计算 \( |A| \)。</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607D8B"/>
                </a:solidFill>
                <a:latin typeface="Noto Sans SC"/>
                <a:ea typeface="Noto Sans SC"/>
                <a:cs typeface="Noto Sans SC"/>
                <a:sym typeface="Noto Sans SC"/>
              </a:rPr>
              <a:t>\( |A| = 1 \times 2 \times 3 = 6 \)。</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500">
                <a:solidFill>
                  <a:srgbClr val="455A64"/>
                </a:solidFill>
                <a:latin typeface="Noto Sans SC"/>
                <a:ea typeface="Noto Sans SC"/>
                <a:cs typeface="Noto Sans SC"/>
                <a:sym typeface="Noto Sans SC"/>
              </a:rPr>
              <a:t>第二步：求逆矩阵的行列式。</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607D8B"/>
                </a:solidFill>
                <a:latin typeface="Noto Sans SC"/>
                <a:ea typeface="Noto Sans SC"/>
                <a:cs typeface="Noto Sans SC"/>
                <a:sym typeface="Noto Sans SC"/>
              </a:rPr>
              <a:t>由性质得 \( |A^{-1}| = \frac{1}{|A|} = \frac{1}{6} \)。</a:t>
            </a:r>
          </a:p>
        </p:txBody>
      </p:sp>
      <p:sp>
        <p:nvSpPr>
          <p:cNvPr name="AutoShape 22" id="22"/>
          <p:cNvSpPr/>
          <p:nvPr/>
        </p:nvSpPr>
        <p:spPr>
          <a:xfrm rot="0" flipH="false" flipV="false">
            <a:off x="762000" y="5588000"/>
            <a:ext cx="10668000" cy="889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2000" y="5588000"/>
            <a:ext cx="76200" cy="889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1079500" y="5715000"/>
            <a:ext cx="10096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37474F"/>
                </a:solidFill>
                <a:latin typeface="Noto Sans SC"/>
                <a:ea typeface="Noto Sans SC"/>
                <a:cs typeface="Noto Sans SC"/>
                <a:sym typeface="Noto Sans SC"/>
              </a:rPr>
              <a:t>结论：该3阶方阵逆矩阵的行列式为</a:t>
            </a:r>
            <a:r>
              <a:rPr lang="en-US" b="true" i="false" strike="noStrike" u="none" sz="2000">
                <a:solidFill>
                  <a:srgbClr val="26A69A"/>
                </a:solidFill>
                <a:latin typeface="Noto Sans SC"/>
                <a:ea typeface="Noto Sans SC"/>
                <a:cs typeface="Noto Sans SC"/>
                <a:sym typeface="Noto Sans SC"/>
              </a:rPr>
              <a:t>\(\boldsymbol{\frac{1}{6}}\)</a:t>
            </a:r>
            <a:r>
              <a:rPr lang="en-US" b="false" i="false" strike="noStrike" u="none" sz="1600">
                <a:solidFill>
                  <a:srgbClr val="37474F"/>
                </a:solidFill>
                <a:latin typeface="Noto Sans SC"/>
                <a:ea typeface="Noto Sans SC"/>
                <a:cs typeface="Noto Sans SC"/>
                <a:sym typeface="Noto Sans SC"/>
              </a:rPr>
              <a:t>。解题的核心在于串联“特征值求行列式”与“逆矩阵行列式性质”这两个知识点。</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问题13：解题思路</a:t>
            </a:r>
            <a:endParaRPr lang="en-US" sz="1100"/>
          </a:p>
        </p:txBody>
      </p:sp>
      <p:sp>
        <p:nvSpPr>
          <p:cNvPr name="AutoShape 4" id="4"/>
          <p:cNvSpPr/>
          <p:nvPr/>
        </p:nvSpPr>
        <p:spPr>
          <a:xfrm rot="0" flipH="false" flipV="false">
            <a:off x="762000" y="1778000"/>
            <a:ext cx="3429000" cy="3556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429000" cy="762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95500"/>
            <a:ext cx="355600" cy="355600"/>
          </a:xfrm>
          <a:prstGeom prst="rect">
            <a:avLst/>
          </a:prstGeom>
        </p:spPr>
      </p:pic>
      <p:sp>
        <p:nvSpPr>
          <p:cNvPr name="AutoShape 7" id="7"/>
          <p:cNvSpPr/>
          <p:nvPr/>
        </p:nvSpPr>
        <p:spPr>
          <a:xfrm rot="0" flipH="false" flipV="false">
            <a:off x="1460500" y="2057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核心定理依据</a:t>
            </a:r>
            <a:endParaRPr lang="en-US" sz="1100"/>
          </a:p>
        </p:txBody>
      </p:sp>
      <p:cxnSp>
        <p:nvCxnSpPr>
          <p:cNvPr name="Connector 8" id="8"/>
          <p:cNvCxnSpPr/>
          <p:nvPr/>
        </p:nvCxnSpPr>
        <p:spPr>
          <a:xfrm rot="-14946" flipH="false" flipV="false">
            <a:off x="1016014" y="2660650"/>
            <a:ext cx="2921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9" id="9"/>
          <p:cNvSpPr/>
          <p:nvPr/>
        </p:nvSpPr>
        <p:spPr>
          <a:xfrm rot="0" flipH="false" flipV="false">
            <a:off x="1016000" y="2921000"/>
            <a:ext cx="2921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A69A"/>
                </a:solidFill>
                <a:latin typeface="Noto Sans SC"/>
                <a:ea typeface="Noto Sans SC"/>
                <a:cs typeface="Noto Sans SC"/>
                <a:sym typeface="Noto Sans SC"/>
              </a:rPr>
              <a:t>01. 行列式与特征值</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n阶矩阵的行列式的值，等于该矩阵所有特征值的乘积。即 |A| = λ₁·λ₂·…·λₙ。</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500">
                <a:solidFill>
                  <a:srgbClr val="26A69A"/>
                </a:solidFill>
                <a:latin typeface="Noto Sans SC"/>
                <a:ea typeface="Noto Sans SC"/>
                <a:cs typeface="Noto Sans SC"/>
                <a:sym typeface="Noto Sans SC"/>
              </a:rPr>
              <a:t>02. 逆矩阵的行列式</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可逆矩阵的逆矩阵的行列式，等于原矩阵行列式的倒数。即 |A⁻¹| = 1/|A|。</a:t>
            </a:r>
          </a:p>
        </p:txBody>
      </p:sp>
      <p:sp>
        <p:nvSpPr>
          <p:cNvPr name="AutoShape 10" id="10"/>
          <p:cNvSpPr/>
          <p:nvPr/>
        </p:nvSpPr>
        <p:spPr>
          <a:xfrm rot="0" flipH="false" flipV="false">
            <a:off x="4445000" y="1778000"/>
            <a:ext cx="3429000" cy="35560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1778000"/>
            <a:ext cx="3429000" cy="76200"/>
          </a:xfrm>
          <a:prstGeom prst="roundRect">
            <a:avLst>
              <a:gd name="adj" fmla="val 0"/>
            </a:avLst>
          </a:prstGeom>
          <a:solidFill>
            <a:srgbClr val="26A69A">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95500"/>
            <a:ext cx="355600" cy="355600"/>
          </a:xfrm>
          <a:prstGeom prst="rect">
            <a:avLst/>
          </a:prstGeom>
        </p:spPr>
      </p:pic>
      <p:sp>
        <p:nvSpPr>
          <p:cNvPr name="AutoShape 13" id="13"/>
          <p:cNvSpPr/>
          <p:nvPr/>
        </p:nvSpPr>
        <p:spPr>
          <a:xfrm rot="0" flipH="false" flipV="false">
            <a:off x="5143500" y="2057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逐步推导计算</a:t>
            </a:r>
            <a:endParaRPr lang="en-US" sz="1100"/>
          </a:p>
        </p:txBody>
      </p:sp>
      <p:cxnSp>
        <p:nvCxnSpPr>
          <p:cNvPr name="Connector 14" id="14"/>
          <p:cNvCxnSpPr/>
          <p:nvPr/>
        </p:nvCxnSpPr>
        <p:spPr>
          <a:xfrm rot="-14946" flipH="false" flipV="false">
            <a:off x="4699014" y="2660650"/>
            <a:ext cx="2921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15" id="15"/>
          <p:cNvSpPr/>
          <p:nvPr/>
        </p:nvSpPr>
        <p:spPr>
          <a:xfrm rot="0" flipH="false" flipV="false">
            <a:off x="4699000" y="2921000"/>
            <a:ext cx="2921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500">
                <a:solidFill>
                  <a:srgbClr val="37474F"/>
                </a:solidFill>
                <a:latin typeface="Noto Sans SC"/>
                <a:ea typeface="Noto Sans SC"/>
                <a:cs typeface="Noto Sans SC"/>
                <a:sym typeface="Noto Sans SC"/>
              </a:rPr>
              <a:t>第一步：求原矩阵行列式 |A|</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已知矩阵A的特征值为1, 2, 3，根据定理，其行列式为特征值的乘积：</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400">
                <a:solidFill>
                  <a:srgbClr val="26A69A"/>
                </a:solidFill>
                <a:latin typeface="Noto Sans SC"/>
                <a:ea typeface="Noto Sans SC"/>
                <a:cs typeface="Noto Sans SC"/>
                <a:sym typeface="Noto Sans SC"/>
              </a:rPr>
              <a:t>|A| = 1 × 2 × 3 = 6</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33333"/>
              </a:lnSpc>
            </a:pPr>
            <a:r>
              <a:rPr lang="en-US" b="true" i="false" strike="noStrike" u="none" sz="1500">
                <a:solidFill>
                  <a:srgbClr val="37474F"/>
                </a:solidFill>
                <a:latin typeface="Noto Sans SC"/>
                <a:ea typeface="Noto Sans SC"/>
                <a:cs typeface="Noto Sans SC"/>
                <a:sym typeface="Noto Sans SC"/>
              </a:rPr>
              <a:t>第二步：求逆矩阵行列式 |A⁻¹|</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代入逆矩阵行列式的性质公式，可得：</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400">
                <a:solidFill>
                  <a:srgbClr val="26A69A"/>
                </a:solidFill>
                <a:latin typeface="Noto Sans SC"/>
                <a:ea typeface="Noto Sans SC"/>
                <a:cs typeface="Noto Sans SC"/>
                <a:sym typeface="Noto Sans SC"/>
              </a:rPr>
              <a:t>|A⁻¹| = 1 / |A| = 1/6</a:t>
            </a:r>
          </a:p>
        </p:txBody>
      </p:sp>
      <p:sp>
        <p:nvSpPr>
          <p:cNvPr name="AutoShape 16" id="16"/>
          <p:cNvSpPr/>
          <p:nvPr/>
        </p:nvSpPr>
        <p:spPr>
          <a:xfrm rot="0" flipH="false" flipV="false">
            <a:off x="8001000" y="1778000"/>
            <a:ext cx="3429000" cy="3556000"/>
          </a:xfrm>
          <a:prstGeom prst="roundRect">
            <a:avLst>
              <a:gd name="adj" fmla="val 0"/>
            </a:avLst>
          </a:prstGeom>
          <a:solidFill>
            <a:srgbClr val="26A69A">
              <a:alpha val="8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01000" y="1778000"/>
            <a:ext cx="3429000" cy="762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2095500"/>
            <a:ext cx="355600" cy="355600"/>
          </a:xfrm>
          <a:prstGeom prst="rect">
            <a:avLst/>
          </a:prstGeom>
        </p:spPr>
      </p:pic>
      <p:sp>
        <p:nvSpPr>
          <p:cNvPr name="AutoShape 19" id="19"/>
          <p:cNvSpPr/>
          <p:nvPr/>
        </p:nvSpPr>
        <p:spPr>
          <a:xfrm rot="0" flipH="false" flipV="false">
            <a:off x="8699500" y="2057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最终答案</a:t>
            </a:r>
            <a:endParaRPr lang="en-US" sz="1100"/>
          </a:p>
        </p:txBody>
      </p:sp>
      <p:cxnSp>
        <p:nvCxnSpPr>
          <p:cNvPr name="Connector 20" id="20"/>
          <p:cNvCxnSpPr/>
          <p:nvPr/>
        </p:nvCxnSpPr>
        <p:spPr>
          <a:xfrm rot="-14946" flipH="false" flipV="false">
            <a:off x="8255014" y="2660650"/>
            <a:ext cx="2921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21" id="21"/>
          <p:cNvSpPr/>
          <p:nvPr/>
        </p:nvSpPr>
        <p:spPr>
          <a:xfrm rot="0" flipH="false" flipV="false">
            <a:off x="8191500" y="3302000"/>
            <a:ext cx="3048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6400">
                <a:solidFill>
                  <a:srgbClr val="26A69A"/>
                </a:solidFill>
                <a:latin typeface="Noto Sans SC"/>
                <a:ea typeface="Noto Sans SC"/>
                <a:cs typeface="Noto Sans SC"/>
                <a:sym typeface="Noto Sans SC"/>
              </a:rPr>
              <a:t>1/6</a:t>
            </a:r>
            <a:endParaRPr lang="en-US" sz="1100"/>
          </a:p>
        </p:txBody>
      </p:sp>
      <p:sp>
        <p:nvSpPr>
          <p:cNvPr name="AutoShape 22" id="22"/>
          <p:cNvSpPr/>
          <p:nvPr/>
        </p:nvSpPr>
        <p:spPr>
          <a:xfrm rot="0" flipH="false" flipV="false">
            <a:off x="8191500" y="5080000"/>
            <a:ext cx="3048000" cy="762000"/>
          </a:xfrm>
          <a:prstGeom prst="rect">
            <a:avLst/>
          </a:prstGeom>
          <a:noFill/>
          <a:ln w="12700" cmpd="sng" cap="flat">
            <a:noFill/>
            <a:prstDash val="solid"/>
            <a:round/>
          </a:ln>
        </p:spPr>
        <p:txBody>
          <a:bodyPr anchor="ctr" rtlCol="false" anchorCtr="false" vert="horz" wrap="square" lIns="0" rIns="0" tIns="0" bIns="0"/>
          <a:lstStyle/>
          <a:p>
            <a:pPr algn="just" marL="0" indent="0">
              <a:lnSpc>
                <a:spcPct val="116666"/>
              </a:lnSpc>
              <a:defRPr/>
            </a:pPr>
            <a:r>
              <a:rPr lang="en-US" b="false" i="false" strike="noStrike" u="none" sz="1300">
                <a:solidFill>
                  <a:srgbClr val="546E7A"/>
                </a:solidFill>
                <a:latin typeface="Noto Sans SC"/>
                <a:ea typeface="Noto Sans SC"/>
                <a:cs typeface="Noto Sans SC"/>
                <a:sym typeface="Noto Sans SC"/>
              </a:rPr>
              <a:t>解题关键在于熟练掌握矩阵特征值与行列式、逆矩阵与行列式之间的核心运算关系，通过分步代入公式即可得出结果。</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14：二次型标准型</a:t>
            </a:r>
            <a:endParaRPr lang="en-US" sz="1100"/>
          </a:p>
        </p:txBody>
      </p:sp>
      <p:sp>
        <p:nvSpPr>
          <p:cNvPr name="AutoShape 4" id="4"/>
          <p:cNvSpPr/>
          <p:nvPr/>
        </p:nvSpPr>
        <p:spPr>
          <a:xfrm rot="0" flipH="false" flipV="false">
            <a:off x="762000" y="1778000"/>
            <a:ext cx="4572000" cy="27940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2794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68500"/>
            <a:ext cx="406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6A69A"/>
                </a:solidFill>
                <a:latin typeface="Noto Sans SC"/>
                <a:ea typeface="Noto Sans SC"/>
                <a:cs typeface="Noto Sans SC"/>
                <a:sym typeface="Noto Sans SC"/>
              </a:rPr>
              <a:t>题目条件</a:t>
            </a:r>
            <a:endParaRPr lang="en-US" sz="1100"/>
          </a:p>
        </p:txBody>
      </p:sp>
      <p:cxnSp>
        <p:nvCxnSpPr>
          <p:cNvPr name="Connector 7" id="7"/>
          <p:cNvCxnSpPr/>
          <p:nvPr/>
        </p:nvCxnSpPr>
        <p:spPr>
          <a:xfrm rot="-10742" flipH="false" flipV="false">
            <a:off x="1016010" y="2597150"/>
            <a:ext cx="4064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8" id="8"/>
          <p:cNvSpPr/>
          <p:nvPr/>
        </p:nvSpPr>
        <p:spPr>
          <a:xfrm rot="0" flipH="false" flipV="false">
            <a:off x="1016000" y="2794000"/>
            <a:ext cx="406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37474F"/>
                </a:solidFill>
                <a:latin typeface="Noto Sans SC"/>
                <a:ea typeface="Noto Sans SC"/>
                <a:cs typeface="Noto Sans SC"/>
                <a:sym typeface="Noto Sans SC"/>
              </a:rPr>
              <a:t>二次型</a:t>
            </a:r>
            <a:r>
              <a:rPr lang="en-US" b="true" i="false" strike="noStrike" u="none" sz="1600">
                <a:solidFill>
                  <a:srgbClr val="26A69A"/>
                </a:solidFill>
                <a:latin typeface="Noto Sans SC"/>
                <a:ea typeface="Noto Sans SC"/>
                <a:cs typeface="Noto Sans SC"/>
                <a:sym typeface="Noto Sans SC"/>
              </a:rPr>
              <a:t>f(x₁,x₂) = 2x₁² + 2x₂² - 2x₁x₂</a:t>
            </a:r>
            <a:r>
              <a:rPr lang="en-US" b="false" i="false" strike="noStrike" u="none" sz="1600">
                <a:solidFill>
                  <a:srgbClr val="37474F"/>
                </a:solidFill>
                <a:latin typeface="Noto Sans SC"/>
                <a:ea typeface="Noto Sans SC"/>
                <a:cs typeface="Noto Sans SC"/>
                <a:sym typeface="Noto Sans SC"/>
              </a:rPr>
              <a:t>，经正交变换 x = Py 化成的标准型为？</a:t>
            </a:r>
            <a:endParaRPr lang="en-US" sz="1100"/>
          </a:p>
        </p:txBody>
      </p:sp>
      <p:sp>
        <p:nvSpPr>
          <p:cNvPr name="AutoShape 9" id="9"/>
          <p:cNvSpPr/>
          <p:nvPr/>
        </p:nvSpPr>
        <p:spPr>
          <a:xfrm rot="0" flipH="false" flipV="false">
            <a:off x="762000" y="5080000"/>
            <a:ext cx="4572000" cy="1143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5270500"/>
            <a:ext cx="304800" cy="304800"/>
          </a:xfrm>
          <a:prstGeom prst="rect">
            <a:avLst/>
          </a:prstGeom>
        </p:spPr>
      </p:pic>
      <p:sp>
        <p:nvSpPr>
          <p:cNvPr name="AutoShape 11" id="11"/>
          <p:cNvSpPr/>
          <p:nvPr/>
        </p:nvSpPr>
        <p:spPr>
          <a:xfrm rot="0" flipH="false" flipV="false">
            <a:off x="1397000" y="5232400"/>
            <a:ext cx="3746500" cy="8382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7474F"/>
                </a:solidFill>
                <a:latin typeface="Noto Sans SC"/>
                <a:ea typeface="Noto Sans SC"/>
                <a:cs typeface="Noto Sans SC"/>
                <a:sym typeface="Noto Sans SC"/>
              </a:rPr>
              <a:t>核心思路：</a:t>
            </a:r>
            <a:r>
              <a:rPr lang="en-US" b="false" i="false" strike="noStrike" u="none" sz="1400">
                <a:solidFill>
                  <a:srgbClr val="546E7A"/>
                </a:solidFill>
                <a:latin typeface="Noto Sans SC"/>
                <a:ea typeface="Noto Sans SC"/>
                <a:cs typeface="Noto Sans SC"/>
                <a:sym typeface="Noto Sans SC"/>
              </a:rPr>
              <a:t>正交变换化二次型为标准型，本质是求二次型矩阵的特征值，标准型的系数即为矩阵的特征值。</a:t>
            </a:r>
            <a:endParaRPr lang="en-US" sz="1100"/>
          </a:p>
        </p:txBody>
      </p:sp>
      <p:cxnSp>
        <p:nvCxnSpPr>
          <p:cNvPr name="Connector 12" id="12"/>
          <p:cNvCxnSpPr/>
          <p:nvPr/>
        </p:nvCxnSpPr>
        <p:spPr>
          <a:xfrm rot="5390177" flipH="false" flipV="false">
            <a:off x="3619500" y="3994159"/>
            <a:ext cx="4445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3" id="13"/>
          <p:cNvSpPr/>
          <p:nvPr/>
        </p:nvSpPr>
        <p:spPr>
          <a:xfrm rot="0" flipH="false" flipV="false">
            <a:off x="6223000" y="1778000"/>
            <a:ext cx="5207000" cy="1333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13500" y="1905000"/>
            <a:ext cx="4826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写出二次型的矩阵 A</a:t>
            </a:r>
            <a:endParaRPr lang="en-US" sz="1100"/>
          </a:p>
        </p:txBody>
      </p:sp>
      <p:cxnSp>
        <p:nvCxnSpPr>
          <p:cNvPr name="Connector 15" id="15"/>
          <p:cNvCxnSpPr/>
          <p:nvPr/>
        </p:nvCxnSpPr>
        <p:spPr>
          <a:xfrm rot="-9046" flipH="false" flipV="false">
            <a:off x="6413508" y="2343150"/>
            <a:ext cx="4826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6" id="16"/>
          <p:cNvSpPr/>
          <p:nvPr/>
        </p:nvSpPr>
        <p:spPr>
          <a:xfrm rot="0" flipH="false" flipV="false">
            <a:off x="6413500" y="2476500"/>
            <a:ext cx="482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500">
                <a:solidFill>
                  <a:srgbClr val="37474F"/>
                </a:solidFill>
                <a:latin typeface="Noto Sans SC"/>
                <a:ea typeface="Noto Sans SC"/>
                <a:cs typeface="Noto Sans SC"/>
                <a:sym typeface="Noto Sans SC"/>
              </a:rPr>
              <a:t>由二次型表达式，对应对称矩阵为：A =</a:t>
            </a:r>
            <a:r>
              <a:rPr lang="en-US" b="true" i="false" strike="noStrike" u="none" sz="1500">
                <a:solidFill>
                  <a:srgbClr val="26A69A"/>
                </a:solidFill>
                <a:latin typeface="Noto Sans SC"/>
                <a:ea typeface="Noto Sans SC"/>
                <a:cs typeface="Noto Sans SC"/>
                <a:sym typeface="Noto Sans SC"/>
              </a:rPr>
              <a:t>[[2, -1], [-1, 2]]</a:t>
            </a:r>
            <a:endParaRPr lang="en-US" sz="1100"/>
          </a:p>
        </p:txBody>
      </p:sp>
      <p:sp>
        <p:nvSpPr>
          <p:cNvPr name="AutoShape 17" id="17"/>
          <p:cNvSpPr/>
          <p:nvPr/>
        </p:nvSpPr>
        <p:spPr>
          <a:xfrm rot="0" flipH="false" flipV="false">
            <a:off x="6223000" y="3365500"/>
            <a:ext cx="52070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13500" y="3492500"/>
            <a:ext cx="4826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02. 计算矩阵 A 的特征值</a:t>
            </a:r>
            <a:endParaRPr lang="en-US" sz="1100"/>
          </a:p>
        </p:txBody>
      </p:sp>
      <p:cxnSp>
        <p:nvCxnSpPr>
          <p:cNvPr name="Connector 19" id="19"/>
          <p:cNvCxnSpPr/>
          <p:nvPr/>
        </p:nvCxnSpPr>
        <p:spPr>
          <a:xfrm rot="-9046" flipH="false" flipV="false">
            <a:off x="6413508" y="3930650"/>
            <a:ext cx="4826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20" id="20"/>
          <p:cNvSpPr/>
          <p:nvPr/>
        </p:nvSpPr>
        <p:spPr>
          <a:xfrm rot="0" flipH="false" flipV="false">
            <a:off x="6413500" y="4064000"/>
            <a:ext cx="482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500">
                <a:solidFill>
                  <a:srgbClr val="37474F"/>
                </a:solidFill>
                <a:latin typeface="Noto Sans SC"/>
                <a:ea typeface="Noto Sans SC"/>
                <a:cs typeface="Noto Sans SC"/>
                <a:sym typeface="Noto Sans SC"/>
              </a:rPr>
              <a:t>特征方程 |λE - A| = 0，解得特征值为</a:t>
            </a:r>
            <a:r>
              <a:rPr lang="en-US" b="true" i="false" strike="noStrike" u="none" sz="1500">
                <a:solidFill>
                  <a:srgbClr val="26A69A"/>
                </a:solidFill>
                <a:latin typeface="Noto Sans SC"/>
                <a:ea typeface="Noto Sans SC"/>
                <a:cs typeface="Noto Sans SC"/>
                <a:sym typeface="Noto Sans SC"/>
              </a:rPr>
              <a:t>λ₁ = 1，λ₂ = 3</a:t>
            </a:r>
            <a:r>
              <a:rPr lang="en-US" b="false" i="false" strike="noStrike" u="none" sz="1500">
                <a:solidFill>
                  <a:srgbClr val="37474F"/>
                </a:solidFill>
                <a:latin typeface="Noto Sans SC"/>
                <a:ea typeface="Noto Sans SC"/>
                <a:cs typeface="Noto Sans SC"/>
                <a:sym typeface="Noto Sans SC"/>
              </a:rPr>
              <a:t>。</a:t>
            </a:r>
            <a:endParaRPr lang="en-US" sz="1100"/>
          </a:p>
        </p:txBody>
      </p:sp>
      <p:sp>
        <p:nvSpPr>
          <p:cNvPr name="AutoShape 21" id="21"/>
          <p:cNvSpPr/>
          <p:nvPr/>
        </p:nvSpPr>
        <p:spPr>
          <a:xfrm rot="0" flipH="false" flipV="false">
            <a:off x="6223000" y="5080000"/>
            <a:ext cx="5207000" cy="1143000"/>
          </a:xfrm>
          <a:prstGeom prst="roundRect">
            <a:avLst>
              <a:gd name="adj" fmla="val 0"/>
            </a:avLst>
          </a:prstGeom>
          <a:solidFill>
            <a:srgbClr val="26A69A">
              <a:alpha val="15000"/>
            </a:srgbClr>
          </a:solidFill>
          <a:ln w="12700" cmpd="sng" cap="flat">
            <a:solidFill>
              <a:srgbClr val="26A69A">
                <a:alpha val="10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5270500"/>
            <a:ext cx="304800" cy="304800"/>
          </a:xfrm>
          <a:prstGeom prst="rect">
            <a:avLst/>
          </a:prstGeom>
        </p:spPr>
      </p:pic>
      <p:sp>
        <p:nvSpPr>
          <p:cNvPr name="AutoShape 23" id="23"/>
          <p:cNvSpPr/>
          <p:nvPr/>
        </p:nvSpPr>
        <p:spPr>
          <a:xfrm rot="0" flipH="false" flipV="false">
            <a:off x="6858000" y="5232400"/>
            <a:ext cx="4381500" cy="8382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37474F"/>
                </a:solidFill>
                <a:latin typeface="Noto Sans SC"/>
                <a:ea typeface="Noto Sans SC"/>
                <a:cs typeface="Noto Sans SC"/>
                <a:sym typeface="Noto Sans SC"/>
              </a:rPr>
              <a:t>最终标准型：</a:t>
            </a:r>
            <a:r>
              <a:rPr lang="en-US" b="false" i="false" strike="noStrike" u="none" sz="1500">
                <a:solidFill>
                  <a:srgbClr val="37474F"/>
                </a:solidFill>
                <a:latin typeface="Noto Sans SC"/>
                <a:ea typeface="Noto Sans SC"/>
                <a:cs typeface="Noto Sans SC"/>
                <a:sym typeface="Noto Sans SC"/>
              </a:rPr>
              <a:t>故经正交变换后的标准型为</a:t>
            </a:r>
            <a:r>
              <a:rPr lang="en-US" b="true" i="false" strike="noStrike" u="none" sz="1600">
                <a:solidFill>
                  <a:srgbClr val="26A69A"/>
                </a:solidFill>
                <a:latin typeface="Noto Sans SC"/>
                <a:ea typeface="Noto Sans SC"/>
                <a:cs typeface="Noto Sans SC"/>
                <a:sym typeface="Noto Sans SC"/>
              </a:rPr>
              <a:t>f = y₁² + 3y₂²</a:t>
            </a:r>
            <a:r>
              <a:rPr lang="en-US" b="false" i="false" strike="noStrike" u="none" sz="1500">
                <a:solidFill>
                  <a:srgbClr val="37474F"/>
                </a:solidFill>
                <a:latin typeface="Noto Sans SC"/>
                <a:ea typeface="Noto Sans SC"/>
                <a:cs typeface="Noto Sans SC"/>
                <a:sym typeface="Noto Sans SC"/>
              </a:rPr>
              <a:t>。</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问题14：解题思路</a:t>
            </a:r>
            <a:endParaRPr lang="en-US" sz="1100"/>
          </a:p>
        </p:txBody>
      </p:sp>
      <p:sp>
        <p:nvSpPr>
          <p:cNvPr name="AutoShape 4" id="4"/>
          <p:cNvSpPr/>
          <p:nvPr/>
        </p:nvSpPr>
        <p:spPr>
          <a:xfrm rot="0" flipH="false" flipV="false">
            <a:off x="762000" y="1651000"/>
            <a:ext cx="10668000" cy="1143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143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74F"/>
                </a:solidFill>
                <a:latin typeface="Noto Sans SC"/>
                <a:ea typeface="Noto Sans SC"/>
                <a:cs typeface="Noto Sans SC"/>
                <a:sym typeface="Noto Sans SC"/>
              </a:rPr>
              <a:t>正交变换化二次型为标准型的核心原理是：标准型中平方项的系数，恰好对应二次型矩阵的特征值。因此，求解二次型的标准型，本质上就是求解其矩阵的特征值。</a:t>
            </a:r>
            <a:endParaRPr lang="en-US" sz="1100"/>
          </a:p>
        </p:txBody>
      </p:sp>
      <p:sp>
        <p:nvSpPr>
          <p:cNvPr name="AutoShape 7" id="7"/>
          <p:cNvSpPr/>
          <p:nvPr/>
        </p:nvSpPr>
        <p:spPr>
          <a:xfrm rot="0" flipH="false" flipV="false">
            <a:off x="762000" y="3175000"/>
            <a:ext cx="3429000" cy="2159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302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构建二次型矩阵</a:t>
            </a:r>
            <a:endParaRPr lang="en-US" sz="1100"/>
          </a:p>
        </p:txBody>
      </p:sp>
      <p:cxnSp>
        <p:nvCxnSpPr>
          <p:cNvPr name="Connector 9" id="9"/>
          <p:cNvCxnSpPr/>
          <p:nvPr/>
        </p:nvCxnSpPr>
        <p:spPr>
          <a:xfrm rot="-14323" flipH="false" flipV="false">
            <a:off x="952513" y="3803650"/>
            <a:ext cx="3048000" cy="12700"/>
          </a:xfrm>
          <a:prstGeom prst="straightConnector1">
            <a:avLst/>
          </a:prstGeom>
          <a:solidFill>
            <a:srgbClr val="DEE0E3">
              <a:alpha val="100000"/>
            </a:srgbClr>
          </a:solidFill>
          <a:ln w="12700" cmpd="sng" cap="flat">
            <a:solidFill>
              <a:srgbClr val="26A69A">
                <a:alpha val="20000"/>
              </a:srgbClr>
            </a:solidFill>
            <a:prstDash val="dash"/>
            <a:round/>
            <a:headEnd type="none" w="med" len="med"/>
            <a:tailEnd type="none" w="med" len="med"/>
          </a:ln>
        </p:spPr>
      </p:cxnSp>
      <p:sp>
        <p:nvSpPr>
          <p:cNvPr name="AutoShape 10" id="10"/>
          <p:cNvSpPr/>
          <p:nvPr/>
        </p:nvSpPr>
        <p:spPr>
          <a:xfrm rot="0" flipH="false" flipV="false">
            <a:off x="9525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55A64"/>
                </a:solidFill>
                <a:latin typeface="Noto Sans SC"/>
                <a:ea typeface="Noto Sans SC"/>
                <a:cs typeface="Noto Sans SC"/>
                <a:sym typeface="Noto Sans SC"/>
              </a:rPr>
              <a:t>根据二次型表达式，写出对应的实对称矩阵：</a:t>
            </a:r>
            <a:r>
              <a:rPr lang="en-US" b="false" i="false" strike="noStrike" u="none" sz="1400">
                <a:solidFill>
                  <a:srgbClr val="455A64"/>
                </a:solidFill>
                <a:latin typeface="Noto Sans SC"/>
                <a:ea typeface="Noto Sans SC"/>
                <a:cs typeface="Noto Sans SC"/>
                <a:sym typeface="Noto Sans SC"/>
              </a:rPr>
              <a:t/>
            </a:r>
            <a:br>
              <a:rPr lang="en-US" b="false" i="false" strike="noStrike" u="none" sz="1400">
                <a:solidFill>
                  <a:srgbClr val="455A64"/>
                </a:solidFill>
                <a:latin typeface="Noto Sans SC"/>
                <a:ea typeface="Noto Sans SC"/>
                <a:cs typeface="Noto Sans SC"/>
                <a:sym typeface="Noto Sans SC"/>
              </a:rPr>
            </a:br>
            <a:r>
              <a:rPr lang="en-US" b="true" i="false" strike="noStrike" u="none" sz="1400">
                <a:solidFill>
                  <a:srgbClr val="455A64"/>
                </a:solidFill>
                <a:latin typeface="Noto Sans SC"/>
                <a:ea typeface="Noto Sans SC"/>
                <a:cs typeface="Noto Sans SC"/>
                <a:sym typeface="Noto Sans SC"/>
              </a:rPr>
              <a:t>A = [[2, -1], [-1, 2]]</a:t>
            </a:r>
            <a:endParaRPr lang="en-US" sz="1100"/>
          </a:p>
        </p:txBody>
      </p:sp>
      <p:sp>
        <p:nvSpPr>
          <p:cNvPr name="AutoShape 11" id="11"/>
          <p:cNvSpPr/>
          <p:nvPr/>
        </p:nvSpPr>
        <p:spPr>
          <a:xfrm rot="0" flipH="false" flipV="false">
            <a:off x="4381500" y="3175000"/>
            <a:ext cx="3429000" cy="2159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572000" y="3302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02. 求解矩阵特征值</a:t>
            </a:r>
            <a:endParaRPr lang="en-US" sz="1100"/>
          </a:p>
        </p:txBody>
      </p:sp>
      <p:cxnSp>
        <p:nvCxnSpPr>
          <p:cNvPr name="Connector 13" id="13"/>
          <p:cNvCxnSpPr/>
          <p:nvPr/>
        </p:nvCxnSpPr>
        <p:spPr>
          <a:xfrm rot="-14323" flipH="false" flipV="false">
            <a:off x="4572013" y="3803650"/>
            <a:ext cx="3048000" cy="12700"/>
          </a:xfrm>
          <a:prstGeom prst="straightConnector1">
            <a:avLst/>
          </a:prstGeom>
          <a:solidFill>
            <a:srgbClr val="DEE0E3">
              <a:alpha val="100000"/>
            </a:srgbClr>
          </a:solidFill>
          <a:ln w="12700" cmpd="sng" cap="flat">
            <a:solidFill>
              <a:srgbClr val="26A69A">
                <a:alpha val="20000"/>
              </a:srgbClr>
            </a:solidFill>
            <a:prstDash val="dash"/>
            <a:round/>
            <a:headEnd type="none" w="med" len="med"/>
            <a:tailEnd type="none" w="med" len="med"/>
          </a:ln>
        </p:spPr>
      </p:cxnSp>
      <p:sp>
        <p:nvSpPr>
          <p:cNvPr name="AutoShape 14" id="14"/>
          <p:cNvSpPr/>
          <p:nvPr/>
        </p:nvSpPr>
        <p:spPr>
          <a:xfrm rot="0" flipH="false" flipV="false">
            <a:off x="45720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55A64"/>
                </a:solidFill>
                <a:latin typeface="Noto Sans SC"/>
                <a:ea typeface="Noto Sans SC"/>
                <a:cs typeface="Noto Sans SC"/>
                <a:sym typeface="Noto Sans SC"/>
              </a:rPr>
              <a:t>解特征方程 |A-λE|=0，得：</a:t>
            </a:r>
            <a:r>
              <a:rPr lang="en-US" b="false" i="false" strike="noStrike" u="none" sz="1400">
                <a:solidFill>
                  <a:srgbClr val="455A64"/>
                </a:solidFill>
                <a:latin typeface="Noto Sans SC"/>
                <a:ea typeface="Noto Sans SC"/>
                <a:cs typeface="Noto Sans SC"/>
                <a:sym typeface="Noto Sans SC"/>
              </a:rPr>
              <a:t/>
            </a:r>
            <a:br>
              <a:rPr lang="en-US" b="false" i="false" strike="noStrike" u="none" sz="1400">
                <a:solidFill>
                  <a:srgbClr val="455A64"/>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λ² - 4λ + 3 = 0，解得特征值</a:t>
            </a:r>
            <a:r>
              <a:rPr lang="en-US" b="true" i="false" strike="noStrike" u="none" sz="1400">
                <a:solidFill>
                  <a:srgbClr val="455A64"/>
                </a:solidFill>
                <a:latin typeface="Noto Sans SC"/>
                <a:ea typeface="Noto Sans SC"/>
                <a:cs typeface="Noto Sans SC"/>
                <a:sym typeface="Noto Sans SC"/>
              </a:rPr>
              <a:t>λ₁=1, λ₂=3</a:t>
            </a:r>
            <a:r>
              <a:rPr lang="en-US" b="false" i="false" strike="noStrike" u="none" sz="1400">
                <a:solidFill>
                  <a:srgbClr val="455A64"/>
                </a:solidFill>
                <a:latin typeface="Noto Sans SC"/>
                <a:ea typeface="Noto Sans SC"/>
                <a:cs typeface="Noto Sans SC"/>
                <a:sym typeface="Noto Sans SC"/>
              </a:rPr>
              <a:t>。</a:t>
            </a:r>
            <a:endParaRPr lang="en-US" sz="1100"/>
          </a:p>
        </p:txBody>
      </p:sp>
      <p:sp>
        <p:nvSpPr>
          <p:cNvPr name="AutoShape 15" id="15"/>
          <p:cNvSpPr/>
          <p:nvPr/>
        </p:nvSpPr>
        <p:spPr>
          <a:xfrm rot="0" flipH="false" flipV="false">
            <a:off x="8001000" y="3175000"/>
            <a:ext cx="3429000" cy="2159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91500" y="3302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03. 写出标准型</a:t>
            </a:r>
            <a:endParaRPr lang="en-US" sz="1100"/>
          </a:p>
        </p:txBody>
      </p:sp>
      <p:cxnSp>
        <p:nvCxnSpPr>
          <p:cNvPr name="Connector 17" id="17"/>
          <p:cNvCxnSpPr/>
          <p:nvPr/>
        </p:nvCxnSpPr>
        <p:spPr>
          <a:xfrm rot="-14323" flipH="false" flipV="false">
            <a:off x="8191513" y="3803650"/>
            <a:ext cx="3048000" cy="12700"/>
          </a:xfrm>
          <a:prstGeom prst="straightConnector1">
            <a:avLst/>
          </a:prstGeom>
          <a:solidFill>
            <a:srgbClr val="DEE0E3">
              <a:alpha val="100000"/>
            </a:srgbClr>
          </a:solidFill>
          <a:ln w="12700" cmpd="sng" cap="flat">
            <a:solidFill>
              <a:srgbClr val="26A69A">
                <a:alpha val="20000"/>
              </a:srgbClr>
            </a:solidFill>
            <a:prstDash val="dash"/>
            <a:round/>
            <a:headEnd type="none" w="med" len="med"/>
            <a:tailEnd type="none" w="med" len="med"/>
          </a:ln>
        </p:spPr>
      </p:cxnSp>
      <p:sp>
        <p:nvSpPr>
          <p:cNvPr name="AutoShape 18" id="18"/>
          <p:cNvSpPr/>
          <p:nvPr/>
        </p:nvSpPr>
        <p:spPr>
          <a:xfrm rot="0" flipH="false" flipV="false">
            <a:off x="81915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55A64"/>
                </a:solidFill>
                <a:latin typeface="Noto Sans SC"/>
                <a:ea typeface="Noto Sans SC"/>
                <a:cs typeface="Noto Sans SC"/>
                <a:sym typeface="Noto Sans SC"/>
              </a:rPr>
              <a:t>将求得的特征值作为平方项的系数，按正交变换，可直接写出二次型的标准型形式。</a:t>
            </a:r>
            <a:endParaRPr lang="en-US" sz="1100"/>
          </a:p>
        </p:txBody>
      </p:sp>
      <p:sp>
        <p:nvSpPr>
          <p:cNvPr name="AutoShape 19" id="19"/>
          <p:cNvSpPr/>
          <p:nvPr/>
        </p:nvSpPr>
        <p:spPr>
          <a:xfrm rot="0" flipH="false" flipV="false">
            <a:off x="762000" y="5588000"/>
            <a:ext cx="10668000" cy="889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52500" y="5715000"/>
            <a:ext cx="152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最终答案：</a:t>
            </a:r>
            <a:endParaRPr lang="en-US" sz="1100"/>
          </a:p>
        </p:txBody>
      </p:sp>
      <p:cxnSp>
        <p:nvCxnSpPr>
          <p:cNvPr name="Connector 21" id="21"/>
          <p:cNvCxnSpPr/>
          <p:nvPr/>
        </p:nvCxnSpPr>
        <p:spPr>
          <a:xfrm rot="5331254" flipH="false" flipV="false">
            <a:off x="2349500" y="6026213"/>
            <a:ext cx="635000" cy="12700"/>
          </a:xfrm>
          <a:prstGeom prst="straightConnector1">
            <a:avLst/>
          </a:prstGeom>
          <a:solidFill>
            <a:srgbClr val="DEE0E3">
              <a:alpha val="100000"/>
            </a:srgbClr>
          </a:solidFill>
          <a:ln w="12700" cmpd="sng" cap="flat">
            <a:solidFill>
              <a:srgbClr val="26A69A">
                <a:alpha val="40000"/>
              </a:srgbClr>
            </a:solidFill>
            <a:prstDash val="solid"/>
            <a:round/>
            <a:headEnd type="none" w="med" len="med"/>
            <a:tailEnd type="none" w="med" len="med"/>
          </a:ln>
        </p:spPr>
      </p:cxnSp>
      <p:sp>
        <p:nvSpPr>
          <p:cNvPr name="AutoShape 22" id="22"/>
          <p:cNvSpPr/>
          <p:nvPr/>
        </p:nvSpPr>
        <p:spPr>
          <a:xfrm rot="0" flipH="false" flipV="false">
            <a:off x="2921000" y="5715000"/>
            <a:ext cx="825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37474F"/>
                </a:solidFill>
                <a:latin typeface="Noto Sans SC"/>
                <a:ea typeface="Noto Sans SC"/>
                <a:cs typeface="Noto Sans SC"/>
                <a:sym typeface="Noto Sans SC"/>
              </a:rPr>
              <a:t>f = y₁² + 3y₂²</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问题15：矩阵方程求解</a:t>
            </a:r>
            <a:endParaRPr lang="en-US" sz="1100"/>
          </a:p>
        </p:txBody>
      </p:sp>
      <p:sp>
        <p:nvSpPr>
          <p:cNvPr name="AutoShape 4" id="4"/>
          <p:cNvSpPr/>
          <p:nvPr/>
        </p:nvSpPr>
        <p:spPr>
          <a:xfrm rot="0" flipH="false" flipV="false">
            <a:off x="762000" y="1778000"/>
            <a:ext cx="5207000" cy="3302000"/>
          </a:xfrm>
          <a:prstGeom prst="roundRect">
            <a:avLst>
              <a:gd name="adj" fmla="val 0"/>
            </a:avLst>
          </a:prstGeom>
          <a:solidFill>
            <a:srgbClr val="FFFFFF">
              <a:alpha val="75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5207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320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 问题条件与已知矩阵</a:t>
            </a:r>
            <a:endParaRPr lang="en-US" sz="1100"/>
          </a:p>
        </p:txBody>
      </p:sp>
      <p:cxnSp>
        <p:nvCxnSpPr>
          <p:cNvPr name="Connector 7" id="7"/>
          <p:cNvCxnSpPr/>
          <p:nvPr/>
        </p:nvCxnSpPr>
        <p:spPr>
          <a:xfrm rot="-9291" flipH="false" flipV="false">
            <a:off x="1016009" y="2597150"/>
            <a:ext cx="4699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8" id="8"/>
          <p:cNvSpPr/>
          <p:nvPr/>
        </p:nvSpPr>
        <p:spPr>
          <a:xfrm rot="0" flipH="false" flipV="false">
            <a:off x="1016000" y="2794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设A、X均为n阶方阵，满足矩阵方程 A + X = AX。已知矩阵 A 的具体形式如下，试求解未知矩阵 X。</a:t>
            </a:r>
            <a:endParaRPr lang="en-US" sz="1100"/>
          </a:p>
        </p:txBody>
      </p:sp>
      <p:sp>
        <p:nvSpPr>
          <p:cNvPr name="AutoShape 9" id="9"/>
          <p:cNvSpPr/>
          <p:nvPr/>
        </p:nvSpPr>
        <p:spPr>
          <a:xfrm rot="0" flipH="false" flipV="false">
            <a:off x="1016000" y="4000500"/>
            <a:ext cx="4699000" cy="1016000"/>
          </a:xfrm>
          <a:prstGeom prst="roundRect">
            <a:avLst>
              <a:gd name="adj" fmla="val 0"/>
            </a:avLst>
          </a:prstGeom>
          <a:solidFill>
            <a:srgbClr val="26A69A">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0" id="10"/>
          <p:cNvSpPr/>
          <p:nvPr/>
        </p:nvSpPr>
        <p:spPr>
          <a:xfrm rot="0" flipH="false" flipV="false">
            <a:off x="1143000" y="4064000"/>
            <a:ext cx="4445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false" i="false" strike="noStrike" u="none" sz="1300">
                <a:solidFill>
                  <a:srgbClr val="37474F"/>
                </a:solidFill>
                <a:latin typeface="Noto Sans SC"/>
                <a:ea typeface="Noto Sans SC"/>
                <a:cs typeface="Noto Sans SC"/>
                <a:sym typeface="Noto Sans SC"/>
              </a:rPr>
              <a:t>A = ⎛ 1 -3 0 ⎞</a:t>
            </a:r>
            <a:r>
              <a:rPr lang="en-US" b="false" i="false" strike="noStrike" u="none" sz="1300">
                <a:solidFill>
                  <a:srgbClr val="37474F"/>
                </a:solidFill>
                <a:latin typeface="Noto Sans SC"/>
                <a:ea typeface="Noto Sans SC"/>
                <a:cs typeface="Noto Sans SC"/>
                <a:sym typeface="Noto Sans SC"/>
              </a:rPr>
              <a:t/>
            </a:r>
            <a:endParaRPr lang="en-US" sz="1100"/>
          </a:p>
          <a:p>
            <a:pPr algn="ctr" marL="0" indent="0">
              <a:lnSpc>
                <a:spcPct val="100000"/>
              </a:lnSpc>
            </a:pPr>
            <a:r>
              <a:rPr lang="en-US" b="false" i="false" strike="noStrike" u="none" sz="1300">
                <a:solidFill>
                  <a:srgbClr val="37474F"/>
                </a:solidFill>
                <a:latin typeface="Noto Sans SC"/>
                <a:ea typeface="Noto Sans SC"/>
                <a:cs typeface="Noto Sans SC"/>
                <a:sym typeface="Noto Sans SC"/>
              </a:rPr>
              <a:t>⎜ 2 1 0 ⎟</a:t>
            </a:r>
            <a:r>
              <a:rPr lang="en-US" b="false" i="false" strike="noStrike" u="none" sz="1300">
                <a:solidFill>
                  <a:srgbClr val="37474F"/>
                </a:solidFill>
                <a:latin typeface="Noto Sans SC"/>
                <a:ea typeface="Noto Sans SC"/>
                <a:cs typeface="Noto Sans SC"/>
                <a:sym typeface="Noto Sans SC"/>
              </a:rPr>
              <a:t/>
            </a:r>
          </a:p>
          <a:p>
            <a:pPr algn="ctr" marL="0" indent="0">
              <a:lnSpc>
                <a:spcPct val="100000"/>
              </a:lnSpc>
            </a:pPr>
            <a:r>
              <a:rPr lang="en-US" b="false" i="false" strike="noStrike" u="none" sz="1300">
                <a:solidFill>
                  <a:srgbClr val="37474F"/>
                </a:solidFill>
                <a:latin typeface="Noto Sans SC"/>
                <a:ea typeface="Noto Sans SC"/>
                <a:cs typeface="Noto Sans SC"/>
                <a:sym typeface="Noto Sans SC"/>
              </a:rPr>
              <a:t>⎝ 0 0 2 ⎠</a:t>
            </a:r>
          </a:p>
        </p:txBody>
      </p:sp>
      <p:sp>
        <p:nvSpPr>
          <p:cNvPr name="AutoShape 11" id="11"/>
          <p:cNvSpPr/>
          <p:nvPr/>
        </p:nvSpPr>
        <p:spPr>
          <a:xfrm rot="0" flipH="false" flipV="false">
            <a:off x="762000" y="5270500"/>
            <a:ext cx="5207000" cy="1143000"/>
          </a:xfrm>
          <a:prstGeom prst="roundRect">
            <a:avLst>
              <a:gd name="adj" fmla="val 0"/>
            </a:avLst>
          </a:prstGeom>
          <a:solidFill>
            <a:srgbClr val="26A69A">
              <a:alpha val="12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5461000"/>
            <a:ext cx="304800" cy="304800"/>
          </a:xfrm>
          <a:prstGeom prst="rect">
            <a:avLst/>
          </a:prstGeom>
        </p:spPr>
      </p:pic>
      <p:sp>
        <p:nvSpPr>
          <p:cNvPr name="AutoShape 13" id="13"/>
          <p:cNvSpPr/>
          <p:nvPr/>
        </p:nvSpPr>
        <p:spPr>
          <a:xfrm rot="0" flipH="false" flipV="false">
            <a:off x="1397000" y="5397500"/>
            <a:ext cx="444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74F"/>
                </a:solidFill>
                <a:latin typeface="Noto Sans SC"/>
                <a:ea typeface="Noto Sans SC"/>
                <a:cs typeface="Noto Sans SC"/>
                <a:sym typeface="Noto Sans SC"/>
              </a:rPr>
              <a:t>解题核心思路：通过移项将方程变形为 (A - E)X = A，再验证矩阵 (A - E) 可逆，最后利用逆矩阵求解 X = (A - E)⁻¹A。</a:t>
            </a:r>
            <a:endParaRPr lang="en-US" sz="1100"/>
          </a:p>
        </p:txBody>
      </p:sp>
      <p:cxnSp>
        <p:nvCxnSpPr>
          <p:cNvPr name="Connector 14" id="14"/>
          <p:cNvCxnSpPr/>
          <p:nvPr/>
        </p:nvCxnSpPr>
        <p:spPr>
          <a:xfrm rot="5390581" flipH="false" flipV="false">
            <a:off x="4032250" y="4089409"/>
            <a:ext cx="4635500" cy="12700"/>
          </a:xfrm>
          <a:prstGeom prst="straightConnector1">
            <a:avLst/>
          </a:prstGeom>
          <a:solidFill>
            <a:srgbClr val="DEE0E3">
              <a:alpha val="100000"/>
            </a:srgbClr>
          </a:solidFill>
          <a:ln w="12700" cmpd="sng" cap="flat">
            <a:solidFill>
              <a:srgbClr val="37474F">
                <a:alpha val="20000"/>
              </a:srgbClr>
            </a:solidFill>
            <a:prstDash val="dash"/>
            <a:round/>
            <a:headEnd type="none" w="med" len="med"/>
            <a:tailEnd type="none" w="med" len="med"/>
          </a:ln>
        </p:spPr>
      </p:cxnSp>
      <p:sp>
        <p:nvSpPr>
          <p:cNvPr name="AutoShape 15" id="15"/>
          <p:cNvSpPr/>
          <p:nvPr/>
        </p:nvSpPr>
        <p:spPr>
          <a:xfrm rot="0" flipH="false" flipV="false">
            <a:off x="6604000" y="1778000"/>
            <a:ext cx="4826000" cy="13335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794500" y="19050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STEP 01 · 方程移项变形</a:t>
            </a:r>
            <a:endParaRPr lang="en-US" sz="1100"/>
          </a:p>
        </p:txBody>
      </p:sp>
      <p:cxnSp>
        <p:nvCxnSpPr>
          <p:cNvPr name="Connector 17" id="17"/>
          <p:cNvCxnSpPr/>
          <p:nvPr/>
        </p:nvCxnSpPr>
        <p:spPr>
          <a:xfrm rot="-9822" flipH="false" flipV="false">
            <a:off x="6794509" y="2305050"/>
            <a:ext cx="4445000" cy="12700"/>
          </a:xfrm>
          <a:prstGeom prst="straightConnector1">
            <a:avLst/>
          </a:prstGeom>
          <a:solidFill>
            <a:srgbClr val="DEE0E3">
              <a:alpha val="100000"/>
            </a:srgbClr>
          </a:solidFill>
          <a:ln w="12700" cmpd="sng" cap="flat">
            <a:solidFill>
              <a:srgbClr val="37474F">
                <a:alpha val="10000"/>
              </a:srgbClr>
            </a:solidFill>
            <a:prstDash val="solid"/>
            <a:round/>
            <a:headEnd type="none" w="med" len="med"/>
            <a:tailEnd type="none" w="med" len="med"/>
          </a:ln>
        </p:spPr>
      </p:cxnSp>
      <p:sp>
        <p:nvSpPr>
          <p:cNvPr name="AutoShape 18" id="18"/>
          <p:cNvSpPr/>
          <p:nvPr/>
        </p:nvSpPr>
        <p:spPr>
          <a:xfrm rot="0" flipH="false" flipV="false">
            <a:off x="6794500" y="2413000"/>
            <a:ext cx="444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74F"/>
                </a:solidFill>
                <a:latin typeface="Noto Sans SC"/>
                <a:ea typeface="Noto Sans SC"/>
                <a:cs typeface="Noto Sans SC"/>
                <a:sym typeface="Noto Sans SC"/>
              </a:rPr>
              <a:t>由 A + X = AX，移项得 AX - X = A，提取公因子 X，整理为矩阵乘积形式：(A - E)X = A。其中 E 为 3 阶单位矩阵。</a:t>
            </a:r>
            <a:endParaRPr lang="en-US" sz="1100"/>
          </a:p>
        </p:txBody>
      </p:sp>
      <p:sp>
        <p:nvSpPr>
          <p:cNvPr name="AutoShape 19" id="19"/>
          <p:cNvSpPr/>
          <p:nvPr/>
        </p:nvSpPr>
        <p:spPr>
          <a:xfrm rot="0" flipH="false" flipV="false">
            <a:off x="6604000" y="3365500"/>
            <a:ext cx="4826000" cy="13335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794500" y="34925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STEP 02 · 求矩阵 (A - E) 的逆矩阵</a:t>
            </a:r>
            <a:endParaRPr lang="en-US" sz="1100"/>
          </a:p>
        </p:txBody>
      </p:sp>
      <p:cxnSp>
        <p:nvCxnSpPr>
          <p:cNvPr name="Connector 21" id="21"/>
          <p:cNvCxnSpPr/>
          <p:nvPr/>
        </p:nvCxnSpPr>
        <p:spPr>
          <a:xfrm rot="-9822" flipH="false" flipV="false">
            <a:off x="6794509" y="3892550"/>
            <a:ext cx="4445000" cy="12700"/>
          </a:xfrm>
          <a:prstGeom prst="straightConnector1">
            <a:avLst/>
          </a:prstGeom>
          <a:solidFill>
            <a:srgbClr val="DEE0E3">
              <a:alpha val="100000"/>
            </a:srgbClr>
          </a:solidFill>
          <a:ln w="12700" cmpd="sng" cap="flat">
            <a:solidFill>
              <a:srgbClr val="37474F">
                <a:alpha val="10000"/>
              </a:srgbClr>
            </a:solidFill>
            <a:prstDash val="solid"/>
            <a:round/>
            <a:headEnd type="none" w="med" len="med"/>
            <a:tailEnd type="none" w="med" len="med"/>
          </a:ln>
        </p:spPr>
      </p:cxnSp>
      <p:sp>
        <p:nvSpPr>
          <p:cNvPr name="AutoShape 22" id="22"/>
          <p:cNvSpPr/>
          <p:nvPr/>
        </p:nvSpPr>
        <p:spPr>
          <a:xfrm rot="0" flipH="false" flipV="false">
            <a:off x="6794500" y="4000500"/>
            <a:ext cx="444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74F"/>
                </a:solidFill>
                <a:latin typeface="Noto Sans SC"/>
                <a:ea typeface="Noto Sans SC"/>
                <a:cs typeface="Noto Sans SC"/>
                <a:sym typeface="Noto Sans SC"/>
              </a:rPr>
              <a:t>计算得 A-E = [[0,-3,0],[2,0,0],[0,0,1]]，其行列式 |A-E|=6≠0，故可逆。通过伴随矩阵法或行变换求得 (A-E)⁻¹。</a:t>
            </a:r>
            <a:endParaRPr lang="en-US" sz="1100"/>
          </a:p>
        </p:txBody>
      </p:sp>
      <p:sp>
        <p:nvSpPr>
          <p:cNvPr name="AutoShape 23" id="23"/>
          <p:cNvSpPr/>
          <p:nvPr/>
        </p:nvSpPr>
        <p:spPr>
          <a:xfrm rot="0" flipH="false" flipV="false">
            <a:off x="6604000" y="4953000"/>
            <a:ext cx="4826000" cy="1460500"/>
          </a:xfrm>
          <a:prstGeom prst="roundRect">
            <a:avLst>
              <a:gd name="adj" fmla="val 0"/>
            </a:avLst>
          </a:prstGeom>
          <a:solidFill>
            <a:srgbClr val="FFFFFF">
              <a:alpha val="7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794500" y="50800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STEP 03 · 计算最终结果 X</a:t>
            </a:r>
            <a:endParaRPr lang="en-US" sz="1100"/>
          </a:p>
        </p:txBody>
      </p:sp>
      <p:cxnSp>
        <p:nvCxnSpPr>
          <p:cNvPr name="Connector 25" id="25"/>
          <p:cNvCxnSpPr/>
          <p:nvPr/>
        </p:nvCxnSpPr>
        <p:spPr>
          <a:xfrm rot="-9822" flipH="false" flipV="false">
            <a:off x="6794509" y="5454650"/>
            <a:ext cx="4445000" cy="12700"/>
          </a:xfrm>
          <a:prstGeom prst="straightConnector1">
            <a:avLst/>
          </a:prstGeom>
          <a:solidFill>
            <a:srgbClr val="DEE0E3">
              <a:alpha val="100000"/>
            </a:srgbClr>
          </a:solidFill>
          <a:ln w="12700" cmpd="sng" cap="flat">
            <a:solidFill>
              <a:srgbClr val="37474F">
                <a:alpha val="10000"/>
              </a:srgbClr>
            </a:solidFill>
            <a:prstDash val="solid"/>
            <a:round/>
            <a:headEnd type="none" w="med" len="med"/>
            <a:tailEnd type="none" w="med" len="med"/>
          </a:ln>
        </p:spPr>
      </p:cxnSp>
      <p:sp>
        <p:nvSpPr>
          <p:cNvPr name="AutoShape 26" id="26"/>
          <p:cNvSpPr/>
          <p:nvPr/>
        </p:nvSpPr>
        <p:spPr>
          <a:xfrm rot="0" flipH="false" flipV="false">
            <a:off x="6794500" y="5588000"/>
            <a:ext cx="444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74F"/>
                </a:solidFill>
                <a:latin typeface="Noto Sans SC"/>
                <a:ea typeface="Noto Sans SC"/>
                <a:cs typeface="Noto Sans SC"/>
                <a:sym typeface="Noto Sans SC"/>
              </a:rPr>
              <a:t>由 X = (A - E)⁻¹A，代入矩阵计算，最终可得：X = [[1, 0.5, 0], [-0.666..., 0.5, 0], [0, 0, 2]]。</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问题15：解题思路</a:t>
            </a:r>
            <a:endParaRPr lang="en-US" sz="1100"/>
          </a:p>
        </p:txBody>
      </p:sp>
      <p:sp>
        <p:nvSpPr>
          <p:cNvPr name="AutoShape 4" id="4"/>
          <p:cNvSpPr/>
          <p:nvPr/>
        </p:nvSpPr>
        <p:spPr>
          <a:xfrm rot="0" flipH="false" flipV="false">
            <a:off x="762000" y="1524000"/>
            <a:ext cx="10668000" cy="1206500"/>
          </a:xfrm>
          <a:prstGeom prst="roundRect">
            <a:avLst>
              <a:gd name="adj" fmla="val 0"/>
            </a:avLst>
          </a:prstGeom>
          <a:solidFill>
            <a:srgbClr val="26A69A">
              <a:alpha val="1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14500"/>
            <a:ext cx="355600" cy="355600"/>
          </a:xfrm>
          <a:prstGeom prst="rect">
            <a:avLst/>
          </a:prstGeom>
        </p:spPr>
      </p:pic>
      <p:sp>
        <p:nvSpPr>
          <p:cNvPr name="AutoShape 6" id="6"/>
          <p:cNvSpPr/>
          <p:nvPr/>
        </p:nvSpPr>
        <p:spPr>
          <a:xfrm rot="0" flipH="false" flipV="false">
            <a:off x="1587500" y="1676400"/>
            <a:ext cx="965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37474F"/>
                </a:solidFill>
                <a:latin typeface="Noto Sans SC"/>
                <a:ea typeface="Noto Sans SC"/>
                <a:cs typeface="Noto Sans SC"/>
                <a:sym typeface="Noto Sans SC"/>
              </a:rPr>
              <a:t>核心思路是通过移项整理与因式分解，将原方程转化为标准的矩阵方程形式</a:t>
            </a:r>
            <a:r>
              <a:rPr lang="en-US" b="true" i="false" strike="noStrike" u="none" sz="1600">
                <a:solidFill>
                  <a:srgbClr val="26A69A"/>
                </a:solidFill>
                <a:latin typeface="Noto Sans SC"/>
                <a:ea typeface="Noto Sans SC"/>
                <a:cs typeface="Noto Sans SC"/>
                <a:sym typeface="Noto Sans SC"/>
              </a:rPr>
              <a:t>(A-E)X = A</a:t>
            </a:r>
            <a:r>
              <a:rPr lang="en-US" b="false" i="false" strike="noStrike" u="none" sz="1600">
                <a:solidFill>
                  <a:srgbClr val="37474F"/>
                </a:solidFill>
                <a:latin typeface="Noto Sans SC"/>
                <a:ea typeface="Noto Sans SC"/>
                <a:cs typeface="Noto Sans SC"/>
                <a:sym typeface="Noto Sans SC"/>
              </a:rPr>
              <a:t>。关键在于先求解矩阵 (A-E) 的逆矩阵，再利用逆矩阵的性质计算得出未知矩阵 X。</a:t>
            </a:r>
            <a:endParaRPr lang="en-US" sz="1100"/>
          </a:p>
        </p:txBody>
      </p:sp>
      <p:sp>
        <p:nvSpPr>
          <p:cNvPr name="AutoShape 7" id="7"/>
          <p:cNvSpPr/>
          <p:nvPr/>
        </p:nvSpPr>
        <p:spPr>
          <a:xfrm rot="0" flipH="false" flipV="false">
            <a:off x="762000" y="3048000"/>
            <a:ext cx="2540000" cy="2222500"/>
          </a:xfrm>
          <a:prstGeom prst="roundRect">
            <a:avLst>
              <a:gd name="adj" fmla="val 0"/>
            </a:avLst>
          </a:prstGeom>
          <a:solidFill>
            <a:srgbClr val="FFFFFF">
              <a:alpha val="80000"/>
            </a:srgbClr>
          </a:solidFill>
          <a:ln w="12700" cmpd="sng" cap="flat">
            <a:solidFill>
              <a:srgbClr val="26A69A">
                <a:alpha val="25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 y="31750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移项变形</a:t>
            </a:r>
            <a:endParaRPr lang="en-US" sz="1100"/>
          </a:p>
        </p:txBody>
      </p:sp>
      <p:cxnSp>
        <p:nvCxnSpPr>
          <p:cNvPr name="Connector 9" id="9"/>
          <p:cNvCxnSpPr/>
          <p:nvPr/>
        </p:nvCxnSpPr>
        <p:spPr>
          <a:xfrm rot="-19098" flipH="false" flipV="false">
            <a:off x="889018" y="3613150"/>
            <a:ext cx="2286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0" id="10"/>
          <p:cNvSpPr/>
          <p:nvPr/>
        </p:nvSpPr>
        <p:spPr>
          <a:xfrm rot="0" flipH="false" flipV="false">
            <a:off x="889000" y="3746500"/>
            <a:ext cx="228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将含 X 的项移至一侧，提取公因子，将原方程化简为便于计算的形式：AX - X = A ⇒ (A-E)X = A。</a:t>
            </a:r>
            <a:endParaRPr lang="en-US" sz="1100"/>
          </a:p>
        </p:txBody>
      </p:sp>
      <p:sp>
        <p:nvSpPr>
          <p:cNvPr name="AutoShape 11" id="11"/>
          <p:cNvSpPr/>
          <p:nvPr/>
        </p:nvSpPr>
        <p:spPr>
          <a:xfrm rot="0" flipH="false" flipV="false">
            <a:off x="3467100" y="3048000"/>
            <a:ext cx="2540000" cy="2222500"/>
          </a:xfrm>
          <a:prstGeom prst="roundRect">
            <a:avLst>
              <a:gd name="adj" fmla="val 0"/>
            </a:avLst>
          </a:prstGeom>
          <a:solidFill>
            <a:srgbClr val="FFFFFF">
              <a:alpha val="80000"/>
            </a:srgbClr>
          </a:solidFill>
          <a:ln w="12700" cmpd="sng" cap="flat">
            <a:solidFill>
              <a:srgbClr val="26A69A">
                <a:alpha val="25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594100" y="31750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02. 计算 A - E</a:t>
            </a:r>
            <a:endParaRPr lang="en-US" sz="1100"/>
          </a:p>
        </p:txBody>
      </p:sp>
      <p:cxnSp>
        <p:nvCxnSpPr>
          <p:cNvPr name="Connector 13" id="13"/>
          <p:cNvCxnSpPr/>
          <p:nvPr/>
        </p:nvCxnSpPr>
        <p:spPr>
          <a:xfrm rot="-19098" flipH="false" flipV="false">
            <a:off x="3594118" y="3613150"/>
            <a:ext cx="2286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4" id="14"/>
          <p:cNvSpPr/>
          <p:nvPr/>
        </p:nvSpPr>
        <p:spPr>
          <a:xfrm rot="0" flipH="false" flipV="false">
            <a:off x="3594100" y="3746500"/>
            <a:ext cx="228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代入矩阵 A 与单位矩阵 E 进行减法运算，得到矩阵：</a:t>
            </a:r>
            <a:r>
              <a:rPr lang="en-US" b="false" i="false" strike="noStrike" u="none" sz="1400">
                <a:solidFill>
                  <a:srgbClr val="455A64"/>
                </a:solidFill>
                <a:latin typeface="Noto Sans SC"/>
                <a:ea typeface="Noto Sans SC"/>
                <a:cs typeface="Noto Sans SC"/>
                <a:sym typeface="Noto Sans SC"/>
              </a:rPr>
              <a:t/>
            </a:r>
            <a:br>
              <a:rPr lang="en-US" b="false" i="false" strike="noStrike" u="none" sz="1400">
                <a:solidFill>
                  <a:srgbClr val="455A64"/>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A-E = [[0,-3,0],[2,0,0],[0,0,1]]。</a:t>
            </a:r>
            <a:endParaRPr lang="en-US" sz="1100"/>
          </a:p>
        </p:txBody>
      </p:sp>
      <p:sp>
        <p:nvSpPr>
          <p:cNvPr name="AutoShape 15" id="15"/>
          <p:cNvSpPr/>
          <p:nvPr/>
        </p:nvSpPr>
        <p:spPr>
          <a:xfrm rot="0" flipH="false" flipV="false">
            <a:off x="6172200" y="3048000"/>
            <a:ext cx="2540000" cy="2222500"/>
          </a:xfrm>
          <a:prstGeom prst="roundRect">
            <a:avLst>
              <a:gd name="adj" fmla="val 0"/>
            </a:avLst>
          </a:prstGeom>
          <a:solidFill>
            <a:srgbClr val="FFFFFF">
              <a:alpha val="80000"/>
            </a:srgbClr>
          </a:solidFill>
          <a:ln w="12700" cmpd="sng" cap="flat">
            <a:solidFill>
              <a:srgbClr val="26A69A">
                <a:alpha val="25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299200" y="31750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03. 求逆矩阵</a:t>
            </a:r>
            <a:endParaRPr lang="en-US" sz="1100"/>
          </a:p>
        </p:txBody>
      </p:sp>
      <p:cxnSp>
        <p:nvCxnSpPr>
          <p:cNvPr name="Connector 17" id="17"/>
          <p:cNvCxnSpPr/>
          <p:nvPr/>
        </p:nvCxnSpPr>
        <p:spPr>
          <a:xfrm rot="-19098" flipH="false" flipV="false">
            <a:off x="6299218" y="3613150"/>
            <a:ext cx="2286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8" id="18"/>
          <p:cNvSpPr/>
          <p:nvPr/>
        </p:nvSpPr>
        <p:spPr>
          <a:xfrm rot="0" flipH="false" flipV="false">
            <a:off x="6299200" y="3746500"/>
            <a:ext cx="228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通过伴随矩阵法或行变换法，求解出 (A-E) 的逆矩阵为：</a:t>
            </a:r>
            <a:r>
              <a:rPr lang="en-US" b="false" i="false" strike="noStrike" u="none" sz="1400">
                <a:solidFill>
                  <a:srgbClr val="455A64"/>
                </a:solidFill>
                <a:latin typeface="Noto Sans SC"/>
                <a:ea typeface="Noto Sans SC"/>
                <a:cs typeface="Noto Sans SC"/>
                <a:sym typeface="Noto Sans SC"/>
              </a:rPr>
              <a:t/>
            </a:r>
            <a:br>
              <a:rPr lang="en-US" b="false" i="false" strike="noStrike" u="none" sz="1400">
                <a:solidFill>
                  <a:srgbClr val="455A64"/>
                </a:solidFill>
                <a:latin typeface="Noto Sans SC"/>
                <a:ea typeface="Noto Sans SC"/>
                <a:cs typeface="Noto Sans SC"/>
                <a:sym typeface="Noto Sans SC"/>
              </a:rPr>
            </a:br>
            <a:r>
              <a:rPr lang="en-US" b="false" i="false" strike="noStrike" u="none" sz="1400">
                <a:solidFill>
                  <a:srgbClr val="455A64"/>
                </a:solidFill>
                <a:latin typeface="Noto Sans SC"/>
                <a:ea typeface="Noto Sans SC"/>
                <a:cs typeface="Noto Sans SC"/>
                <a:sym typeface="Noto Sans SC"/>
              </a:rPr>
              <a:t>(A-E)⁻¹ = [[0, 1/2, 0], [-1/3, 0, 0], [0, 0, 1]]。</a:t>
            </a:r>
            <a:endParaRPr lang="en-US" sz="1100"/>
          </a:p>
        </p:txBody>
      </p:sp>
      <p:sp>
        <p:nvSpPr>
          <p:cNvPr name="AutoShape 19" id="19"/>
          <p:cNvSpPr/>
          <p:nvPr/>
        </p:nvSpPr>
        <p:spPr>
          <a:xfrm rot="0" flipH="false" flipV="false">
            <a:off x="8877300" y="3048000"/>
            <a:ext cx="2540000" cy="2222500"/>
          </a:xfrm>
          <a:prstGeom prst="roundRect">
            <a:avLst>
              <a:gd name="adj" fmla="val 0"/>
            </a:avLst>
          </a:prstGeom>
          <a:solidFill>
            <a:srgbClr val="FFFFFF">
              <a:alpha val="80000"/>
            </a:srgbClr>
          </a:solidFill>
          <a:ln w="12700" cmpd="sng" cap="flat">
            <a:solidFill>
              <a:srgbClr val="26A69A">
                <a:alpha val="25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04300" y="3175000"/>
            <a:ext cx="228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04. 矩阵乘法</a:t>
            </a:r>
            <a:endParaRPr lang="en-US" sz="1100"/>
          </a:p>
        </p:txBody>
      </p:sp>
      <p:cxnSp>
        <p:nvCxnSpPr>
          <p:cNvPr name="Connector 21" id="21"/>
          <p:cNvCxnSpPr/>
          <p:nvPr/>
        </p:nvCxnSpPr>
        <p:spPr>
          <a:xfrm rot="-19098" flipH="false" flipV="false">
            <a:off x="9004318" y="3613150"/>
            <a:ext cx="2286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22" id="22"/>
          <p:cNvSpPr/>
          <p:nvPr/>
        </p:nvSpPr>
        <p:spPr>
          <a:xfrm rot="0" flipH="false" flipV="false">
            <a:off x="9004300" y="3746500"/>
            <a:ext cx="228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根据矩阵方程的解 X = (A-E)⁻¹A，将逆矩阵与矩阵 A 相乘，即可计算得到最终的未知矩阵 X。</a:t>
            </a:r>
            <a:endParaRPr lang="en-US" sz="1100"/>
          </a:p>
        </p:txBody>
      </p:sp>
      <p:sp>
        <p:nvSpPr>
          <p:cNvPr name="AutoShape 23" id="23"/>
          <p:cNvSpPr/>
          <p:nvPr/>
        </p:nvSpPr>
        <p:spPr>
          <a:xfrm rot="0" flipH="false" flipV="false">
            <a:off x="762000" y="5524500"/>
            <a:ext cx="10668000" cy="10795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5715000"/>
            <a:ext cx="406400" cy="406400"/>
          </a:xfrm>
          <a:prstGeom prst="rect">
            <a:avLst/>
          </a:prstGeom>
        </p:spPr>
      </p:pic>
      <p:sp>
        <p:nvSpPr>
          <p:cNvPr name="AutoShape 25" id="25"/>
          <p:cNvSpPr/>
          <p:nvPr/>
        </p:nvSpPr>
        <p:spPr>
          <a:xfrm rot="0" flipH="false" flipV="false">
            <a:off x="1651000" y="5715000"/>
            <a:ext cx="190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7474F"/>
                </a:solidFill>
                <a:latin typeface="Noto Sans SC"/>
                <a:ea typeface="Noto Sans SC"/>
                <a:cs typeface="Noto Sans SC"/>
                <a:sym typeface="Noto Sans SC"/>
              </a:rPr>
              <a:t>最终答案：</a:t>
            </a:r>
            <a:endParaRPr lang="en-US" sz="1100"/>
          </a:p>
        </p:txBody>
      </p:sp>
      <p:cxnSp>
        <p:nvCxnSpPr>
          <p:cNvPr name="Connector 26" id="26"/>
          <p:cNvCxnSpPr/>
          <p:nvPr/>
        </p:nvCxnSpPr>
        <p:spPr>
          <a:xfrm rot="5339694" flipH="false" flipV="false">
            <a:off x="3321050" y="6045256"/>
            <a:ext cx="723900" cy="12700"/>
          </a:xfrm>
          <a:prstGeom prst="straightConnector1">
            <a:avLst/>
          </a:prstGeom>
          <a:solidFill>
            <a:srgbClr val="DEE0E3">
              <a:alpha val="100000"/>
            </a:srgbClr>
          </a:solidFill>
          <a:ln w="12700" cmpd="sng" cap="flat">
            <a:solidFill>
              <a:srgbClr val="26A69A">
                <a:alpha val="50000"/>
              </a:srgbClr>
            </a:solidFill>
            <a:prstDash val="solid"/>
            <a:round/>
            <a:headEnd type="none" w="med" len="med"/>
            <a:tailEnd type="none" w="med" len="med"/>
          </a:ln>
        </p:spPr>
      </p:cxnSp>
      <p:sp>
        <p:nvSpPr>
          <p:cNvPr name="AutoShape 27" id="27"/>
          <p:cNvSpPr/>
          <p:nvPr/>
        </p:nvSpPr>
        <p:spPr>
          <a:xfrm rot="0" flipH="false" flipV="false">
            <a:off x="3937000" y="5689600"/>
            <a:ext cx="7366000" cy="825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91666"/>
              </a:lnSpc>
              <a:defRPr/>
            </a:pPr>
            <a:r>
              <a:rPr lang="en-US" b="false" i="false" strike="noStrike" u="none" sz="1400">
                <a:solidFill>
                  <a:srgbClr val="37474F"/>
                </a:solidFill>
                <a:latin typeface="Noto Sans SC"/>
                <a:ea typeface="Noto Sans SC"/>
                <a:cs typeface="Noto Sans SC"/>
                <a:sym typeface="Noto Sans SC"/>
              </a:rPr>
              <a:t>X = ⎛ 1 1/2 0 ⎞</a:t>
            </a:r>
            <a:r>
              <a:rPr lang="en-US" b="false" i="false" strike="noStrike" u="none" sz="1400">
                <a:solidFill>
                  <a:srgbClr val="37474F"/>
                </a:solidFill>
                <a:latin typeface="Noto Sans SC"/>
                <a:ea typeface="Noto Sans SC"/>
                <a:cs typeface="Noto Sans SC"/>
                <a:sym typeface="Noto Sans SC"/>
              </a:rPr>
              <a:t/>
            </a:r>
            <a:endParaRPr lang="en-US" sz="1100"/>
          </a:p>
          <a:p>
            <a:pPr algn="ctr" marL="0" indent="0">
              <a:lnSpc>
                <a:spcPct val="91666"/>
              </a:lnSpc>
            </a:pPr>
            <a:r>
              <a:rPr lang="en-US" b="false" i="false" strike="noStrike" u="none" sz="1400">
                <a:solidFill>
                  <a:srgbClr val="37474F"/>
                </a:solidFill>
                <a:latin typeface="Noto Sans SC"/>
                <a:ea typeface="Noto Sans SC"/>
                <a:cs typeface="Noto Sans SC"/>
                <a:sym typeface="Noto Sans SC"/>
              </a:rPr>
              <a:t>⎜-1/3 1 0 ⎟</a:t>
            </a:r>
            <a:r>
              <a:rPr lang="en-US" b="false" i="false" strike="noStrike" u="none" sz="1400">
                <a:solidFill>
                  <a:srgbClr val="37474F"/>
                </a:solidFill>
                <a:latin typeface="Noto Sans SC"/>
                <a:ea typeface="Noto Sans SC"/>
                <a:cs typeface="Noto Sans SC"/>
                <a:sym typeface="Noto Sans SC"/>
              </a:rPr>
              <a:t/>
            </a:r>
          </a:p>
          <a:p>
            <a:pPr algn="ctr" marL="0" indent="0">
              <a:lnSpc>
                <a:spcPct val="91666"/>
              </a:lnSpc>
            </a:pPr>
            <a:r>
              <a:rPr lang="en-US" b="false" i="false" strike="noStrike" u="none" sz="1400">
                <a:solidFill>
                  <a:srgbClr val="37474F"/>
                </a:solidFill>
                <a:latin typeface="Noto Sans SC"/>
                <a:ea typeface="Noto Sans SC"/>
                <a:cs typeface="Noto Sans SC"/>
                <a:sym typeface="Noto Sans SC"/>
              </a:rPr>
              <a:t>⎝ 0 0 2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16：相似矩阵</a:t>
            </a:r>
            <a:endParaRPr lang="en-US" sz="1100"/>
          </a:p>
        </p:txBody>
      </p:sp>
      <p:sp>
        <p:nvSpPr>
          <p:cNvPr name="AutoShape 4" id="4"/>
          <p:cNvSpPr/>
          <p:nvPr/>
        </p:nvSpPr>
        <p:spPr>
          <a:xfrm rot="0" flipH="false" flipV="false">
            <a:off x="762000" y="1397000"/>
            <a:ext cx="10668000" cy="25400"/>
          </a:xfrm>
          <a:prstGeom prst="roundRect">
            <a:avLst>
              <a:gd name="adj" fmla="val 0"/>
            </a:avLst>
          </a:prstGeom>
          <a:solidFill>
            <a:srgbClr val="26A69A">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5207000" cy="4064000"/>
          </a:xfrm>
          <a:prstGeom prst="roundRect">
            <a:avLst>
              <a:gd name="adj" fmla="val 0"/>
            </a:avLst>
          </a:prstGeom>
          <a:solidFill>
            <a:srgbClr val="FFFFFF">
              <a:alpha val="6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5207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2159000"/>
            <a:ext cx="469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 题目条件与核心性质</a:t>
            </a:r>
            <a:endParaRPr lang="en-US" sz="1100"/>
          </a:p>
        </p:txBody>
      </p:sp>
      <p:cxnSp>
        <p:nvCxnSpPr>
          <p:cNvPr name="Connector 8" id="8"/>
          <p:cNvCxnSpPr/>
          <p:nvPr/>
        </p:nvCxnSpPr>
        <p:spPr>
          <a:xfrm rot="-9291" flipH="false" flipV="false">
            <a:off x="1016009" y="2787650"/>
            <a:ext cx="4699000" cy="12700"/>
          </a:xfrm>
          <a:prstGeom prst="straightConnector1">
            <a:avLst/>
          </a:prstGeom>
          <a:solidFill>
            <a:srgbClr val="DEE0E3">
              <a:alpha val="100000"/>
            </a:srgbClr>
          </a:solidFill>
          <a:ln w="12700" cmpd="sng" cap="flat">
            <a:solidFill>
              <a:srgbClr val="37474F">
                <a:alpha val="20000"/>
              </a:srgbClr>
            </a:solidFill>
            <a:prstDash val="dash"/>
            <a:round/>
            <a:headEnd type="none" w="med" len="med"/>
            <a:tailEnd type="none" w="med" len="med"/>
          </a:ln>
        </p:spPr>
      </p:cxnSp>
      <p:sp>
        <p:nvSpPr>
          <p:cNvPr name="AutoShape 9" id="9"/>
          <p:cNvSpPr/>
          <p:nvPr/>
        </p:nvSpPr>
        <p:spPr>
          <a:xfrm rot="0" flipH="false" flipV="false">
            <a:off x="1016000" y="2984500"/>
            <a:ext cx="4699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74F"/>
                </a:solidFill>
                <a:latin typeface="Noto Sans SC"/>
                <a:ea typeface="Noto Sans SC"/>
                <a:cs typeface="Noto Sans SC"/>
                <a:sym typeface="Noto Sans SC"/>
              </a:rPr>
              <a:t>已知矩阵 A 与 B 相似，其中：</a:t>
            </a:r>
            <a:r>
              <a:rPr lang="en-US" b="false" i="false" strike="noStrike" u="none" sz="1200">
                <a:solidFill>
                  <a:srgbClr val="1F2329"/>
                </a:solidFill>
                <a:latin typeface="Noto Sans SC"/>
                <a:ea typeface="Noto Sans SC"/>
                <a:cs typeface="Noto Sans SC"/>
                <a:sym typeface="Noto Sans SC"/>
              </a:rPr>
              <a:t/>
            </a:r>
            <a:endParaRPr lang="en-US" sz="1100"/>
          </a:p>
          <a:p>
            <a:pPr algn="ctr" marL="0" indent="0">
              <a:lnSpc>
                <a:spcPct val="100000"/>
              </a:lnSpc>
            </a:pPr>
            <a:r>
              <a:rPr lang="en-US" b="false" i="false" strike="noStrike" u="none" sz="1200">
                <a:solidFill>
                  <a:srgbClr val="37474F"/>
                </a:solidFill>
                <a:latin typeface="Noto Sans SC"/>
                <a:ea typeface="Noto Sans SC"/>
                <a:cs typeface="Noto Sans SC"/>
                <a:sym typeface="Noto Sans SC"/>
              </a:rPr>
              <a:t>A = ⎛-2 0 0⎞ B = ⎛-1 0 0⎞</a:t>
            </a:r>
            <a:r>
              <a:rPr lang="en-US" b="false" i="false" strike="noStrike" u="none" sz="1200">
                <a:solidFill>
                  <a:srgbClr val="1F2329"/>
                </a:solidFill>
                <a:latin typeface="Noto Sans SC"/>
                <a:ea typeface="Noto Sans SC"/>
                <a:cs typeface="Noto Sans SC"/>
                <a:sym typeface="Noto Sans SC"/>
              </a:rPr>
              <a:t/>
            </a:r>
          </a:p>
          <a:p>
            <a:pPr algn="ctr" marL="0" indent="0">
              <a:lnSpc>
                <a:spcPct val="100000"/>
              </a:lnSpc>
            </a:pPr>
            <a:r>
              <a:rPr lang="en-US" b="false" i="false" strike="noStrike" u="none" sz="1200">
                <a:solidFill>
                  <a:srgbClr val="37474F"/>
                </a:solidFill>
                <a:latin typeface="Noto Sans SC"/>
                <a:ea typeface="Noto Sans SC"/>
                <a:cs typeface="Noto Sans SC"/>
                <a:sym typeface="Noto Sans SC"/>
              </a:rPr>
              <a:t>⎜ 2 0 2⎟ ⎜ 0 y 0⎟</a:t>
            </a:r>
            <a:r>
              <a:rPr lang="en-US" b="false" i="false" strike="noStrike" u="none" sz="1200">
                <a:solidFill>
                  <a:srgbClr val="1F2329"/>
                </a:solidFill>
                <a:latin typeface="Noto Sans SC"/>
                <a:ea typeface="Noto Sans SC"/>
                <a:cs typeface="Noto Sans SC"/>
                <a:sym typeface="Noto Sans SC"/>
              </a:rPr>
              <a:t/>
            </a:r>
          </a:p>
          <a:p>
            <a:pPr algn="ctr" marL="0" indent="0">
              <a:lnSpc>
                <a:spcPct val="100000"/>
              </a:lnSpc>
            </a:pPr>
            <a:r>
              <a:rPr lang="en-US" b="false" i="false" strike="noStrike" u="none" sz="1200">
                <a:solidFill>
                  <a:srgbClr val="37474F"/>
                </a:solidFill>
                <a:latin typeface="Noto Sans SC"/>
                <a:ea typeface="Noto Sans SC"/>
                <a:cs typeface="Noto Sans SC"/>
                <a:sym typeface="Noto Sans SC"/>
              </a:rPr>
              <a:t>⎝ 3 1 x⎠ ⎝ 0 0 -2⎠</a:t>
            </a:r>
            <a:r>
              <a:rPr lang="en-US" b="false" i="false" strike="noStrike" u="none" sz="12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200">
                <a:solidFill>
                  <a:srgbClr val="37474F"/>
                </a:solidFill>
                <a:latin typeface="Noto Sans SC"/>
                <a:ea typeface="Noto Sans SC"/>
                <a:cs typeface="Noto Sans SC"/>
                <a:sym typeface="Noto Sans SC"/>
              </a:rPr>
              <a:t>需利用相似矩阵的关键性质（相同的迹、行列式与特征值）建立方程，求解参数</a:t>
            </a:r>
            <a:r>
              <a:rPr lang="en-US" b="true" i="false" strike="noStrike" u="none" sz="1200">
                <a:solidFill>
                  <a:srgbClr val="26A69A"/>
                </a:solidFill>
                <a:latin typeface="Noto Sans SC"/>
                <a:ea typeface="Noto Sans SC"/>
                <a:cs typeface="Noto Sans SC"/>
                <a:sym typeface="Noto Sans SC"/>
              </a:rPr>
              <a:t>x, y</a:t>
            </a:r>
            <a:r>
              <a:rPr lang="en-US" b="false" i="false" strike="noStrike" u="none" sz="1200">
                <a:solidFill>
                  <a:srgbClr val="37474F"/>
                </a:solidFill>
                <a:latin typeface="Noto Sans SC"/>
                <a:ea typeface="Noto Sans SC"/>
                <a:cs typeface="Noto Sans SC"/>
                <a:sym typeface="Noto Sans SC"/>
              </a:rPr>
              <a:t>，并进一步构造可逆矩阵</a:t>
            </a:r>
            <a:r>
              <a:rPr lang="en-US" b="true" i="false" strike="noStrike" u="none" sz="1200">
                <a:solidFill>
                  <a:srgbClr val="37474F"/>
                </a:solidFill>
                <a:latin typeface="Noto Sans SC"/>
                <a:ea typeface="Noto Sans SC"/>
                <a:cs typeface="Noto Sans SC"/>
                <a:sym typeface="Noto Sans SC"/>
              </a:rPr>
              <a:t>P</a:t>
            </a:r>
            <a:r>
              <a:rPr lang="en-US" b="false" i="false" strike="noStrike" u="none" sz="1200">
                <a:solidFill>
                  <a:srgbClr val="37474F"/>
                </a:solidFill>
                <a:latin typeface="Noto Sans SC"/>
                <a:ea typeface="Noto Sans SC"/>
                <a:cs typeface="Noto Sans SC"/>
                <a:sym typeface="Noto Sans SC"/>
              </a:rPr>
              <a:t>。</a:t>
            </a:r>
          </a:p>
        </p:txBody>
      </p:sp>
      <p:sp>
        <p:nvSpPr>
          <p:cNvPr name="AutoShape 10" id="10"/>
          <p:cNvSpPr/>
          <p:nvPr/>
        </p:nvSpPr>
        <p:spPr>
          <a:xfrm rot="0" flipH="false" flipV="false">
            <a:off x="1016000" y="5080000"/>
            <a:ext cx="4699000" cy="762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43000" y="5334000"/>
            <a:ext cx="254000" cy="254000"/>
          </a:xfrm>
          <a:prstGeom prst="rect">
            <a:avLst/>
          </a:prstGeom>
        </p:spPr>
      </p:pic>
      <p:sp>
        <p:nvSpPr>
          <p:cNvPr name="AutoShape 12" id="12"/>
          <p:cNvSpPr/>
          <p:nvPr/>
        </p:nvSpPr>
        <p:spPr>
          <a:xfrm rot="0" flipH="false" flipV="false">
            <a:off x="1524000" y="5207000"/>
            <a:ext cx="3937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7474F"/>
                </a:solidFill>
                <a:latin typeface="Noto Sans SC"/>
                <a:ea typeface="Noto Sans SC"/>
                <a:cs typeface="Noto Sans SC"/>
                <a:sym typeface="Noto Sans SC"/>
              </a:rPr>
              <a:t>思路提示：矩阵B为对角矩阵，其主对角线元素即为特征值。利用“相似矩阵迹相等”可快速求出 y。</a:t>
            </a:r>
            <a:endParaRPr lang="en-US" sz="1100"/>
          </a:p>
        </p:txBody>
      </p:sp>
      <p:sp>
        <p:nvSpPr>
          <p:cNvPr name="AutoShape 13" id="13"/>
          <p:cNvSpPr/>
          <p:nvPr/>
        </p:nvSpPr>
        <p:spPr>
          <a:xfrm rot="0" flipH="false" flipV="false">
            <a:off x="6223000" y="1905000"/>
            <a:ext cx="5207000" cy="1968500"/>
          </a:xfrm>
          <a:prstGeom prst="roundRect">
            <a:avLst>
              <a:gd name="adj" fmla="val 0"/>
            </a:avLst>
          </a:prstGeom>
          <a:solidFill>
            <a:srgbClr val="FFFFFF">
              <a:alpha val="6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23000" y="1905000"/>
            <a:ext cx="50800" cy="1968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20320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（1）求解参数 x, y 的值</a:t>
            </a:r>
            <a:endParaRPr lang="en-US" sz="1100"/>
          </a:p>
        </p:txBody>
      </p:sp>
      <p:cxnSp>
        <p:nvCxnSpPr>
          <p:cNvPr name="Connector 16" id="16"/>
          <p:cNvCxnSpPr/>
          <p:nvPr/>
        </p:nvCxnSpPr>
        <p:spPr>
          <a:xfrm rot="-9291" flipH="false" flipV="false">
            <a:off x="6477009" y="2533650"/>
            <a:ext cx="4699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17" id="17"/>
          <p:cNvSpPr/>
          <p:nvPr/>
        </p:nvSpPr>
        <p:spPr>
          <a:xfrm rot="0" flipH="false" flipV="false">
            <a:off x="6477000" y="2667000"/>
            <a:ext cx="469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74F"/>
                </a:solidFill>
                <a:latin typeface="Noto Sans SC"/>
                <a:ea typeface="Noto Sans SC"/>
                <a:cs typeface="Noto Sans SC"/>
                <a:sym typeface="Noto Sans SC"/>
              </a:rPr>
              <a:t>由相似矩阵迹相等：tr(A) = -2 + 0 + x，tr(B) = -1 + y - 2，故</a:t>
            </a:r>
            <a:r>
              <a:rPr lang="en-US" b="true" i="false" strike="noStrike" u="none" sz="1300">
                <a:solidFill>
                  <a:srgbClr val="26A69A"/>
                </a:solidFill>
                <a:latin typeface="Noto Sans SC"/>
                <a:ea typeface="Noto Sans SC"/>
                <a:cs typeface="Noto Sans SC"/>
                <a:sym typeface="Noto Sans SC"/>
              </a:rPr>
              <a:t>x - 2 = y - 3</a:t>
            </a:r>
            <a:r>
              <a:rPr lang="en-US" b="false" i="false" strike="noStrike" u="none" sz="1300">
                <a:solidFill>
                  <a:srgbClr val="37474F"/>
                </a:solidFill>
                <a:latin typeface="Noto Sans SC"/>
                <a:ea typeface="Noto Sans SC"/>
                <a:cs typeface="Noto Sans SC"/>
                <a:sym typeface="Noto Sans SC"/>
              </a:rPr>
              <a:t>。又行列式相等：|A| = 4 - 2x，|B| = 2y，结合相似矩阵特征值相同，B的特征值为-1, y, -2，代入解得</a:t>
            </a:r>
            <a:r>
              <a:rPr lang="en-US" b="true" i="false" strike="noStrike" u="none" sz="1300">
                <a:solidFill>
                  <a:srgbClr val="26A69A"/>
                </a:solidFill>
                <a:latin typeface="Noto Sans SC"/>
                <a:ea typeface="Noto Sans SC"/>
                <a:cs typeface="Noto Sans SC"/>
                <a:sym typeface="Noto Sans SC"/>
              </a:rPr>
              <a:t>x = 0，y = 1</a:t>
            </a:r>
            <a:r>
              <a:rPr lang="en-US" b="false" i="false" strike="noStrike" u="none" sz="1300">
                <a:solidFill>
                  <a:srgbClr val="37474F"/>
                </a:solidFill>
                <a:latin typeface="Noto Sans SC"/>
                <a:ea typeface="Noto Sans SC"/>
                <a:cs typeface="Noto Sans SC"/>
                <a:sym typeface="Noto Sans SC"/>
              </a:rPr>
              <a:t>。</a:t>
            </a:r>
            <a:endParaRPr lang="en-US" sz="1100"/>
          </a:p>
        </p:txBody>
      </p:sp>
      <p:sp>
        <p:nvSpPr>
          <p:cNvPr name="AutoShape 18" id="18"/>
          <p:cNvSpPr/>
          <p:nvPr/>
        </p:nvSpPr>
        <p:spPr>
          <a:xfrm rot="0" flipH="false" flipV="false">
            <a:off x="6223000" y="4191000"/>
            <a:ext cx="5207000" cy="1968500"/>
          </a:xfrm>
          <a:prstGeom prst="roundRect">
            <a:avLst>
              <a:gd name="adj" fmla="val 0"/>
            </a:avLst>
          </a:prstGeom>
          <a:solidFill>
            <a:srgbClr val="FFFFFF">
              <a:alpha val="6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223000" y="4191000"/>
            <a:ext cx="50800" cy="1968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43180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（2）构造可逆矩阵 P</a:t>
            </a:r>
            <a:endParaRPr lang="en-US" sz="1100"/>
          </a:p>
        </p:txBody>
      </p:sp>
      <p:cxnSp>
        <p:nvCxnSpPr>
          <p:cNvPr name="Connector 21" id="21"/>
          <p:cNvCxnSpPr/>
          <p:nvPr/>
        </p:nvCxnSpPr>
        <p:spPr>
          <a:xfrm rot="-9291" flipH="false" flipV="false">
            <a:off x="6477009" y="4819650"/>
            <a:ext cx="4699000" cy="12700"/>
          </a:xfrm>
          <a:prstGeom prst="straightConnector1">
            <a:avLst/>
          </a:prstGeom>
          <a:solidFill>
            <a:srgbClr val="DEE0E3">
              <a:alpha val="100000"/>
            </a:srgbClr>
          </a:solidFill>
          <a:ln w="12700" cmpd="sng" cap="flat">
            <a:solidFill>
              <a:srgbClr val="37474F">
                <a:alpha val="15000"/>
              </a:srgbClr>
            </a:solidFill>
            <a:prstDash val="solid"/>
            <a:round/>
            <a:headEnd type="none" w="med" len="med"/>
            <a:tailEnd type="none" w="med" len="med"/>
          </a:ln>
        </p:spPr>
      </p:cxnSp>
      <p:sp>
        <p:nvSpPr>
          <p:cNvPr name="AutoShape 22" id="22"/>
          <p:cNvSpPr/>
          <p:nvPr/>
        </p:nvSpPr>
        <p:spPr>
          <a:xfrm rot="0" flipH="false" flipV="false">
            <a:off x="6477000" y="4953000"/>
            <a:ext cx="469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74F"/>
                </a:solidFill>
                <a:latin typeface="Noto Sans SC"/>
                <a:ea typeface="Noto Sans SC"/>
                <a:cs typeface="Noto Sans SC"/>
                <a:sym typeface="Noto Sans SC"/>
              </a:rPr>
              <a:t>矩阵B的特征值为-1, 1, -2。分别求解矩阵A对应于这三个特征值的线性无关的特征向量，依次为</a:t>
            </a:r>
            <a:r>
              <a:rPr lang="en-US" b="true" i="false" strike="noStrike" u="none" sz="1300">
                <a:solidFill>
                  <a:srgbClr val="26A69A"/>
                </a:solidFill>
                <a:latin typeface="Noto Sans SC"/>
                <a:ea typeface="Noto Sans SC"/>
                <a:cs typeface="Noto Sans SC"/>
                <a:sym typeface="Noto Sans SC"/>
              </a:rPr>
              <a:t>ξ₁, ξ₂, ξ₃</a:t>
            </a:r>
            <a:r>
              <a:rPr lang="en-US" b="false" i="false" strike="noStrike" u="none" sz="1300">
                <a:solidFill>
                  <a:srgbClr val="37474F"/>
                </a:solidFill>
                <a:latin typeface="Noto Sans SC"/>
                <a:ea typeface="Noto Sans SC"/>
                <a:cs typeface="Noto Sans SC"/>
                <a:sym typeface="Noto Sans SC"/>
              </a:rPr>
              <a:t>。将这些特征向量按列构成矩阵，即得可逆矩阵 P = (ξ₁, ξ₂, ξ₃)，满足 P⁻¹AP = B。</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问题16：解题思路</a:t>
            </a:r>
            <a:endParaRPr lang="en-US" sz="1100"/>
          </a:p>
        </p:txBody>
      </p:sp>
      <p:sp>
        <p:nvSpPr>
          <p:cNvPr name="AutoShape 4" id="4"/>
          <p:cNvSpPr/>
          <p:nvPr/>
        </p:nvSpPr>
        <p:spPr>
          <a:xfrm rot="0" flipH="false" flipV="false">
            <a:off x="762000" y="1778000"/>
            <a:ext cx="3429000" cy="3556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32000"/>
            <a:ext cx="355600" cy="355600"/>
          </a:xfrm>
          <a:prstGeom prst="rect">
            <a:avLst/>
          </a:prstGeom>
        </p:spPr>
      </p:pic>
      <p:sp>
        <p:nvSpPr>
          <p:cNvPr name="AutoShape 7" id="7"/>
          <p:cNvSpPr/>
          <p:nvPr/>
        </p:nvSpPr>
        <p:spPr>
          <a:xfrm rot="0" flipH="false" flipV="false">
            <a:off x="1397000" y="20066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核心理论依据</a:t>
            </a:r>
            <a:endParaRPr lang="en-US" sz="1100"/>
          </a:p>
        </p:txBody>
      </p:sp>
      <p:cxnSp>
        <p:nvCxnSpPr>
          <p:cNvPr name="Connector 8" id="8"/>
          <p:cNvCxnSpPr/>
          <p:nvPr/>
        </p:nvCxnSpPr>
        <p:spPr>
          <a:xfrm rot="-14323" flipH="false" flipV="false">
            <a:off x="952513" y="2660650"/>
            <a:ext cx="3048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9" id="9"/>
          <p:cNvSpPr/>
          <p:nvPr/>
        </p:nvSpPr>
        <p:spPr>
          <a:xfrm rot="0" flipH="false" flipV="false">
            <a:off x="952500" y="2921000"/>
            <a:ext cx="3048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74F"/>
                </a:solidFill>
                <a:latin typeface="Noto Sans SC"/>
                <a:ea typeface="Noto Sans SC"/>
                <a:cs typeface="Noto Sans SC"/>
                <a:sym typeface="Noto Sans SC"/>
              </a:rPr>
              <a:t>相似矩阵具有完全相同的迹（主对角线元素和）与行列式值。利用这两个不变量可建立二元一次方程组，快速求解未知数 x 和 y。再通过求解特征值对应的特征向量，将其按列排列即可构造出可逆矩阵 P。</a:t>
            </a:r>
            <a:endParaRPr lang="en-US" sz="1100"/>
          </a:p>
        </p:txBody>
      </p:sp>
      <p:sp>
        <p:nvSpPr>
          <p:cNvPr name="AutoShape 10" id="10"/>
          <p:cNvSpPr/>
          <p:nvPr/>
        </p:nvSpPr>
        <p:spPr>
          <a:xfrm rot="0" flipH="false" flipV="false">
            <a:off x="4508500" y="1778000"/>
            <a:ext cx="3429000" cy="3556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508500" y="1778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32000"/>
            <a:ext cx="355600" cy="355600"/>
          </a:xfrm>
          <a:prstGeom prst="rect">
            <a:avLst/>
          </a:prstGeom>
        </p:spPr>
      </p:pic>
      <p:sp>
        <p:nvSpPr>
          <p:cNvPr name="AutoShape 13" id="13"/>
          <p:cNvSpPr/>
          <p:nvPr/>
        </p:nvSpPr>
        <p:spPr>
          <a:xfrm rot="0" flipH="false" flipV="false">
            <a:off x="5143500" y="20066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分步推演过程</a:t>
            </a:r>
            <a:endParaRPr lang="en-US" sz="1100"/>
          </a:p>
        </p:txBody>
      </p:sp>
      <p:cxnSp>
        <p:nvCxnSpPr>
          <p:cNvPr name="Connector 14" id="14"/>
          <p:cNvCxnSpPr/>
          <p:nvPr/>
        </p:nvCxnSpPr>
        <p:spPr>
          <a:xfrm rot="-14323" flipH="false" flipV="false">
            <a:off x="4699013" y="2660650"/>
            <a:ext cx="3048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15" id="15"/>
          <p:cNvSpPr/>
          <p:nvPr/>
        </p:nvSpPr>
        <p:spPr>
          <a:xfrm rot="0" flipH="false" flipV="false">
            <a:off x="4699000" y="2857500"/>
            <a:ext cx="3048000" cy="234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7474F"/>
                </a:solidFill>
                <a:latin typeface="Noto Sans SC"/>
                <a:ea typeface="Noto Sans SC"/>
                <a:cs typeface="Noto Sans SC"/>
                <a:sym typeface="Noto Sans SC"/>
              </a:rPr>
              <a:t>STEP 1：求 x, y</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迹相等：x - 2 = y - 3；行列式相等：4 = 2y。联立解得 y=2，x=1。</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7474F"/>
                </a:solidFill>
                <a:latin typeface="Noto Sans SC"/>
                <a:ea typeface="Noto Sans SC"/>
                <a:cs typeface="Noto Sans SC"/>
                <a:sym typeface="Noto Sans SC"/>
              </a:rPr>
              <a:t>STEP 2：构造矩阵 P</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特征值为 -1, 2, -2。求出对应特征向量 ξ₁, ξ₂, ξ₃，按列组合即得可逆矩阵 P。</a:t>
            </a:r>
          </a:p>
        </p:txBody>
      </p:sp>
      <p:sp>
        <p:nvSpPr>
          <p:cNvPr name="AutoShape 16" id="16"/>
          <p:cNvSpPr/>
          <p:nvPr/>
        </p:nvSpPr>
        <p:spPr>
          <a:xfrm rot="0" flipH="false" flipV="false">
            <a:off x="8128000" y="1778000"/>
            <a:ext cx="3429000" cy="35560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1778000"/>
            <a:ext cx="3429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18500" y="2032000"/>
            <a:ext cx="355600" cy="355600"/>
          </a:xfrm>
          <a:prstGeom prst="rect">
            <a:avLst/>
          </a:prstGeom>
        </p:spPr>
      </p:pic>
      <p:sp>
        <p:nvSpPr>
          <p:cNvPr name="AutoShape 19" id="19"/>
          <p:cNvSpPr/>
          <p:nvPr/>
        </p:nvSpPr>
        <p:spPr>
          <a:xfrm rot="0" flipH="false" flipV="false">
            <a:off x="8763000" y="2006600"/>
            <a:ext cx="266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最终结果呈现</a:t>
            </a:r>
            <a:endParaRPr lang="en-US" sz="1100"/>
          </a:p>
        </p:txBody>
      </p:sp>
      <p:cxnSp>
        <p:nvCxnSpPr>
          <p:cNvPr name="Connector 20" id="20"/>
          <p:cNvCxnSpPr/>
          <p:nvPr/>
        </p:nvCxnSpPr>
        <p:spPr>
          <a:xfrm rot="-14323" flipH="false" flipV="false">
            <a:off x="8318513" y="2660650"/>
            <a:ext cx="3048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21" id="21"/>
          <p:cNvSpPr/>
          <p:nvPr/>
        </p:nvSpPr>
        <p:spPr>
          <a:xfrm rot="0" flipH="false" flipV="false">
            <a:off x="8318500" y="2857500"/>
            <a:ext cx="3048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未知数解：</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546E7A"/>
                </a:solidFill>
                <a:latin typeface="Noto Sans SC"/>
                <a:ea typeface="Noto Sans SC"/>
                <a:cs typeface="Noto Sans SC"/>
                <a:sym typeface="Noto Sans SC"/>
              </a:rPr>
              <a:t>x = 1，y = 2。</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400">
                <a:solidFill>
                  <a:srgbClr val="37474F"/>
                </a:solidFill>
                <a:latin typeface="Noto Sans SC"/>
                <a:ea typeface="Noto Sans SC"/>
                <a:cs typeface="Noto Sans SC"/>
                <a:sym typeface="Noto Sans SC"/>
              </a:rPr>
              <a:t>可逆矩阵 P：</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P = ⎛ 0 0 -1 ⎞</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⎜-2 1 0 ⎟</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 1 1 1 ⎠</a:t>
            </a:r>
          </a:p>
        </p:txBody>
      </p:sp>
      <p:sp>
        <p:nvSpPr>
          <p:cNvPr name="AutoShape 22" id="22"/>
          <p:cNvSpPr/>
          <p:nvPr/>
        </p:nvSpPr>
        <p:spPr>
          <a:xfrm rot="0" flipH="false" flipV="false">
            <a:off x="762000" y="5651500"/>
            <a:ext cx="10795000" cy="825500"/>
          </a:xfrm>
          <a:prstGeom prst="roundRect">
            <a:avLst>
              <a:gd name="adj" fmla="val 0"/>
            </a:avLst>
          </a:prstGeom>
          <a:solidFill>
            <a:srgbClr val="FFFFFF">
              <a:alpha val="7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52500" y="5778500"/>
            <a:ext cx="10414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6A69A"/>
                </a:solidFill>
                <a:latin typeface="Noto Sans SC"/>
                <a:ea typeface="Noto Sans SC"/>
                <a:cs typeface="Noto Sans SC"/>
                <a:sym typeface="Noto Sans SC"/>
              </a:rPr>
              <a:t>要点总结：</a:t>
            </a:r>
            <a:r>
              <a:rPr lang="en-US" b="false" i="false" strike="noStrike" u="none" sz="1400">
                <a:solidFill>
                  <a:srgbClr val="37474F"/>
                </a:solidFill>
                <a:latin typeface="Noto Sans SC"/>
                <a:ea typeface="Noto Sans SC"/>
                <a:cs typeface="Noto Sans SC"/>
                <a:sym typeface="Noto Sans SC"/>
              </a:rPr>
              <a:t>解决此类相似矩阵问题的关键在于熟练运用“迹”和“行列式”的不变性快速求解参数，再通过解齐次线性方程组求出特征向量，最终完成矩阵构造。</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17：特征值求解</a:t>
            </a:r>
            <a:endParaRPr lang="en-US" sz="1100"/>
          </a:p>
        </p:txBody>
      </p:sp>
      <p:sp>
        <p:nvSpPr>
          <p:cNvPr name="AutoShape 4" id="4"/>
          <p:cNvSpPr/>
          <p:nvPr/>
        </p:nvSpPr>
        <p:spPr>
          <a:xfrm rot="0" flipH="false" flipV="false">
            <a:off x="762000" y="1651000"/>
            <a:ext cx="10668000" cy="1397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397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03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74F"/>
                </a:solidFill>
                <a:latin typeface="Noto Sans SC"/>
                <a:ea typeface="Noto Sans SC"/>
                <a:cs typeface="Noto Sans SC"/>
                <a:sym typeface="Noto Sans SC"/>
              </a:rPr>
              <a:t>假设A为2阶方阵，向量组α₁,α₂线性无关，且满足线性变换关系：Aα₁=0，Aα₂=2α₁+α₂。在不直接求解矩阵A的情况下，试分析并计算矩阵A的非零特征值。</a:t>
            </a:r>
            <a:endParaRPr lang="en-US" sz="1100"/>
          </a:p>
        </p:txBody>
      </p:sp>
      <p:sp>
        <p:nvSpPr>
          <p:cNvPr name="AutoShape 7" id="7"/>
          <p:cNvSpPr/>
          <p:nvPr/>
        </p:nvSpPr>
        <p:spPr>
          <a:xfrm rot="0" flipH="false" flipV="false">
            <a:off x="762000" y="3429000"/>
            <a:ext cx="5270500" cy="2286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619500"/>
            <a:ext cx="304800" cy="304800"/>
          </a:xfrm>
          <a:prstGeom prst="rect">
            <a:avLst/>
          </a:prstGeom>
        </p:spPr>
      </p:pic>
      <p:sp>
        <p:nvSpPr>
          <p:cNvPr name="AutoShape 9" id="9"/>
          <p:cNvSpPr/>
          <p:nvPr/>
        </p:nvSpPr>
        <p:spPr>
          <a:xfrm rot="0" flipH="false" flipV="false">
            <a:off x="1460500" y="3581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思路：构造相似矩阵</a:t>
            </a:r>
            <a:endParaRPr lang="en-US" sz="1100"/>
          </a:p>
        </p:txBody>
      </p:sp>
      <p:cxnSp>
        <p:nvCxnSpPr>
          <p:cNvPr name="Connector 10" id="10"/>
          <p:cNvCxnSpPr/>
          <p:nvPr/>
        </p:nvCxnSpPr>
        <p:spPr>
          <a:xfrm rot="-9167" flipH="false" flipV="false">
            <a:off x="1016008" y="4121150"/>
            <a:ext cx="47625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11" id="11"/>
          <p:cNvSpPr/>
          <p:nvPr/>
        </p:nvSpPr>
        <p:spPr>
          <a:xfrm rot="0" flipH="false" flipV="false">
            <a:off x="1016000" y="4318000"/>
            <a:ext cx="476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由α₁,α₂线性无关，可作为2维空间的一组基。将已知变换式合并为矩阵形式：A(α₁, α₂) = (α₁, α₂)B，其中B为变换在该基下的矩阵。相似矩阵特征值相同，故求B的特征值即可。</a:t>
            </a:r>
            <a:endParaRPr lang="en-US" sz="1100"/>
          </a:p>
        </p:txBody>
      </p:sp>
      <p:sp>
        <p:nvSpPr>
          <p:cNvPr name="AutoShape 12" id="12"/>
          <p:cNvSpPr/>
          <p:nvPr/>
        </p:nvSpPr>
        <p:spPr>
          <a:xfrm rot="0" flipH="false" flipV="false">
            <a:off x="6286500" y="3429000"/>
            <a:ext cx="5270500" cy="2286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3619500"/>
            <a:ext cx="304800" cy="304800"/>
          </a:xfrm>
          <a:prstGeom prst="rect">
            <a:avLst/>
          </a:prstGeom>
        </p:spPr>
      </p:pic>
      <p:sp>
        <p:nvSpPr>
          <p:cNvPr name="AutoShape 14" id="14"/>
          <p:cNvSpPr/>
          <p:nvPr/>
        </p:nvSpPr>
        <p:spPr>
          <a:xfrm rot="0" flipH="false" flipV="false">
            <a:off x="6985000" y="3581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推导：求解矩阵B的特征方程</a:t>
            </a:r>
            <a:endParaRPr lang="en-US" sz="1100"/>
          </a:p>
        </p:txBody>
      </p:sp>
      <p:cxnSp>
        <p:nvCxnSpPr>
          <p:cNvPr name="Connector 15" id="15"/>
          <p:cNvCxnSpPr/>
          <p:nvPr/>
        </p:nvCxnSpPr>
        <p:spPr>
          <a:xfrm rot="-9167" flipH="false" flipV="false">
            <a:off x="6540508" y="4121150"/>
            <a:ext cx="4762500" cy="12700"/>
          </a:xfrm>
          <a:prstGeom prst="straightConnector1">
            <a:avLst/>
          </a:prstGeom>
          <a:solidFill>
            <a:srgbClr val="DEE0E3">
              <a:alpha val="100000"/>
            </a:srgbClr>
          </a:solidFill>
          <a:ln w="12700" cmpd="sng" cap="flat">
            <a:solidFill>
              <a:srgbClr val="26A69A">
                <a:alpha val="30000"/>
              </a:srgbClr>
            </a:solidFill>
            <a:prstDash val="dash"/>
            <a:round/>
            <a:headEnd type="none" w="med" len="med"/>
            <a:tailEnd type="none" w="med" len="med"/>
          </a:ln>
        </p:spPr>
      </p:cxnSp>
      <p:sp>
        <p:nvSpPr>
          <p:cNvPr name="AutoShape 16" id="16"/>
          <p:cNvSpPr/>
          <p:nvPr/>
        </p:nvSpPr>
        <p:spPr>
          <a:xfrm rot="0" flipH="false" flipV="false">
            <a:off x="6540500" y="4318000"/>
            <a:ext cx="476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由条件得矩阵 B = [[0, 2], [0, 1]]。其特征方程为 |λE - B| = λ(λ - 1) = 0，解得特征值为 λ₁=0，λ₂=1。因此矩阵A的特征值与B相同，非零特征值即为1。</a:t>
            </a:r>
            <a:endParaRPr lang="en-US" sz="1100"/>
          </a:p>
        </p:txBody>
      </p:sp>
      <p:sp>
        <p:nvSpPr>
          <p:cNvPr name="AutoShape 17" id="17"/>
          <p:cNvSpPr/>
          <p:nvPr/>
        </p:nvSpPr>
        <p:spPr>
          <a:xfrm rot="0" flipH="false" flipV="false">
            <a:off x="762000" y="5969000"/>
            <a:ext cx="10668000" cy="635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6070600"/>
            <a:ext cx="10160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6A69A"/>
                </a:solidFill>
                <a:latin typeface="Noto Sans SC"/>
                <a:ea typeface="Noto Sans SC"/>
                <a:cs typeface="Noto Sans SC"/>
                <a:sym typeface="Noto Sans SC"/>
              </a:rPr>
              <a:t>结论：</a:t>
            </a:r>
            <a:r>
              <a:rPr lang="en-US" b="false" i="false" strike="noStrike" u="none" sz="1600">
                <a:solidFill>
                  <a:srgbClr val="37474F"/>
                </a:solidFill>
                <a:latin typeface="Noto Sans SC"/>
                <a:ea typeface="Noto Sans SC"/>
                <a:cs typeface="Noto Sans SC"/>
                <a:sym typeface="Noto Sans SC"/>
              </a:rPr>
              <a:t>矩阵A的非零特征值为</a:t>
            </a:r>
            <a:r>
              <a:rPr lang="en-US" b="true" i="false" strike="noStrike" u="none" sz="2000">
                <a:solidFill>
                  <a:srgbClr val="D84315"/>
                </a:solidFill>
                <a:latin typeface="Noto Sans SC"/>
                <a:ea typeface="Noto Sans SC"/>
                <a:cs typeface="Noto Sans SC"/>
                <a:sym typeface="Noto Sans SC"/>
              </a:rPr>
              <a:t>1</a:t>
            </a:r>
            <a:endParaRPr lang="en-US" sz="1100"/>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 17：解题思路</a:t>
            </a:r>
            <a:endParaRPr lang="en-US" sz="1100"/>
          </a:p>
        </p:txBody>
      </p:sp>
      <p:cxnSp>
        <p:nvCxnSpPr>
          <p:cNvPr name="Connector 4" id="4"/>
          <p:cNvCxnSpPr/>
          <p:nvPr/>
        </p:nvCxnSpPr>
        <p:spPr>
          <a:xfrm rot="-4092" flipH="false" flipV="false">
            <a:off x="762004" y="1327150"/>
            <a:ext cx="10668000" cy="12700"/>
          </a:xfrm>
          <a:prstGeom prst="straightConnector1">
            <a:avLst/>
          </a:prstGeom>
          <a:solidFill>
            <a:srgbClr val="DEE0E3">
              <a:alpha val="100000"/>
            </a:srgbClr>
          </a:solidFill>
          <a:ln w="25400" cmpd="sng" cap="flat">
            <a:solidFill>
              <a:srgbClr val="26A69A">
                <a:alpha val="50000"/>
              </a:srgbClr>
            </a:solidFill>
            <a:prstDash val="solid"/>
            <a:round/>
            <a:headEnd type="none" w="lg" len="lg"/>
            <a:tailEnd type="none" w="lg" len="lg"/>
          </a:ln>
        </p:spPr>
      </p:cxnSp>
      <p:sp>
        <p:nvSpPr>
          <p:cNvPr name="AutoShape 5" id="5"/>
          <p:cNvSpPr/>
          <p:nvPr/>
        </p:nvSpPr>
        <p:spPr>
          <a:xfrm rot="0" flipH="false" flipV="false">
            <a:off x="762000" y="1778000"/>
            <a:ext cx="3429000" cy="3429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76200" cy="3429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304800" cy="304800"/>
          </a:xfrm>
          <a:prstGeom prst="rect">
            <a:avLst/>
          </a:prstGeom>
        </p:spPr>
      </p:pic>
      <p:sp>
        <p:nvSpPr>
          <p:cNvPr name="AutoShape 8" id="8"/>
          <p:cNvSpPr/>
          <p:nvPr/>
        </p:nvSpPr>
        <p:spPr>
          <a:xfrm rot="0" flipH="false" flipV="false">
            <a:off x="1397000" y="1930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核心思路：矩阵相似性</a:t>
            </a:r>
            <a:endParaRPr lang="en-US" sz="1100"/>
          </a:p>
        </p:txBody>
      </p:sp>
      <p:cxnSp>
        <p:nvCxnSpPr>
          <p:cNvPr name="Connector 9" id="9"/>
          <p:cNvCxnSpPr/>
          <p:nvPr/>
        </p:nvCxnSpPr>
        <p:spPr>
          <a:xfrm rot="-14946" flipH="false" flipV="false">
            <a:off x="1016014" y="2470150"/>
            <a:ext cx="2921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0" id="10"/>
          <p:cNvSpPr/>
          <p:nvPr/>
        </p:nvSpPr>
        <p:spPr>
          <a:xfrm rot="0" flipH="false" flipV="false">
            <a:off x="1016000" y="2667000"/>
            <a:ext cx="2921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74F"/>
                </a:solidFill>
                <a:latin typeface="Noto Sans SC"/>
                <a:ea typeface="Noto Sans SC"/>
                <a:cs typeface="Noto Sans SC"/>
                <a:sym typeface="Noto Sans SC"/>
              </a:rPr>
              <a:t>利用矩阵变换思想，构造可逆矩阵 P = [α₁, α₂]。根据已知条件建立 AP = PB 的矩阵关系，由此证明矩阵 A 与矩阵 B 相似。利用“相似矩阵具有相同特征值”这一关键性质，将求 A 的特征值转化为求更简单的矩阵 B 的特征值。</a:t>
            </a:r>
            <a:endParaRPr lang="en-US" sz="1100"/>
          </a:p>
        </p:txBody>
      </p:sp>
      <p:sp>
        <p:nvSpPr>
          <p:cNvPr name="AutoShape 11" id="11"/>
          <p:cNvSpPr/>
          <p:nvPr/>
        </p:nvSpPr>
        <p:spPr>
          <a:xfrm rot="0" flipH="false" flipV="false">
            <a:off x="4445000" y="1778000"/>
            <a:ext cx="5207000" cy="3429000"/>
          </a:xfrm>
          <a:prstGeom prst="roundRect">
            <a:avLst>
              <a:gd name="adj" fmla="val 0"/>
            </a:avLst>
          </a:prstGeom>
          <a:solidFill>
            <a:srgbClr val="FFFFFF">
              <a:alpha val="7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1778000"/>
            <a:ext cx="76200" cy="3429000"/>
          </a:xfrm>
          <a:prstGeom prst="roundRect">
            <a:avLst>
              <a:gd name="adj" fmla="val 0"/>
            </a:avLst>
          </a:prstGeom>
          <a:solidFill>
            <a:srgbClr val="26A69A">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968500"/>
            <a:ext cx="304800" cy="304800"/>
          </a:xfrm>
          <a:prstGeom prst="rect">
            <a:avLst/>
          </a:prstGeom>
        </p:spPr>
      </p:pic>
      <p:sp>
        <p:nvSpPr>
          <p:cNvPr name="AutoShape 14" id="14"/>
          <p:cNvSpPr/>
          <p:nvPr/>
        </p:nvSpPr>
        <p:spPr>
          <a:xfrm rot="0" flipH="false" flipV="false">
            <a:off x="5080000" y="1930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推导过程：严谨的数学演绎</a:t>
            </a:r>
            <a:endParaRPr lang="en-US" sz="1100"/>
          </a:p>
        </p:txBody>
      </p:sp>
      <p:cxnSp>
        <p:nvCxnSpPr>
          <p:cNvPr name="Connector 15" id="15"/>
          <p:cNvCxnSpPr/>
          <p:nvPr/>
        </p:nvCxnSpPr>
        <p:spPr>
          <a:xfrm rot="-9291" flipH="false" flipV="false">
            <a:off x="4699009" y="2470150"/>
            <a:ext cx="4699000" cy="12700"/>
          </a:xfrm>
          <a:prstGeom prst="straightConnector1">
            <a:avLst/>
          </a:prstGeom>
          <a:solidFill>
            <a:srgbClr val="DEE0E3">
              <a:alpha val="100000"/>
            </a:srgbClr>
          </a:solidFill>
          <a:ln w="12700" cmpd="sng" cap="flat">
            <a:solidFill>
              <a:srgbClr val="37474F">
                <a:alpha val="15000"/>
              </a:srgbClr>
            </a:solidFill>
            <a:prstDash val="dash"/>
            <a:round/>
            <a:headEnd type="none" w="med" len="med"/>
            <a:tailEnd type="none" w="med" len="med"/>
          </a:ln>
        </p:spPr>
      </p:cxnSp>
      <p:sp>
        <p:nvSpPr>
          <p:cNvPr name="AutoShape 16" id="16"/>
          <p:cNvSpPr/>
          <p:nvPr/>
        </p:nvSpPr>
        <p:spPr>
          <a:xfrm rot="0" flipH="false" flipV="false">
            <a:off x="4699000" y="2667000"/>
            <a:ext cx="4699000" cy="234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7474F"/>
                </a:solidFill>
                <a:latin typeface="Noto Sans SC"/>
                <a:ea typeface="Noto Sans SC"/>
                <a:cs typeface="Noto Sans SC"/>
                <a:sym typeface="Noto Sans SC"/>
              </a:rPr>
              <a:t>Step 1. 构造矩阵：</a:t>
            </a:r>
            <a:r>
              <a:rPr lang="en-US" b="false" i="false" strike="noStrike" u="none" sz="1400">
                <a:solidFill>
                  <a:srgbClr val="546E7A"/>
                </a:solidFill>
                <a:latin typeface="Noto Sans SC"/>
                <a:ea typeface="Noto Sans SC"/>
                <a:cs typeface="Noto Sans SC"/>
                <a:sym typeface="Noto Sans SC"/>
              </a:rPr>
              <a:t>由 α₁, α₂ 线性无关，知 P = [α₁, α₂] 为可逆矩阵。</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7474F"/>
                </a:solidFill>
                <a:latin typeface="Noto Sans SC"/>
                <a:ea typeface="Noto Sans SC"/>
                <a:cs typeface="Noto Sans SC"/>
                <a:sym typeface="Noto Sans SC"/>
              </a:rPr>
              <a:t>Step 2. 建立关系：</a:t>
            </a:r>
            <a:r>
              <a:rPr lang="en-US" b="false" i="false" strike="noStrike" u="none" sz="1400">
                <a:solidFill>
                  <a:srgbClr val="546E7A"/>
                </a:solidFill>
                <a:latin typeface="Noto Sans SC"/>
                <a:ea typeface="Noto Sans SC"/>
                <a:cs typeface="Noto Sans SC"/>
                <a:sym typeface="Noto Sans SC"/>
              </a:rPr>
              <a:t>AP = [Aα₁, Aα₂] = [0, 2α₁+α₂] = PB，其中 B = [[0, 2], [0, 1]]。</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37474F"/>
                </a:solidFill>
                <a:latin typeface="Noto Sans SC"/>
                <a:ea typeface="Noto Sans SC"/>
                <a:cs typeface="Noto Sans SC"/>
                <a:sym typeface="Noto Sans SC"/>
              </a:rPr>
              <a:t>Step 3. 求解特征值：</a:t>
            </a:r>
            <a:r>
              <a:rPr lang="en-US" b="false" i="false" strike="noStrike" u="none" sz="1400">
                <a:solidFill>
                  <a:srgbClr val="546E7A"/>
                </a:solidFill>
                <a:latin typeface="Noto Sans SC"/>
                <a:ea typeface="Noto Sans SC"/>
                <a:cs typeface="Noto Sans SC"/>
                <a:sym typeface="Noto Sans SC"/>
              </a:rPr>
              <a:t>计算特征方程 |B - λE| = λ(λ - 1) = 0，解得特征值 λ₁=0，λ₂=1。</a:t>
            </a:r>
          </a:p>
        </p:txBody>
      </p:sp>
      <p:sp>
        <p:nvSpPr>
          <p:cNvPr name="AutoShape 17" id="17"/>
          <p:cNvSpPr/>
          <p:nvPr/>
        </p:nvSpPr>
        <p:spPr>
          <a:xfrm rot="0" flipH="false" flipV="false">
            <a:off x="9779000" y="1778000"/>
            <a:ext cx="1905000" cy="3429000"/>
          </a:xfrm>
          <a:prstGeom prst="roundRect">
            <a:avLst>
              <a:gd name="adj" fmla="val 0"/>
            </a:avLst>
          </a:prstGeom>
          <a:solidFill>
            <a:srgbClr val="26A69A">
              <a:alpha val="10000"/>
            </a:srgbClr>
          </a:solidFill>
          <a:ln w="12700" cmpd="sng" cap="flat">
            <a:solidFill>
              <a:srgbClr val="26A69A">
                <a:alpha val="5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969500" y="1968500"/>
            <a:ext cx="304800" cy="304800"/>
          </a:xfrm>
          <a:prstGeom prst="rect">
            <a:avLst/>
          </a:prstGeom>
        </p:spPr>
      </p:pic>
      <p:sp>
        <p:nvSpPr>
          <p:cNvPr name="AutoShape 19" id="19"/>
          <p:cNvSpPr/>
          <p:nvPr/>
        </p:nvSpPr>
        <p:spPr>
          <a:xfrm rot="0" flipH="false" flipV="false">
            <a:off x="10350500" y="1930400"/>
            <a:ext cx="1206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结论</a:t>
            </a:r>
            <a:endParaRPr lang="en-US" sz="1100"/>
          </a:p>
        </p:txBody>
      </p:sp>
      <p:cxnSp>
        <p:nvCxnSpPr>
          <p:cNvPr name="Connector 20" id="20"/>
          <p:cNvCxnSpPr/>
          <p:nvPr/>
        </p:nvCxnSpPr>
        <p:spPr>
          <a:xfrm rot="-28647" flipH="false" flipV="false">
            <a:off x="9969526" y="2470150"/>
            <a:ext cx="1524000" cy="12700"/>
          </a:xfrm>
          <a:prstGeom prst="straightConnector1">
            <a:avLst/>
          </a:prstGeom>
          <a:solidFill>
            <a:srgbClr val="DEE0E3">
              <a:alpha val="100000"/>
            </a:srgbClr>
          </a:solidFill>
          <a:ln w="12700" cmpd="sng" cap="flat">
            <a:solidFill>
              <a:srgbClr val="26A69A">
                <a:alpha val="30000"/>
              </a:srgbClr>
            </a:solidFill>
            <a:prstDash val="solid"/>
            <a:round/>
            <a:headEnd type="none" w="med" len="med"/>
            <a:tailEnd type="none" w="med" len="med"/>
          </a:ln>
        </p:spPr>
      </p:cxnSp>
      <p:sp>
        <p:nvSpPr>
          <p:cNvPr name="AutoShape 21" id="21"/>
          <p:cNvSpPr/>
          <p:nvPr/>
        </p:nvSpPr>
        <p:spPr>
          <a:xfrm rot="0" flipH="false" flipV="false">
            <a:off x="9779000" y="2921000"/>
            <a:ext cx="1905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6400">
                <a:solidFill>
                  <a:srgbClr val="26A69A"/>
                </a:solidFill>
                <a:latin typeface="Noto Sans SC"/>
                <a:ea typeface="Noto Sans SC"/>
                <a:cs typeface="Noto Sans SC"/>
                <a:sym typeface="Noto Sans SC"/>
              </a:rPr>
              <a:t>1</a:t>
            </a:r>
            <a:endParaRPr lang="en-US" sz="1100"/>
          </a:p>
        </p:txBody>
      </p:sp>
      <p:sp>
        <p:nvSpPr>
          <p:cNvPr name="AutoShape 22" id="22"/>
          <p:cNvSpPr/>
          <p:nvPr/>
        </p:nvSpPr>
        <p:spPr>
          <a:xfrm rot="0" flipH="false" flipV="false">
            <a:off x="9906000" y="4445000"/>
            <a:ext cx="1651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300">
                <a:solidFill>
                  <a:srgbClr val="546E7A"/>
                </a:solidFill>
                <a:latin typeface="Noto Sans SC"/>
                <a:ea typeface="Noto Sans SC"/>
                <a:cs typeface="Noto Sans SC"/>
                <a:sym typeface="Noto Sans SC"/>
              </a:rPr>
              <a:t>矩阵 A 的</a:t>
            </a:r>
            <a:r>
              <a:rPr lang="en-US" b="false" i="false" strike="noStrike" u="none" sz="1300">
                <a:solidFill>
                  <a:srgbClr val="546E7A"/>
                </a:solidFill>
                <a:latin typeface="Noto Sans SC"/>
                <a:ea typeface="Noto Sans SC"/>
                <a:cs typeface="Noto Sans SC"/>
                <a:sym typeface="Noto Sans SC"/>
              </a:rPr>
              <a:t/>
            </a:r>
            <a:br>
              <a:rPr lang="en-US" b="false" i="false" strike="noStrike" u="none" sz="1300">
                <a:solidFill>
                  <a:srgbClr val="546E7A"/>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非零特征值为 1</a:t>
            </a:r>
            <a:endParaRPr lang="en-US" sz="1100"/>
          </a:p>
        </p:txBody>
      </p:sp>
      <p:sp>
        <p:nvSpPr>
          <p:cNvPr name="AutoShape 23" id="23"/>
          <p:cNvSpPr/>
          <p:nvPr/>
        </p:nvSpPr>
        <p:spPr>
          <a:xfrm rot="0" flipH="false" flipV="false">
            <a:off x="762000" y="5588000"/>
            <a:ext cx="10922000" cy="889000"/>
          </a:xfrm>
          <a:prstGeom prst="roundRect">
            <a:avLst>
              <a:gd name="adj" fmla="val 0"/>
            </a:avLst>
          </a:prstGeom>
          <a:solidFill>
            <a:srgbClr val="37474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5778500"/>
            <a:ext cx="254000" cy="254000"/>
          </a:xfrm>
          <a:prstGeom prst="rect">
            <a:avLst/>
          </a:prstGeom>
        </p:spPr>
      </p:pic>
      <p:sp>
        <p:nvSpPr>
          <p:cNvPr name="AutoShape 25" id="25"/>
          <p:cNvSpPr/>
          <p:nvPr/>
        </p:nvSpPr>
        <p:spPr>
          <a:xfrm rot="0" flipH="false" flipV="false">
            <a:off x="1397000" y="5715000"/>
            <a:ext cx="10033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7474F"/>
                </a:solidFill>
                <a:latin typeface="Noto Sans SC"/>
                <a:ea typeface="Noto Sans SC"/>
                <a:cs typeface="Noto Sans SC"/>
                <a:sym typeface="Noto Sans SC"/>
              </a:rPr>
              <a:t>关键点总结：</a:t>
            </a:r>
            <a:r>
              <a:rPr lang="en-US" b="false" i="false" strike="noStrike" u="none" sz="1300">
                <a:solidFill>
                  <a:srgbClr val="546E7A"/>
                </a:solidFill>
                <a:latin typeface="Noto Sans SC"/>
                <a:ea typeface="Noto Sans SC"/>
                <a:cs typeface="Noto Sans SC"/>
                <a:sym typeface="Noto Sans SC"/>
              </a:rPr>
              <a:t>将抽象的向量变换转化为具体的矩阵乘法关系，是解决此类问题的核心技巧。熟练掌握相似矩阵的性质，可以极大简化特征值的求解过程，避免了直接计算高阶矩阵行列式的复杂运算。</a:t>
            </a:r>
            <a:endParaRPr lang="en-US" sz="11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问题18：线性表示</a:t>
            </a:r>
            <a:endParaRPr lang="en-US" sz="1100"/>
          </a:p>
        </p:txBody>
      </p:sp>
      <p:sp>
        <p:nvSpPr>
          <p:cNvPr name="AutoShape 4" id="4"/>
          <p:cNvSpPr/>
          <p:nvPr/>
        </p:nvSpPr>
        <p:spPr>
          <a:xfrm rot="0" flipH="false" flipV="false">
            <a:off x="762000" y="1397000"/>
            <a:ext cx="10668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10668000" cy="1778000"/>
          </a:xfrm>
          <a:prstGeom prst="roundRect">
            <a:avLst>
              <a:gd name="adj" fmla="val 0"/>
            </a:avLst>
          </a:prstGeom>
          <a:solidFill>
            <a:srgbClr val="26A69A">
              <a:alpha val="1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159000"/>
            <a:ext cx="10160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37474F"/>
                </a:solidFill>
                <a:latin typeface="Noto Sans SC"/>
                <a:ea typeface="Noto Sans SC"/>
                <a:cs typeface="Noto Sans SC"/>
                <a:sym typeface="Noto Sans SC"/>
              </a:rPr>
              <a:t>已知四维向量组：α₁=⎛1⎞, α₂=⎛1⎞, α₃=⎛1⎞, α₄=⎛1⎞，以及向量 β=⎛1⎞</a:t>
            </a:r>
            <a:r>
              <a:rPr lang="en-US" b="false" i="false" strike="noStrike" u="none" sz="1400">
                <a:solidFill>
                  <a:srgbClr val="37474F"/>
                </a:solidFill>
                <a:latin typeface="Noto Sans SC"/>
                <a:ea typeface="Noto Sans SC"/>
                <a:cs typeface="Noto Sans SC"/>
                <a:sym typeface="Noto Sans SC"/>
              </a:rPr>
              <a:t/>
            </a:r>
            <a:endParaRPr lang="en-US" sz="1100"/>
          </a:p>
          <a:p>
            <a:pPr algn="ctr" marL="0" indent="0">
              <a:lnSpc>
                <a:spcPct val="108333"/>
              </a:lnSpc>
            </a:pPr>
            <a:r>
              <a:rPr lang="en-US" b="false" i="false" strike="noStrike" u="none" sz="1400">
                <a:solidFill>
                  <a:srgbClr val="37474F"/>
                </a:solidFill>
                <a:latin typeface="Noto Sans SC"/>
                <a:ea typeface="Noto Sans SC"/>
                <a:cs typeface="Noto Sans SC"/>
                <a:sym typeface="Noto Sans SC"/>
              </a:rPr>
              <a:t>⎜0⎟ ⎜1⎟ ⎜1⎟ ⎜2⎟ 　　　　　 ⎜1⎟</a:t>
            </a:r>
            <a:r>
              <a:rPr lang="en-US" b="false" i="false" strike="noStrike" u="none" sz="1400">
                <a:solidFill>
                  <a:srgbClr val="37474F"/>
                </a:solidFill>
                <a:latin typeface="Noto Sans SC"/>
                <a:ea typeface="Noto Sans SC"/>
                <a:cs typeface="Noto Sans SC"/>
                <a:sym typeface="Noto Sans SC"/>
              </a:rPr>
              <a:t/>
            </a:r>
          </a:p>
          <a:p>
            <a:pPr algn="ctr" marL="0" indent="0">
              <a:lnSpc>
                <a:spcPct val="108333"/>
              </a:lnSpc>
            </a:pPr>
            <a:r>
              <a:rPr lang="en-US" b="false" i="false" strike="noStrike" u="none" sz="1400">
                <a:solidFill>
                  <a:srgbClr val="37474F"/>
                </a:solidFill>
                <a:latin typeface="Noto Sans SC"/>
                <a:ea typeface="Noto Sans SC"/>
                <a:cs typeface="Noto Sans SC"/>
                <a:sym typeface="Noto Sans SC"/>
              </a:rPr>
              <a:t>⎜2⎟ ⎜3⎟ ⎜a+2⎟ ⎜4⎟ 　　　　　 ⎜b+3⎟</a:t>
            </a:r>
            <a:r>
              <a:rPr lang="en-US" b="false" i="false" strike="noStrike" u="none" sz="1400">
                <a:solidFill>
                  <a:srgbClr val="37474F"/>
                </a:solidFill>
                <a:latin typeface="Noto Sans SC"/>
                <a:ea typeface="Noto Sans SC"/>
                <a:cs typeface="Noto Sans SC"/>
                <a:sym typeface="Noto Sans SC"/>
              </a:rPr>
              <a:t/>
            </a:r>
          </a:p>
          <a:p>
            <a:pPr algn="ctr" marL="0" indent="0">
              <a:lnSpc>
                <a:spcPct val="108333"/>
              </a:lnSpc>
            </a:pPr>
            <a:r>
              <a:rPr lang="en-US" b="false" i="false" strike="noStrike" u="none" sz="1400">
                <a:solidFill>
                  <a:srgbClr val="37474F"/>
                </a:solidFill>
                <a:latin typeface="Noto Sans SC"/>
                <a:ea typeface="Noto Sans SC"/>
                <a:cs typeface="Noto Sans SC"/>
                <a:sym typeface="Noto Sans SC"/>
              </a:rPr>
              <a:t>⎝3⎠ ⎝5⎠ ⎝1⎠ ⎝a+8⎠ 　　　　　⎝5⎠</a:t>
            </a:r>
            <a:r>
              <a:rPr lang="en-US" b="false" i="false" strike="noStrike" u="none" sz="1400">
                <a:solidFill>
                  <a:srgbClr val="37474F"/>
                </a:solidFill>
                <a:latin typeface="Noto Sans SC"/>
                <a:ea typeface="Noto Sans SC"/>
                <a:cs typeface="Noto Sans SC"/>
                <a:sym typeface="Noto Sans SC"/>
              </a:rPr>
              <a:t/>
            </a:r>
          </a:p>
          <a:p>
            <a:pPr algn="ctr" marL="0" indent="0">
              <a:lnSpc>
                <a:spcPct val="108333"/>
              </a:lnSpc>
            </a:pPr>
            <a:r>
              <a:rPr lang="en-US" b="false" i="false" strike="noStrike" u="none" sz="1300">
                <a:solidFill>
                  <a:srgbClr val="37474F"/>
                </a:solidFill>
                <a:latin typeface="Noto Sans SC"/>
                <a:ea typeface="Noto Sans SC"/>
                <a:cs typeface="Noto Sans SC"/>
                <a:sym typeface="Noto Sans SC"/>
              </a:rPr>
              <a:t>将β用向量组α₁,α₂,α₃,α₄线性表示的问题，可转化为非齐次线性方程组 x₁α₁ + x₂α₂ + x₃α₃ + x₄α₄ = β 的解的讨论问题。</a:t>
            </a:r>
          </a:p>
        </p:txBody>
      </p:sp>
      <p:sp>
        <p:nvSpPr>
          <p:cNvPr name="AutoShape 7" id="7"/>
          <p:cNvSpPr/>
          <p:nvPr/>
        </p:nvSpPr>
        <p:spPr>
          <a:xfrm rot="0" flipH="false" flipV="false">
            <a:off x="762000" y="4318000"/>
            <a:ext cx="5207000" cy="1905000"/>
          </a:xfrm>
          <a:prstGeom prst="roundRect">
            <a:avLst>
              <a:gd name="adj" fmla="val 0"/>
            </a:avLst>
          </a:prstGeom>
          <a:solidFill>
            <a:srgbClr val="FFFFFF">
              <a:alpha val="8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4318000"/>
            <a:ext cx="101600" cy="1905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79500" y="4508500"/>
            <a:ext cx="4635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（1）β不能被向量组线性表示</a:t>
            </a:r>
            <a:endParaRPr lang="en-US" sz="1100"/>
          </a:p>
        </p:txBody>
      </p:sp>
      <p:cxnSp>
        <p:nvCxnSpPr>
          <p:cNvPr name="Connector 10" id="10"/>
          <p:cNvCxnSpPr/>
          <p:nvPr/>
        </p:nvCxnSpPr>
        <p:spPr>
          <a:xfrm rot="-9418" flipH="false" flipV="false">
            <a:off x="1079509" y="5073650"/>
            <a:ext cx="4635500" cy="12700"/>
          </a:xfrm>
          <a:prstGeom prst="straightConnector1">
            <a:avLst/>
          </a:prstGeom>
          <a:solidFill>
            <a:srgbClr val="DEE0E3">
              <a:alpha val="100000"/>
            </a:srgbClr>
          </a:solidFill>
          <a:ln w="12700" cmpd="sng" cap="flat">
            <a:solidFill>
              <a:srgbClr val="37474F">
                <a:alpha val="20000"/>
              </a:srgbClr>
            </a:solidFill>
            <a:prstDash val="dash"/>
            <a:round/>
            <a:headEnd type="none" w="med" len="med"/>
            <a:tailEnd type="none" w="med" len="med"/>
          </a:ln>
        </p:spPr>
      </p:cxnSp>
      <p:sp>
        <p:nvSpPr>
          <p:cNvPr name="AutoShape 11" id="11"/>
          <p:cNvSpPr/>
          <p:nvPr/>
        </p:nvSpPr>
        <p:spPr>
          <a:xfrm rot="0" flipH="false" flipV="false">
            <a:off x="1079500" y="5207000"/>
            <a:ext cx="4635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当系数矩阵的秩小于增广矩阵的秩时，方程组无解。即 r(A) &lt; r(A|β)，此时β无法由该向量组线性表示，需通过初等行变换化简矩阵，分析参数 a, b 的取值。</a:t>
            </a:r>
            <a:endParaRPr lang="en-US" sz="1100"/>
          </a:p>
        </p:txBody>
      </p:sp>
      <p:sp>
        <p:nvSpPr>
          <p:cNvPr name="AutoShape 12" id="12"/>
          <p:cNvSpPr/>
          <p:nvPr/>
        </p:nvSpPr>
        <p:spPr>
          <a:xfrm rot="0" flipH="false" flipV="false">
            <a:off x="6223000" y="4318000"/>
            <a:ext cx="5207000" cy="1905000"/>
          </a:xfrm>
          <a:prstGeom prst="roundRect">
            <a:avLst>
              <a:gd name="adj" fmla="val 0"/>
            </a:avLst>
          </a:prstGeom>
          <a:solidFill>
            <a:srgbClr val="FFFFFF">
              <a:alpha val="85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223000" y="4318000"/>
            <a:ext cx="101600" cy="19050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540500" y="4508500"/>
            <a:ext cx="4635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（2）β能被向量组唯一线性表示</a:t>
            </a:r>
            <a:endParaRPr lang="en-US" sz="1100"/>
          </a:p>
        </p:txBody>
      </p:sp>
      <p:cxnSp>
        <p:nvCxnSpPr>
          <p:cNvPr name="Connector 15" id="15"/>
          <p:cNvCxnSpPr/>
          <p:nvPr/>
        </p:nvCxnSpPr>
        <p:spPr>
          <a:xfrm rot="-9418" flipH="false" flipV="false">
            <a:off x="6540509" y="5073650"/>
            <a:ext cx="4635500" cy="12700"/>
          </a:xfrm>
          <a:prstGeom prst="straightConnector1">
            <a:avLst/>
          </a:prstGeom>
          <a:solidFill>
            <a:srgbClr val="DEE0E3">
              <a:alpha val="100000"/>
            </a:srgbClr>
          </a:solidFill>
          <a:ln w="12700" cmpd="sng" cap="flat">
            <a:solidFill>
              <a:srgbClr val="37474F">
                <a:alpha val="20000"/>
              </a:srgbClr>
            </a:solidFill>
            <a:prstDash val="dash"/>
            <a:round/>
            <a:headEnd type="none" w="med" len="med"/>
            <a:tailEnd type="none" w="med" len="med"/>
          </a:ln>
        </p:spPr>
      </p:cxnSp>
      <p:sp>
        <p:nvSpPr>
          <p:cNvPr name="AutoShape 16" id="16"/>
          <p:cNvSpPr/>
          <p:nvPr/>
        </p:nvSpPr>
        <p:spPr>
          <a:xfrm rot="0" flipH="false" flipV="false">
            <a:off x="6540500" y="5207000"/>
            <a:ext cx="4635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当系数矩阵的秩等于增广矩阵的秩，且等于未知数个数时，方程组有唯一解。即 r(A) = r(A|β) = 4，此时β可由该向量组唯一线性表示，需确定参数 a 使矩阵满秩。</a:t>
            </a:r>
            <a:endParaRPr lang="en-US" sz="1100"/>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问题18：解题思路</a:t>
            </a:r>
            <a:endParaRPr lang="en-US" sz="1100"/>
          </a:p>
        </p:txBody>
      </p:sp>
      <p:sp>
        <p:nvSpPr>
          <p:cNvPr name="AutoShape 4" id="4"/>
          <p:cNvSpPr/>
          <p:nvPr/>
        </p:nvSpPr>
        <p:spPr>
          <a:xfrm rot="0" flipH="false" flipV="false">
            <a:off x="762000" y="1778000"/>
            <a:ext cx="3378200" cy="3556000"/>
          </a:xfrm>
          <a:prstGeom prst="roundRect">
            <a:avLst>
              <a:gd name="adj" fmla="val 0"/>
            </a:avLst>
          </a:prstGeom>
          <a:solidFill>
            <a:srgbClr val="26A69A">
              <a:alpha val="8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355600" cy="355600"/>
          </a:xfrm>
          <a:prstGeom prst="rect">
            <a:avLst/>
          </a:prstGeom>
        </p:spPr>
      </p:pic>
      <p:sp>
        <p:nvSpPr>
          <p:cNvPr name="AutoShape 6" id="6"/>
          <p:cNvSpPr/>
          <p:nvPr/>
        </p:nvSpPr>
        <p:spPr>
          <a:xfrm rot="0" flipH="false" flipV="false">
            <a:off x="1524000" y="2006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核心思路转化</a:t>
            </a:r>
            <a:endParaRPr lang="en-US" sz="1100"/>
          </a:p>
        </p:txBody>
      </p:sp>
      <p:cxnSp>
        <p:nvCxnSpPr>
          <p:cNvPr name="Connector 7" id="7"/>
          <p:cNvCxnSpPr/>
          <p:nvPr/>
        </p:nvCxnSpPr>
        <p:spPr>
          <a:xfrm rot="-15211" flipH="false" flipV="false">
            <a:off x="1016014" y="2597150"/>
            <a:ext cx="2870200" cy="12700"/>
          </a:xfrm>
          <a:prstGeom prst="straightConnector1">
            <a:avLst/>
          </a:prstGeom>
          <a:solidFill>
            <a:srgbClr val="DEE0E3">
              <a:alpha val="100000"/>
            </a:srgbClr>
          </a:solidFill>
          <a:ln w="12700" cmpd="sng" cap="flat">
            <a:solidFill>
              <a:srgbClr val="26A69A">
                <a:alpha val="40000"/>
              </a:srgbClr>
            </a:solidFill>
            <a:prstDash val="dash"/>
            <a:round/>
            <a:headEnd type="none" w="med" len="med"/>
            <a:tailEnd type="none" w="med" len="med"/>
          </a:ln>
        </p:spPr>
      </p:cxnSp>
      <p:sp>
        <p:nvSpPr>
          <p:cNvPr name="AutoShape 8" id="8"/>
          <p:cNvSpPr/>
          <p:nvPr/>
        </p:nvSpPr>
        <p:spPr>
          <a:xfrm rot="0" flipH="false" flipV="false">
            <a:off x="1016000" y="2857500"/>
            <a:ext cx="28702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将β能否由向量组线性表示的问题，等价转化为非齐次线性方程组</a:t>
            </a:r>
            <a:r>
              <a:rPr lang="en-US" b="true" i="false" strike="noStrike" u="none" sz="1400">
                <a:solidFill>
                  <a:srgbClr val="26A69A"/>
                </a:solidFill>
                <a:latin typeface="Noto Sans SC"/>
                <a:ea typeface="Noto Sans SC"/>
                <a:cs typeface="Noto Sans SC"/>
                <a:sym typeface="Noto Sans SC"/>
              </a:rPr>
              <a:t>x₁α₁+x₂α₂+x₃α₃+x₄α₄=β</a:t>
            </a:r>
            <a:r>
              <a:rPr lang="en-US" b="false" i="false" strike="noStrike" u="none" sz="1400">
                <a:solidFill>
                  <a:srgbClr val="37474F"/>
                </a:solidFill>
                <a:latin typeface="Noto Sans SC"/>
                <a:ea typeface="Noto Sans SC"/>
                <a:cs typeface="Noto Sans SC"/>
                <a:sym typeface="Noto Sans SC"/>
              </a:rPr>
              <a:t>是否有解的判定问题。关键步骤为构造增广矩阵 [A|β]，通过初等行变换，比较系数矩阵秩 r(A) 与增广矩阵秩 r(A|β) 的关系，以此作为判断依据。</a:t>
            </a:r>
            <a:endParaRPr lang="en-US" sz="1100"/>
          </a:p>
        </p:txBody>
      </p:sp>
      <p:sp>
        <p:nvSpPr>
          <p:cNvPr name="AutoShape 9" id="9"/>
          <p:cNvSpPr/>
          <p:nvPr/>
        </p:nvSpPr>
        <p:spPr>
          <a:xfrm rot="0" flipH="false" flipV="false">
            <a:off x="4406900" y="1778000"/>
            <a:ext cx="3378200" cy="3556000"/>
          </a:xfrm>
          <a:prstGeom prst="roundRect">
            <a:avLst>
              <a:gd name="adj" fmla="val 0"/>
            </a:avLst>
          </a:prstGeom>
          <a:solidFill>
            <a:srgbClr val="26A69A">
              <a:alpha val="8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2032000"/>
            <a:ext cx="355600" cy="355600"/>
          </a:xfrm>
          <a:prstGeom prst="rect">
            <a:avLst/>
          </a:prstGeom>
        </p:spPr>
      </p:pic>
      <p:sp>
        <p:nvSpPr>
          <p:cNvPr name="AutoShape 11" id="11"/>
          <p:cNvSpPr/>
          <p:nvPr/>
        </p:nvSpPr>
        <p:spPr>
          <a:xfrm rot="0" flipH="false" flipV="false">
            <a:off x="5168900" y="2006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秩的分类分析</a:t>
            </a:r>
            <a:endParaRPr lang="en-US" sz="1100"/>
          </a:p>
        </p:txBody>
      </p:sp>
      <p:cxnSp>
        <p:nvCxnSpPr>
          <p:cNvPr name="Connector 12" id="12"/>
          <p:cNvCxnSpPr/>
          <p:nvPr/>
        </p:nvCxnSpPr>
        <p:spPr>
          <a:xfrm rot="-15211" flipH="false" flipV="false">
            <a:off x="4660914" y="2597150"/>
            <a:ext cx="2870200" cy="12700"/>
          </a:xfrm>
          <a:prstGeom prst="straightConnector1">
            <a:avLst/>
          </a:prstGeom>
          <a:solidFill>
            <a:srgbClr val="DEE0E3">
              <a:alpha val="100000"/>
            </a:srgbClr>
          </a:solidFill>
          <a:ln w="12700" cmpd="sng" cap="flat">
            <a:solidFill>
              <a:srgbClr val="26A69A">
                <a:alpha val="40000"/>
              </a:srgbClr>
            </a:solidFill>
            <a:prstDash val="dash"/>
            <a:round/>
            <a:headEnd type="none" w="med" len="med"/>
            <a:tailEnd type="none" w="med" len="med"/>
          </a:ln>
        </p:spPr>
      </p:cxnSp>
      <p:sp>
        <p:nvSpPr>
          <p:cNvPr name="AutoShape 13" id="13"/>
          <p:cNvSpPr/>
          <p:nvPr/>
        </p:nvSpPr>
        <p:spPr>
          <a:xfrm rot="0" flipH="false" flipV="false">
            <a:off x="4660900" y="2794000"/>
            <a:ext cx="2870200" cy="234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情形一 (a≠1)：</a:t>
            </a:r>
            <a:r>
              <a:rPr lang="en-US" b="false" i="false" strike="noStrike" u="none" sz="1400">
                <a:solidFill>
                  <a:srgbClr val="546E7A"/>
                </a:solidFill>
                <a:latin typeface="Noto Sans SC"/>
                <a:ea typeface="Noto Sans SC"/>
                <a:cs typeface="Noto Sans SC"/>
                <a:sym typeface="Noto Sans SC"/>
              </a:rPr>
              <a:t>此时系数矩阵的秩 r(A)=4，无论b取何实数值，增广矩阵的秩 r(A|β)=4。满足 r(A)=r(A|β)=n=4，根据判定定理，方程组有唯一解。</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400">
                <a:solidFill>
                  <a:srgbClr val="37474F"/>
                </a:solidFill>
                <a:latin typeface="Noto Sans SC"/>
                <a:ea typeface="Noto Sans SC"/>
                <a:cs typeface="Noto Sans SC"/>
                <a:sym typeface="Noto Sans SC"/>
              </a:rPr>
              <a:t>情形二 (a=1)：</a:t>
            </a:r>
            <a:r>
              <a:rPr lang="en-US" b="false" i="false" strike="noStrike" u="none" sz="1400">
                <a:solidFill>
                  <a:srgbClr val="546E7A"/>
                </a:solidFill>
                <a:latin typeface="Noto Sans SC"/>
                <a:ea typeface="Noto Sans SC"/>
                <a:cs typeface="Noto Sans SC"/>
                <a:sym typeface="Noto Sans SC"/>
              </a:rPr>
              <a:t>此时 r(A)=3。若b≠0，则r(A|β)=4，秩不相等，方程组无解；若b=0，则r(A|β)=3，秩相等但小于未知数个数，方程组有无穷多解。</a:t>
            </a:r>
          </a:p>
        </p:txBody>
      </p:sp>
      <p:sp>
        <p:nvSpPr>
          <p:cNvPr name="AutoShape 14" id="14"/>
          <p:cNvSpPr/>
          <p:nvPr/>
        </p:nvSpPr>
        <p:spPr>
          <a:xfrm rot="0" flipH="false" flipV="false">
            <a:off x="8051800" y="1778000"/>
            <a:ext cx="3378200" cy="3556000"/>
          </a:xfrm>
          <a:prstGeom prst="roundRect">
            <a:avLst>
              <a:gd name="adj" fmla="val 0"/>
            </a:avLst>
          </a:prstGeom>
          <a:solidFill>
            <a:srgbClr val="26A69A">
              <a:alpha val="8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2032000"/>
            <a:ext cx="355600" cy="355600"/>
          </a:xfrm>
          <a:prstGeom prst="rect">
            <a:avLst/>
          </a:prstGeom>
        </p:spPr>
      </p:pic>
      <p:sp>
        <p:nvSpPr>
          <p:cNvPr name="AutoShape 16" id="16"/>
          <p:cNvSpPr/>
          <p:nvPr/>
        </p:nvSpPr>
        <p:spPr>
          <a:xfrm rot="0" flipH="false" flipV="false">
            <a:off x="8813800" y="2006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最终结论归纳</a:t>
            </a:r>
            <a:endParaRPr lang="en-US" sz="1100"/>
          </a:p>
        </p:txBody>
      </p:sp>
      <p:cxnSp>
        <p:nvCxnSpPr>
          <p:cNvPr name="Connector 17" id="17"/>
          <p:cNvCxnSpPr/>
          <p:nvPr/>
        </p:nvCxnSpPr>
        <p:spPr>
          <a:xfrm rot="-15211" flipH="false" flipV="false">
            <a:off x="8305814" y="2597150"/>
            <a:ext cx="2870200" cy="12700"/>
          </a:xfrm>
          <a:prstGeom prst="straightConnector1">
            <a:avLst/>
          </a:prstGeom>
          <a:solidFill>
            <a:srgbClr val="DEE0E3">
              <a:alpha val="100000"/>
            </a:srgbClr>
          </a:solidFill>
          <a:ln w="12700" cmpd="sng" cap="flat">
            <a:solidFill>
              <a:srgbClr val="26A69A">
                <a:alpha val="40000"/>
              </a:srgbClr>
            </a:solidFill>
            <a:prstDash val="dash"/>
            <a:round/>
            <a:headEnd type="none" w="med" len="med"/>
            <a:tailEnd type="none" w="med" len="med"/>
          </a:ln>
        </p:spPr>
      </p:cxnSp>
      <p:sp>
        <p:nvSpPr>
          <p:cNvPr name="AutoShape 18" id="18"/>
          <p:cNvSpPr/>
          <p:nvPr/>
        </p:nvSpPr>
        <p:spPr>
          <a:xfrm rot="0" flipH="false" flipV="false">
            <a:off x="8305800" y="2794000"/>
            <a:ext cx="2870200" cy="234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D84315"/>
                </a:solidFill>
                <a:latin typeface="Noto Sans SC"/>
                <a:ea typeface="Noto Sans SC"/>
                <a:cs typeface="Noto Sans SC"/>
                <a:sym typeface="Noto Sans SC"/>
              </a:rPr>
              <a:t>无解条件：</a:t>
            </a:r>
            <a:r>
              <a:rPr lang="en-US" b="false" i="false" strike="noStrike" u="none" sz="1400">
                <a:solidFill>
                  <a:srgbClr val="37474F"/>
                </a:solidFill>
                <a:latin typeface="Noto Sans SC"/>
                <a:ea typeface="Noto Sans SC"/>
                <a:cs typeface="Noto Sans SC"/>
                <a:sym typeface="Noto Sans SC"/>
              </a:rPr>
              <a:t>当且仅当 a=1 且 b≠0 时，系数矩阵秩小于增广矩阵秩，方程组无解，即β不能被该向量组线性表示。</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1976D2"/>
                </a:solidFill>
                <a:latin typeface="Noto Sans SC"/>
                <a:ea typeface="Noto Sans SC"/>
                <a:cs typeface="Noto Sans SC"/>
                <a:sym typeface="Noto Sans SC"/>
              </a:rPr>
              <a:t>唯一解条件：</a:t>
            </a:r>
            <a:r>
              <a:rPr lang="en-US" b="false" i="false" strike="noStrike" u="none" sz="1400">
                <a:solidFill>
                  <a:srgbClr val="37474F"/>
                </a:solidFill>
                <a:latin typeface="Noto Sans SC"/>
                <a:ea typeface="Noto Sans SC"/>
                <a:cs typeface="Noto Sans SC"/>
                <a:sym typeface="Noto Sans SC"/>
              </a:rPr>
              <a:t>当 a≠1 时（b 为任意常数），系数矩阵满秩，方程组有唯一解，即β能被该向量组唯一线性表示。</a:t>
            </a:r>
          </a:p>
        </p:txBody>
      </p:sp>
      <p:sp>
        <p:nvSpPr>
          <p:cNvPr name="AutoShape 19" id="19"/>
          <p:cNvSpPr/>
          <p:nvPr/>
        </p:nvSpPr>
        <p:spPr>
          <a:xfrm rot="0" flipH="false" flipV="false">
            <a:off x="762000" y="5715000"/>
            <a:ext cx="10668000" cy="7620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16000" y="58420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6A69A"/>
                </a:solidFill>
                <a:latin typeface="Noto Sans SC"/>
                <a:ea typeface="Noto Sans SC"/>
                <a:cs typeface="Noto Sans SC"/>
                <a:sym typeface="Noto Sans SC"/>
              </a:rPr>
              <a:t>💡 核心洞察：</a:t>
            </a:r>
            <a:r>
              <a:rPr lang="en-US" b="false" i="false" strike="noStrike" u="none" sz="1400">
                <a:solidFill>
                  <a:srgbClr val="37474F"/>
                </a:solidFill>
                <a:latin typeface="Noto Sans SC"/>
                <a:ea typeface="Noto Sans SC"/>
                <a:cs typeface="Noto Sans SC"/>
                <a:sym typeface="Noto Sans SC"/>
              </a:rPr>
              <a:t>线性表示的本质是方程组的相容性问题，解决此类问题的核心技巧在于熟练运用初等行变换将矩阵化为行阶梯形，从而快速、准确地判断秩的关系。</a:t>
            </a:r>
            <a:endParaRPr lang="en-US" sz="1100"/>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问题19：伴随矩阵与特征值</a:t>
            </a:r>
            <a:endParaRPr lang="en-US" sz="1100"/>
          </a:p>
        </p:txBody>
      </p:sp>
      <p:sp>
        <p:nvSpPr>
          <p:cNvPr name="AutoShape 4" id="4"/>
          <p:cNvSpPr/>
          <p:nvPr/>
        </p:nvSpPr>
        <p:spPr>
          <a:xfrm rot="0" flipH="false" flipV="false">
            <a:off x="762000" y="1397000"/>
            <a:ext cx="10668000" cy="254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5207000" cy="18415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032000"/>
            <a:ext cx="4826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26A69A"/>
                </a:solidFill>
                <a:latin typeface="Noto Sans SC"/>
                <a:ea typeface="Noto Sans SC"/>
                <a:cs typeface="Noto Sans SC"/>
                <a:sym typeface="Noto Sans SC"/>
              </a:rPr>
              <a:t>01 / 题目条件</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37474F"/>
                </a:solidFill>
                <a:latin typeface="Noto Sans SC"/>
                <a:ea typeface="Noto Sans SC"/>
                <a:cs typeface="Noto Sans SC"/>
                <a:sym typeface="Noto Sans SC"/>
              </a:rPr>
              <a:t>已知 3 阶矩阵</a:t>
            </a:r>
            <a:r>
              <a:rPr lang="en-US" b="true" i="false" strike="noStrike" u="none" sz="1200">
                <a:solidFill>
                  <a:srgbClr val="37474F"/>
                </a:solidFill>
                <a:latin typeface="Noto Sans SC"/>
                <a:ea typeface="Noto Sans SC"/>
                <a:cs typeface="Noto Sans SC"/>
                <a:sym typeface="Noto Sans SC"/>
              </a:rPr>
              <a:t>A</a:t>
            </a:r>
            <a:r>
              <a:rPr lang="en-US" b="false" i="false" strike="noStrike" u="none" sz="1200">
                <a:solidFill>
                  <a:srgbClr val="37474F"/>
                </a:solidFill>
                <a:latin typeface="Noto Sans SC"/>
                <a:ea typeface="Noto Sans SC"/>
                <a:cs typeface="Noto Sans SC"/>
                <a:sym typeface="Noto Sans SC"/>
              </a:rPr>
              <a:t>如下，且矩阵</a:t>
            </a:r>
            <a:r>
              <a:rPr lang="en-US" b="true" i="false" strike="noStrike" u="none" sz="1200">
                <a:solidFill>
                  <a:srgbClr val="37474F"/>
                </a:solidFill>
                <a:latin typeface="Noto Sans SC"/>
                <a:ea typeface="Noto Sans SC"/>
                <a:cs typeface="Noto Sans SC"/>
                <a:sym typeface="Noto Sans SC"/>
              </a:rPr>
              <a:t>B = A² - 2E</a:t>
            </a:r>
            <a:r>
              <a:rPr lang="en-US" b="false" i="false" strike="noStrike" u="none" sz="1200">
                <a:solidFill>
                  <a:srgbClr val="37474F"/>
                </a:solidFill>
                <a:latin typeface="Noto Sans SC"/>
                <a:ea typeface="Noto Sans SC"/>
                <a:cs typeface="Noto Sans SC"/>
                <a:sym typeface="Noto Sans SC"/>
              </a:rPr>
              <a:t>（E 为单位矩阵）。求矩阵 B 的所有特征值以及行列式 |B| 的值。</a:t>
            </a:r>
            <a:r>
              <a:rPr lang="en-US" b="false" i="false" strike="noStrike" u="none" sz="1300">
                <a:solidFill>
                  <a:srgbClr val="1F2329"/>
                </a:solidFill>
                <a:latin typeface="Noto Sans SC"/>
                <a:ea typeface="Noto Sans SC"/>
                <a:cs typeface="Noto Sans SC"/>
                <a:sym typeface="Noto Sans SC"/>
              </a:rPr>
              <a:t/>
            </a:r>
          </a:p>
          <a:p>
            <a:pPr algn="ctr" marL="0" indent="0">
              <a:lnSpc>
                <a:spcPct val="100000"/>
              </a:lnSpc>
            </a:pPr>
            <a:r>
              <a:rPr lang="en-US" b="false" i="false" strike="noStrike" u="none" sz="1100">
                <a:solidFill>
                  <a:srgbClr val="37474F"/>
                </a:solidFill>
                <a:latin typeface="Noto Sans SC"/>
                <a:ea typeface="Noto Sans SC"/>
                <a:cs typeface="Noto Sans SC"/>
                <a:sym typeface="Noto Sans SC"/>
              </a:rPr>
              <a:t>A = ⎛ -2 0 0 ⎞ B = A² - 2E</a:t>
            </a:r>
            <a:r>
              <a:rPr lang="en-US" b="false" i="false" strike="noStrike" u="none" sz="1300">
                <a:solidFill>
                  <a:srgbClr val="1F2329"/>
                </a:solidFill>
                <a:latin typeface="Noto Sans SC"/>
                <a:ea typeface="Noto Sans SC"/>
                <a:cs typeface="Noto Sans SC"/>
                <a:sym typeface="Noto Sans SC"/>
              </a:rPr>
              <a:t/>
            </a:r>
          </a:p>
          <a:p>
            <a:pPr algn="ctr" marL="0" indent="0">
              <a:lnSpc>
                <a:spcPct val="100000"/>
              </a:lnSpc>
            </a:pPr>
            <a:r>
              <a:rPr lang="en-US" b="false" i="false" strike="noStrike" u="none" sz="1100">
                <a:solidFill>
                  <a:srgbClr val="37474F"/>
                </a:solidFill>
                <a:latin typeface="Noto Sans SC"/>
                <a:ea typeface="Noto Sans SC"/>
                <a:cs typeface="Noto Sans SC"/>
                <a:sym typeface="Noto Sans SC"/>
              </a:rPr>
              <a:t>⎜ 2 0 2 ⎟</a:t>
            </a:r>
            <a:r>
              <a:rPr lang="en-US" b="false" i="false" strike="noStrike" u="none" sz="1300">
                <a:solidFill>
                  <a:srgbClr val="1F2329"/>
                </a:solidFill>
                <a:latin typeface="Noto Sans SC"/>
                <a:ea typeface="Noto Sans SC"/>
                <a:cs typeface="Noto Sans SC"/>
                <a:sym typeface="Noto Sans SC"/>
              </a:rPr>
              <a:t/>
            </a:r>
          </a:p>
          <a:p>
            <a:pPr algn="ctr" marL="0" indent="0">
              <a:lnSpc>
                <a:spcPct val="100000"/>
              </a:lnSpc>
            </a:pPr>
            <a:r>
              <a:rPr lang="en-US" b="false" i="false" strike="noStrike" u="none" sz="1100">
                <a:solidFill>
                  <a:srgbClr val="37474F"/>
                </a:solidFill>
                <a:latin typeface="Noto Sans SC"/>
                <a:ea typeface="Noto Sans SC"/>
                <a:cs typeface="Noto Sans SC"/>
                <a:sym typeface="Noto Sans SC"/>
              </a:rPr>
              <a:t>⎝ 3 1 x ⎠</a:t>
            </a:r>
          </a:p>
        </p:txBody>
      </p:sp>
      <p:sp>
        <p:nvSpPr>
          <p:cNvPr name="AutoShape 7" id="7"/>
          <p:cNvSpPr/>
          <p:nvPr/>
        </p:nvSpPr>
        <p:spPr>
          <a:xfrm rot="0" flipH="false" flipV="false">
            <a:off x="762000" y="4064000"/>
            <a:ext cx="5207000" cy="2222500"/>
          </a:xfrm>
          <a:prstGeom prst="roundRect">
            <a:avLst>
              <a:gd name="adj" fmla="val 0"/>
            </a:avLst>
          </a:prstGeom>
          <a:solidFill>
            <a:srgbClr val="26A69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4191000"/>
            <a:ext cx="4826000" cy="196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26A69A"/>
                </a:solidFill>
                <a:latin typeface="Noto Sans SC"/>
                <a:ea typeface="Noto Sans SC"/>
                <a:cs typeface="Noto Sans SC"/>
                <a:sym typeface="Noto Sans SC"/>
              </a:rPr>
              <a:t>02 / 核心关联定理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设 λ 是矩阵 A 的特征值（λ≠0），则：</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1. 伴随矩阵 A* 的特征值为</a:t>
            </a:r>
            <a:r>
              <a:rPr lang="en-US" b="true" i="false" strike="noStrike" u="none" sz="1400">
                <a:solidFill>
                  <a:srgbClr val="26A69A"/>
                </a:solidFill>
                <a:latin typeface="Noto Sans SC"/>
                <a:ea typeface="Noto Sans SC"/>
                <a:cs typeface="Noto Sans SC"/>
                <a:sym typeface="Noto Sans SC"/>
              </a:rPr>
              <a:t>|A| / λ</a:t>
            </a:r>
            <a:r>
              <a:rPr lang="en-US" b="false" i="false" strike="noStrike" u="none" sz="1400">
                <a:solidFill>
                  <a:srgbClr val="37474F"/>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2. 矩阵多项式 f(A) 的特征值为</a:t>
            </a:r>
            <a:r>
              <a:rPr lang="en-US" b="true" i="false" strike="noStrike" u="none" sz="1400">
                <a:solidFill>
                  <a:srgbClr val="26A69A"/>
                </a:solidFill>
                <a:latin typeface="Noto Sans SC"/>
                <a:ea typeface="Noto Sans SC"/>
                <a:cs typeface="Noto Sans SC"/>
                <a:sym typeface="Noto Sans SC"/>
              </a:rPr>
              <a:t>f(λ)</a:t>
            </a:r>
            <a:r>
              <a:rPr lang="en-US" b="false" i="false" strike="noStrike" u="none" sz="1400">
                <a:solidFill>
                  <a:srgbClr val="37474F"/>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false" i="false" strike="noStrike" u="none" sz="1400">
                <a:solidFill>
                  <a:srgbClr val="37474F"/>
                </a:solidFill>
                <a:latin typeface="Noto Sans SC"/>
                <a:ea typeface="Noto Sans SC"/>
                <a:cs typeface="Noto Sans SC"/>
                <a:sym typeface="Noto Sans SC"/>
              </a:rPr>
              <a:t>3. 矩阵的行列式等于其所有特征值的乘积。</a:t>
            </a:r>
          </a:p>
        </p:txBody>
      </p:sp>
      <p:cxnSp>
        <p:nvCxnSpPr>
          <p:cNvPr name="Connector 9" id="9"/>
          <p:cNvCxnSpPr/>
          <p:nvPr/>
        </p:nvCxnSpPr>
        <p:spPr>
          <a:xfrm rot="5390035" flipH="false" flipV="false">
            <a:off x="4095750" y="4089409"/>
            <a:ext cx="4381500" cy="12700"/>
          </a:xfrm>
          <a:prstGeom prst="straightConnector1">
            <a:avLst/>
          </a:prstGeom>
          <a:solidFill>
            <a:srgbClr val="DEE0E3">
              <a:alpha val="100000"/>
            </a:srgbClr>
          </a:solidFill>
          <a:ln w="12700" cmpd="sng" cap="flat">
            <a:solidFill>
              <a:srgbClr val="37474F">
                <a:alpha val="25000"/>
              </a:srgbClr>
            </a:solidFill>
            <a:prstDash val="dash"/>
            <a:round/>
            <a:headEnd type="none" w="med" len="med"/>
            <a:tailEnd type="none" w="med" len="med"/>
          </a:ln>
        </p:spPr>
      </p:cxnSp>
      <p:sp>
        <p:nvSpPr>
          <p:cNvPr name="AutoShape 10" id="10"/>
          <p:cNvSpPr/>
          <p:nvPr/>
        </p:nvSpPr>
        <p:spPr>
          <a:xfrm rot="0" flipH="false" flipV="false">
            <a:off x="6477000" y="1905000"/>
            <a:ext cx="5270500" cy="10795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629400" y="2006600"/>
            <a:ext cx="495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6A69A"/>
                </a:solidFill>
                <a:latin typeface="Noto Sans SC"/>
                <a:ea typeface="Noto Sans SC"/>
                <a:cs typeface="Noto Sans SC"/>
                <a:sym typeface="Noto Sans SC"/>
              </a:rPr>
              <a:t>STEP 1：求 |A*| 与 |A|</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37474F"/>
                </a:solidFill>
                <a:latin typeface="Noto Sans SC"/>
                <a:ea typeface="Noto Sans SC"/>
                <a:cs typeface="Noto Sans SC"/>
                <a:sym typeface="Noto Sans SC"/>
              </a:rPr>
              <a:t>|A*| = (-2)×(-1)×1×4 = 8；又 |A*| = |A|⁴⁻¹ = |A|³，故 |A|³ = 8，解得 |A| = 2。</a:t>
            </a:r>
          </a:p>
        </p:txBody>
      </p:sp>
      <p:sp>
        <p:nvSpPr>
          <p:cNvPr name="AutoShape 12" id="12"/>
          <p:cNvSpPr/>
          <p:nvPr/>
        </p:nvSpPr>
        <p:spPr>
          <a:xfrm rot="0" flipH="false" flipV="false">
            <a:off x="6477000" y="3175000"/>
            <a:ext cx="5270500" cy="1079500"/>
          </a:xfrm>
          <a:prstGeom prst="roundRect">
            <a:avLst>
              <a:gd name="adj" fmla="val 0"/>
            </a:avLst>
          </a:prstGeom>
          <a:solidFill>
            <a:srgbClr val="FFFFFF">
              <a:alpha val="70000"/>
            </a:srgbClr>
          </a:solidFill>
          <a:ln w="12700" cmpd="sng" cap="flat">
            <a:solidFill>
              <a:srgbClr val="26A69A">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629400" y="3276600"/>
            <a:ext cx="495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6A69A"/>
                </a:solidFill>
                <a:latin typeface="Noto Sans SC"/>
                <a:ea typeface="Noto Sans SC"/>
                <a:cs typeface="Noto Sans SC"/>
                <a:sym typeface="Noto Sans SC"/>
              </a:rPr>
              <a:t>STEP 2：求矩阵 A 的特征值</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37474F"/>
                </a:solidFill>
                <a:latin typeface="Noto Sans SC"/>
                <a:ea typeface="Noto Sans SC"/>
                <a:cs typeface="Noto Sans SC"/>
                <a:sym typeface="Noto Sans SC"/>
              </a:rPr>
              <a:t>由 A* 特征值 μ = |A|/λ，得 A 的特征值 λ = |A|/μ。代入得 A 的特征值为：2/(-2) = -1，2/(-1) = -2，2/1 = 2，2/4 = 0.5。</a:t>
            </a:r>
          </a:p>
        </p:txBody>
      </p:sp>
      <p:sp>
        <p:nvSpPr>
          <p:cNvPr name="AutoShape 14" id="14"/>
          <p:cNvSpPr/>
          <p:nvPr/>
        </p:nvSpPr>
        <p:spPr>
          <a:xfrm rot="0" flipH="false" flipV="false">
            <a:off x="6477000" y="4508500"/>
            <a:ext cx="5270500" cy="1714500"/>
          </a:xfrm>
          <a:prstGeom prst="roundRect">
            <a:avLst>
              <a:gd name="adj" fmla="val 0"/>
            </a:avLst>
          </a:prstGeom>
          <a:solidFill>
            <a:srgbClr val="26A69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629400" y="4610100"/>
            <a:ext cx="4953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6A69A"/>
                </a:solidFill>
                <a:latin typeface="Noto Sans SC"/>
                <a:ea typeface="Noto Sans SC"/>
                <a:cs typeface="Noto Sans SC"/>
                <a:sym typeface="Noto Sans SC"/>
              </a:rPr>
              <a:t>STEP 3：求 B 的特征值与 |B|</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37474F"/>
                </a:solidFill>
                <a:latin typeface="Noto Sans SC"/>
                <a:ea typeface="Noto Sans SC"/>
                <a:cs typeface="Noto Sans SC"/>
                <a:sym typeface="Noto Sans SC"/>
              </a:rPr>
              <a:t>B = A² - 2E 的特征值为 λ² - 2，代入 A 的特征值得：(-1)²-2=-1，(-2)²-2=2，2²-2=2，(0.5)²-2=-1.75（即 -7/4）。因此 |B| = (-1)×2×2×(-7/4) = 7。</a:t>
            </a:r>
            <a:r>
              <a:rPr lang="en-US" b="false" i="false" strike="noStrike" u="none" sz="16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37474F"/>
                </a:solidFill>
                <a:latin typeface="Noto Sans SC"/>
                <a:ea typeface="Noto Sans SC"/>
                <a:cs typeface="Noto Sans SC"/>
                <a:sym typeface="Noto Sans SC"/>
              </a:rPr>
              <a:t>结论：B 的特征值为 -1, 2, 2, -7/4；|B| = 7。</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cmpd="sng" cap="flat">
            <a:solidFill>
              <a:srgbClr val="E6CFCF">
                <a:alpha val="4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问题19：解题思路</a:t>
            </a:r>
            <a:endParaRPr lang="en-US" sz="1100"/>
          </a:p>
        </p:txBody>
      </p:sp>
      <p:cxnSp>
        <p:nvCxnSpPr>
          <p:cNvPr name="Connector 4" id="4"/>
          <p:cNvCxnSpPr/>
          <p:nvPr/>
        </p:nvCxnSpPr>
        <p:spPr>
          <a:xfrm rot="-4092" flipH="false" flipV="false">
            <a:off x="762004" y="1327150"/>
            <a:ext cx="10668000" cy="12700"/>
          </a:xfrm>
          <a:prstGeom prst="straightConnector1">
            <a:avLst/>
          </a:prstGeom>
          <a:solidFill>
            <a:srgbClr val="DEE0E3">
              <a:alpha val="100000"/>
            </a:srgbClr>
          </a:solidFill>
          <a:ln w="12700" cmpd="sng" cap="flat">
            <a:solidFill>
              <a:srgbClr val="26A69A">
                <a:alpha val="50000"/>
              </a:srgbClr>
            </a:solidFill>
            <a:prstDash val="solid"/>
            <a:round/>
            <a:headEnd type="none" w="med" len="med"/>
            <a:tailEnd type="none" w="med" len="med"/>
          </a:ln>
        </p:spPr>
      </p:cxnSp>
      <p:sp>
        <p:nvSpPr>
          <p:cNvPr name="AutoShape 5" id="5"/>
          <p:cNvSpPr/>
          <p:nvPr/>
        </p:nvSpPr>
        <p:spPr>
          <a:xfrm rot="0" flipH="false" flipV="false">
            <a:off x="762000" y="1651000"/>
            <a:ext cx="3302000" cy="508000"/>
          </a:xfrm>
          <a:prstGeom prst="roundRect">
            <a:avLst>
              <a:gd name="adj" fmla="val 0"/>
            </a:avLst>
          </a:prstGeom>
          <a:solidFill>
            <a:srgbClr val="26A69A">
              <a:alpha val="15000"/>
            </a:srgbClr>
          </a:solidFill>
          <a:ln cmpd="sng" cap="flat">
            <a:solidFill>
              <a:srgbClr val="128C81">
                <a:alpha val="15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14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01 / 核心逻辑梳理</a:t>
            </a:r>
            <a:endParaRPr lang="en-US" sz="1100"/>
          </a:p>
        </p:txBody>
      </p:sp>
      <p:sp>
        <p:nvSpPr>
          <p:cNvPr name="AutoShape 7" id="7"/>
          <p:cNvSpPr/>
          <p:nvPr/>
        </p:nvSpPr>
        <p:spPr>
          <a:xfrm rot="0" flipH="false" flipV="false">
            <a:off x="762000" y="2540000"/>
            <a:ext cx="3302000" cy="3556000"/>
          </a:xfrm>
          <a:prstGeom prst="roundRect">
            <a:avLst>
              <a:gd name="adj" fmla="val 0"/>
            </a:avLst>
          </a:prstGeom>
          <a:solidFill>
            <a:srgbClr val="FFFFFF">
              <a:alpha val="6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 y="2730500"/>
            <a:ext cx="3048000" cy="317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74F"/>
                </a:solidFill>
                <a:latin typeface="Noto Sans SC"/>
                <a:ea typeface="Noto Sans SC"/>
                <a:cs typeface="Noto Sans SC"/>
                <a:sym typeface="Noto Sans SC"/>
              </a:rPr>
              <a:t>特征值关系：</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若λ是A的特征值，则|A|/λ是伴随矩阵A*的特征值，这是解题的关键桥梁。</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37474F"/>
                </a:solidFill>
                <a:latin typeface="Noto Sans SC"/>
                <a:ea typeface="Noto Sans SC"/>
                <a:cs typeface="Noto Sans SC"/>
                <a:sym typeface="Noto Sans SC"/>
              </a:rPr>
              <a:t>行列式关联：</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利用|A*|=|A|ⁿ⁻¹可快速求出|A|；而矩阵B的行列式等于其所有特征值的乘积。</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400">
                <a:solidFill>
                  <a:srgbClr val="37474F"/>
                </a:solidFill>
                <a:latin typeface="Noto Sans SC"/>
                <a:ea typeface="Noto Sans SC"/>
                <a:cs typeface="Noto Sans SC"/>
                <a:sym typeface="Noto Sans SC"/>
              </a:rPr>
              <a:t>多项式性质：</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若f(x)是矩阵多项式，则B=f(A)的特征值为f(λ_A)，可由A的特征值直接映射得到。</a:t>
            </a:r>
          </a:p>
        </p:txBody>
      </p:sp>
      <p:sp>
        <p:nvSpPr>
          <p:cNvPr name="AutoShape 9" id="9"/>
          <p:cNvSpPr/>
          <p:nvPr/>
        </p:nvSpPr>
        <p:spPr>
          <a:xfrm rot="0" flipH="false" flipV="false">
            <a:off x="4445000" y="1651000"/>
            <a:ext cx="3683000" cy="508000"/>
          </a:xfrm>
          <a:prstGeom prst="roundRect">
            <a:avLst>
              <a:gd name="adj" fmla="val 0"/>
            </a:avLst>
          </a:prstGeom>
          <a:solidFill>
            <a:srgbClr val="26A69A">
              <a:alpha val="15000"/>
            </a:srgbClr>
          </a:solidFill>
          <a:ln cmpd="sng" cap="flat">
            <a:solidFill>
              <a:srgbClr val="128C81">
                <a:alpha val="15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572000" y="1714500"/>
            <a:ext cx="342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02 / 分步详细推导</a:t>
            </a:r>
            <a:endParaRPr lang="en-US" sz="1100"/>
          </a:p>
        </p:txBody>
      </p:sp>
      <p:sp>
        <p:nvSpPr>
          <p:cNvPr name="AutoShape 11" id="11"/>
          <p:cNvSpPr/>
          <p:nvPr/>
        </p:nvSpPr>
        <p:spPr>
          <a:xfrm rot="0" flipH="false" flipV="false">
            <a:off x="4445000" y="2540000"/>
            <a:ext cx="3683000" cy="952500"/>
          </a:xfrm>
          <a:prstGeom prst="roundRect">
            <a:avLst>
              <a:gd name="adj" fmla="val 0"/>
            </a:avLst>
          </a:prstGeom>
          <a:solidFill>
            <a:srgbClr val="FFFFFF">
              <a:alpha val="6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2540000"/>
            <a:ext cx="50800" cy="9525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572000" y="2603500"/>
            <a:ext cx="342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74F"/>
                </a:solidFill>
                <a:latin typeface="Noto Sans SC"/>
                <a:ea typeface="Noto Sans SC"/>
                <a:cs typeface="Noto Sans SC"/>
                <a:sym typeface="Noto Sans SC"/>
              </a:rPr>
              <a:t>STEP 1：求 |A|</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计算得|A*|=(-2)(-1)(1)(4)=8，由|A*|=|A|³，解得|A|=2。</a:t>
            </a:r>
            <a:endParaRPr lang="en-US" sz="1100"/>
          </a:p>
        </p:txBody>
      </p:sp>
      <p:sp>
        <p:nvSpPr>
          <p:cNvPr name="AutoShape 14" id="14"/>
          <p:cNvSpPr/>
          <p:nvPr/>
        </p:nvSpPr>
        <p:spPr>
          <a:xfrm rot="0" flipH="false" flipV="false">
            <a:off x="4445000" y="3683000"/>
            <a:ext cx="3683000" cy="952500"/>
          </a:xfrm>
          <a:prstGeom prst="roundRect">
            <a:avLst>
              <a:gd name="adj" fmla="val 0"/>
            </a:avLst>
          </a:prstGeom>
          <a:solidFill>
            <a:srgbClr val="FFFFFF">
              <a:alpha val="6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445000" y="3683000"/>
            <a:ext cx="50800" cy="952500"/>
          </a:xfrm>
          <a:prstGeom prst="roundRect">
            <a:avLst>
              <a:gd name="adj" fmla="val 0"/>
            </a:avLst>
          </a:prstGeom>
          <a:solidFill>
            <a:srgbClr val="26A69A">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572000" y="3746500"/>
            <a:ext cx="342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74F"/>
                </a:solidFill>
                <a:latin typeface="Noto Sans SC"/>
                <a:ea typeface="Noto Sans SC"/>
                <a:cs typeface="Noto Sans SC"/>
                <a:sym typeface="Noto Sans SC"/>
              </a:rPr>
              <a:t>STEP 2：求 A 的特征值</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由μ=|A|/λ*，代入A*特征值得A的特征值为：-1, -2, 2, 1/2。</a:t>
            </a:r>
            <a:endParaRPr lang="en-US" sz="1100"/>
          </a:p>
        </p:txBody>
      </p:sp>
      <p:sp>
        <p:nvSpPr>
          <p:cNvPr name="AutoShape 17" id="17"/>
          <p:cNvSpPr/>
          <p:nvPr/>
        </p:nvSpPr>
        <p:spPr>
          <a:xfrm rot="0" flipH="false" flipV="false">
            <a:off x="4445000" y="4826000"/>
            <a:ext cx="3683000" cy="1270000"/>
          </a:xfrm>
          <a:prstGeom prst="roundRect">
            <a:avLst>
              <a:gd name="adj" fmla="val 0"/>
            </a:avLst>
          </a:prstGeom>
          <a:solidFill>
            <a:srgbClr val="FFFFFF">
              <a:alpha val="60000"/>
            </a:srgbClr>
          </a:solidFill>
          <a:ln w="12700" cmpd="sng" cap="flat">
            <a:solidFill>
              <a:srgbClr val="26A69A">
                <a:alpha val="3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445000" y="4826000"/>
            <a:ext cx="50800" cy="1270000"/>
          </a:xfrm>
          <a:prstGeom prst="roundRect">
            <a:avLst>
              <a:gd name="adj" fmla="val 0"/>
            </a:avLst>
          </a:prstGeom>
          <a:solidFill>
            <a:srgbClr val="26A69A">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572000" y="4889500"/>
            <a:ext cx="342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74F"/>
                </a:solidFill>
                <a:latin typeface="Noto Sans SC"/>
                <a:ea typeface="Noto Sans SC"/>
                <a:cs typeface="Noto Sans SC"/>
                <a:sym typeface="Noto Sans SC"/>
              </a:rPr>
              <a:t>STEP 3 &amp; 4：求 B 的特征值与 |B|</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55A64"/>
                </a:solidFill>
                <a:latin typeface="Noto Sans SC"/>
                <a:ea typeface="Noto Sans SC"/>
                <a:cs typeface="Noto Sans SC"/>
                <a:sym typeface="Noto Sans SC"/>
              </a:rPr>
              <a:t>设f(x)=x²-2，则B的特征值为f(-1)=-1, f(-2)=2, f(2)=2, f(1/2)=-7/4；将特征值相乘得|B|=7。</a:t>
            </a:r>
            <a:endParaRPr lang="en-US" sz="1100"/>
          </a:p>
        </p:txBody>
      </p:sp>
      <p:sp>
        <p:nvSpPr>
          <p:cNvPr name="AutoShape 20" id="20"/>
          <p:cNvSpPr/>
          <p:nvPr/>
        </p:nvSpPr>
        <p:spPr>
          <a:xfrm rot="0" flipH="false" flipV="false">
            <a:off x="8382000" y="1651000"/>
            <a:ext cx="3048000" cy="508000"/>
          </a:xfrm>
          <a:prstGeom prst="roundRect">
            <a:avLst>
              <a:gd name="adj" fmla="val 0"/>
            </a:avLst>
          </a:prstGeom>
          <a:solidFill>
            <a:srgbClr val="26A69A">
              <a:alpha val="15000"/>
            </a:srgbClr>
          </a:solidFill>
          <a:ln cmpd="sng" cap="flat">
            <a:solidFill>
              <a:srgbClr val="128C81">
                <a:alpha val="1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509000" y="17145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6A69A"/>
                </a:solidFill>
                <a:latin typeface="Noto Sans SC"/>
                <a:ea typeface="Noto Sans SC"/>
                <a:cs typeface="Noto Sans SC"/>
                <a:sym typeface="Noto Sans SC"/>
              </a:rPr>
              <a:t>03 / 最终结论总结</a:t>
            </a:r>
            <a:endParaRPr lang="en-US" sz="1100"/>
          </a:p>
        </p:txBody>
      </p:sp>
      <p:sp>
        <p:nvSpPr>
          <p:cNvPr name="AutoShape 22" id="22"/>
          <p:cNvSpPr/>
          <p:nvPr/>
        </p:nvSpPr>
        <p:spPr>
          <a:xfrm rot="0" flipH="false" flipV="false">
            <a:off x="8382000" y="2540000"/>
            <a:ext cx="3048000" cy="1968500"/>
          </a:xfrm>
          <a:prstGeom prst="roundRect">
            <a:avLst>
              <a:gd name="adj" fmla="val 0"/>
            </a:avLst>
          </a:prstGeom>
          <a:solidFill>
            <a:srgbClr val="26A69A">
              <a:alpha val="8000"/>
            </a:srgbClr>
          </a:solidFill>
          <a:ln w="12700" cmpd="sng" cap="flat">
            <a:solidFill>
              <a:srgbClr val="26A69A">
                <a:alpha val="6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509000" y="2667000"/>
            <a:ext cx="27940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A69A"/>
                </a:solidFill>
                <a:latin typeface="Noto Sans SC"/>
                <a:ea typeface="Noto Sans SC"/>
                <a:cs typeface="Noto Sans SC"/>
                <a:sym typeface="Noto Sans SC"/>
              </a:rPr>
              <a:t>矩阵 B 的特征值：</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37474F"/>
                </a:solidFill>
                <a:latin typeface="Noto Sans SC"/>
                <a:ea typeface="Noto Sans SC"/>
                <a:cs typeface="Noto Sans SC"/>
                <a:sym typeface="Noto Sans SC"/>
              </a:rPr>
              <a:t>-1，2，2，-7/4</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false" i="false" strike="noStrike" u="none" sz="1300">
                <a:solidFill>
                  <a:srgbClr val="455A64"/>
                </a:solidFill>
                <a:latin typeface="Noto Sans SC"/>
                <a:ea typeface="Noto Sans SC"/>
                <a:cs typeface="Noto Sans SC"/>
                <a:sym typeface="Noto Sans SC"/>
              </a:rPr>
              <a:t>四个特征值包含重根，反映了矩阵B的代数重数特性。</a:t>
            </a:r>
          </a:p>
        </p:txBody>
      </p:sp>
      <p:sp>
        <p:nvSpPr>
          <p:cNvPr name="AutoShape 24" id="24"/>
          <p:cNvSpPr/>
          <p:nvPr/>
        </p:nvSpPr>
        <p:spPr>
          <a:xfrm rot="0" flipH="false" flipV="false">
            <a:off x="8382000" y="4826000"/>
            <a:ext cx="3048000" cy="1270000"/>
          </a:xfrm>
          <a:prstGeom prst="roundRect">
            <a:avLst>
              <a:gd name="adj" fmla="val 0"/>
            </a:avLst>
          </a:prstGeom>
          <a:solidFill>
            <a:srgbClr val="26A69A">
              <a:alpha val="15000"/>
            </a:srgbClr>
          </a:solidFill>
          <a:ln w="12700" cmpd="sng" cap="flat">
            <a:solidFill>
              <a:srgbClr val="26A69A">
                <a:alpha val="6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509000" y="4953000"/>
            <a:ext cx="279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A69A"/>
                </a:solidFill>
                <a:latin typeface="Noto Sans SC"/>
                <a:ea typeface="Noto Sans SC"/>
                <a:cs typeface="Noto Sans SC"/>
                <a:sym typeface="Noto Sans SC"/>
              </a:rPr>
              <a:t>行列式 |B| 的值：</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2400">
                <a:solidFill>
                  <a:srgbClr val="37474F"/>
                </a:solidFill>
                <a:latin typeface="Noto Sans SC"/>
                <a:ea typeface="Noto Sans SC"/>
                <a:cs typeface="Noto Sans SC"/>
                <a:sym typeface="Noto Sans SC"/>
              </a:rPr>
              <a:t>7</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546E7A"/>
                </a:solidFill>
                <a:latin typeface="Noto Sans SC"/>
                <a:ea typeface="Noto Sans SC"/>
                <a:cs typeface="Noto Sans SC"/>
                <a:sym typeface="Noto Sans SC"/>
              </a:rPr>
              <a:t>（所有特征值的乘积结果）</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3175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感谢观看</a:t>
            </a:r>
            <a:endParaRPr lang="en-US" sz="1100"/>
          </a:p>
        </p:txBody>
      </p:sp>
      <p:sp>
        <p:nvSpPr>
          <p:cNvPr name="AutoShape 4" id="4"/>
          <p:cNvSpPr/>
          <p:nvPr/>
        </p:nvSpPr>
        <p:spPr>
          <a:xfrm rot="0" flipH="false" flipV="false">
            <a:off x="1016000" y="4572000"/>
            <a:ext cx="1016000" cy="50800"/>
          </a:xfrm>
          <a:prstGeom prst="roundRect">
            <a:avLst>
              <a:gd name="adj" fmla="val 0"/>
            </a:avLst>
          </a:prstGeom>
          <a:solidFill>
            <a:srgbClr val="26A69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5080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FFFFFF">
                    <a:alpha val="85098"/>
                  </a:srgbClr>
                </a:solidFill>
                <a:latin typeface="Noto Sans SC"/>
                <a:ea typeface="Noto Sans SC"/>
                <a:cs typeface="Noto Sans SC"/>
                <a:sym typeface="Noto Sans SC"/>
              </a:rPr>
              <a:t>希望本次关于线性代数核心题型的讲解能为您的学习带来启发。若有疑问或探讨需求，欢迎随时交流。</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{"Label":"1","ContentProducer":"001191110102MACQD9K64010000","ProduceID":"7648966897455041768","ReservedCode1":"","ContentPropagator":"","PropagateID":"","ReservedCode2":""}</vt:lpwstr>
  </property>
</Properties>
</file>